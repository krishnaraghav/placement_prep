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660" r:id="rId1"/>
  </p:sldMasterIdLst>
  <p:notesMasterIdLst>
    <p:notesMasterId r:id="rId13"/>
  </p:notesMasterIdLst>
  <p:sldIdLst>
    <p:sldId id="502" r:id="rId2"/>
    <p:sldId id="630" r:id="rId3"/>
    <p:sldId id="651" r:id="rId4"/>
    <p:sldId id="652" r:id="rId5"/>
    <p:sldId id="631" r:id="rId6"/>
    <p:sldId id="653" r:id="rId7"/>
    <p:sldId id="654" r:id="rId8"/>
    <p:sldId id="655" r:id="rId9"/>
    <p:sldId id="656" r:id="rId10"/>
    <p:sldId id="605" r:id="rId11"/>
    <p:sldId id="649" r:id="rId12"/>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C8E"/>
    <a:srgbClr val="99FFCC"/>
    <a:srgbClr val="A1C5E0"/>
    <a:srgbClr val="C3E2C1"/>
    <a:srgbClr val="EADC52"/>
    <a:srgbClr val="FF9900"/>
    <a:srgbClr val="6BA8D0"/>
    <a:srgbClr val="09ADFF"/>
    <a:srgbClr val="BCBEC0"/>
    <a:srgbClr val="9FD1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6" autoAdjust="0"/>
    <p:restoredTop sz="80295" autoAdjust="0"/>
  </p:normalViewPr>
  <p:slideViewPr>
    <p:cSldViewPr showGuides="1">
      <p:cViewPr varScale="1">
        <p:scale>
          <a:sx n="56" d="100"/>
          <a:sy n="56" d="100"/>
        </p:scale>
        <p:origin x="1668" y="72"/>
      </p:cViewPr>
      <p:guideLst>
        <p:guide orient="horz" pos="2160"/>
        <p:guide pos="3120"/>
      </p:guideLst>
    </p:cSldViewPr>
  </p:slideViewPr>
  <p:notesTextViewPr>
    <p:cViewPr>
      <p:scale>
        <a:sx n="1" d="1"/>
        <a:sy n="1" d="1"/>
      </p:scale>
      <p:origin x="0" y="0"/>
    </p:cViewPr>
  </p:notesTextViewPr>
  <p:sorterViewPr>
    <p:cViewPr varScale="1">
      <p:scale>
        <a:sx n="100" d="100"/>
        <a:sy n="100" d="100"/>
      </p:scale>
      <p:origin x="0" y="-538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94F01A-3E91-4831-92AD-6D4AF38A1953}" type="datetimeFigureOut">
              <a:rPr lang="en-GB" smtClean="0"/>
              <a:t>13/06/2019</a:t>
            </a:fld>
            <a:endParaRPr lang="en-GB"/>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F3102E-6C56-4F81-B30B-581BE2EC6691}" type="slidenum">
              <a:rPr lang="en-GB" smtClean="0"/>
              <a:t>‹#›</a:t>
            </a:fld>
            <a:endParaRPr lang="en-GB"/>
          </a:p>
        </p:txBody>
      </p:sp>
    </p:spTree>
    <p:extLst>
      <p:ext uri="{BB962C8B-B14F-4D97-AF65-F5344CB8AC3E}">
        <p14:creationId xmlns:p14="http://schemas.microsoft.com/office/powerpoint/2010/main" val="1027964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database</a:t>
            </a:r>
            <a:r>
              <a:rPr lang="en-US" sz="1200" b="0" i="0" kern="1200" dirty="0">
                <a:solidFill>
                  <a:schemeClr val="tx1"/>
                </a:solidFill>
                <a:effectLst/>
                <a:latin typeface="+mn-lt"/>
                <a:ea typeface="+mn-ea"/>
                <a:cs typeface="+mn-cs"/>
              </a:rPr>
              <a:t> contains one or more named </a:t>
            </a:r>
            <a:r>
              <a:rPr lang="en-US" sz="1200" b="1" i="0" kern="1200" dirty="0">
                <a:solidFill>
                  <a:schemeClr val="tx1"/>
                </a:solidFill>
                <a:effectLst/>
                <a:latin typeface="+mn-lt"/>
                <a:ea typeface="+mn-ea"/>
                <a:cs typeface="+mn-cs"/>
              </a:rPr>
              <a:t>schemas</a:t>
            </a:r>
            <a:r>
              <a:rPr lang="en-US" sz="1200" b="0" i="0" kern="1200" dirty="0">
                <a:solidFill>
                  <a:schemeClr val="tx1"/>
                </a:solidFill>
                <a:effectLst/>
                <a:latin typeface="+mn-lt"/>
                <a:ea typeface="+mn-ea"/>
                <a:cs typeface="+mn-cs"/>
              </a:rPr>
              <a:t>, which in turn contain tables. </a:t>
            </a:r>
            <a:r>
              <a:rPr lang="en-US" sz="1200" b="1" i="0" kern="1200" dirty="0">
                <a:solidFill>
                  <a:schemeClr val="tx1"/>
                </a:solidFill>
                <a:effectLst/>
                <a:latin typeface="+mn-lt"/>
                <a:ea typeface="+mn-ea"/>
                <a:cs typeface="+mn-cs"/>
              </a:rPr>
              <a:t>Schemas</a:t>
            </a:r>
            <a:r>
              <a:rPr lang="en-US" sz="1200" b="0" i="0" kern="1200" dirty="0">
                <a:solidFill>
                  <a:schemeClr val="tx1"/>
                </a:solidFill>
                <a:effectLst/>
                <a:latin typeface="+mn-lt"/>
                <a:ea typeface="+mn-ea"/>
                <a:cs typeface="+mn-cs"/>
              </a:rPr>
              <a:t> also contain other kinds of named objects, including data types, functions, and operators. The same object name can be used in different </a:t>
            </a:r>
            <a:r>
              <a:rPr lang="en-US" sz="1200" b="1" i="0" kern="1200" dirty="0">
                <a:solidFill>
                  <a:schemeClr val="tx1"/>
                </a:solidFill>
                <a:effectLst/>
                <a:latin typeface="+mn-lt"/>
                <a:ea typeface="+mn-ea"/>
                <a:cs typeface="+mn-cs"/>
              </a:rPr>
              <a:t>schemas</a:t>
            </a:r>
            <a:r>
              <a:rPr lang="en-US" sz="1200" b="0" i="0" kern="1200" dirty="0">
                <a:solidFill>
                  <a:schemeClr val="tx1"/>
                </a:solidFill>
                <a:effectLst/>
                <a:latin typeface="+mn-lt"/>
                <a:ea typeface="+mn-ea"/>
                <a:cs typeface="+mn-cs"/>
              </a:rPr>
              <a:t> without conflict; for example, both schema1 and </a:t>
            </a:r>
            <a:r>
              <a:rPr lang="en-US" sz="1200" b="0" i="0" kern="1200" dirty="0" err="1">
                <a:solidFill>
                  <a:schemeClr val="tx1"/>
                </a:solidFill>
                <a:effectLst/>
                <a:latin typeface="+mn-lt"/>
                <a:ea typeface="+mn-ea"/>
                <a:cs typeface="+mn-cs"/>
              </a:rPr>
              <a:t>myschema</a:t>
            </a:r>
            <a:r>
              <a:rPr lang="en-US" sz="1200" b="0" i="0" kern="1200" dirty="0">
                <a:solidFill>
                  <a:schemeClr val="tx1"/>
                </a:solidFill>
                <a:effectLst/>
                <a:latin typeface="+mn-lt"/>
                <a:ea typeface="+mn-ea"/>
                <a:cs typeface="+mn-cs"/>
              </a:rPr>
              <a:t> may contain tables named </a:t>
            </a:r>
            <a:r>
              <a:rPr lang="en-US" sz="1200" b="0" i="0" kern="1200" dirty="0" err="1">
                <a:solidFill>
                  <a:schemeClr val="tx1"/>
                </a:solidFill>
                <a:effectLst/>
                <a:latin typeface="+mn-lt"/>
                <a:ea typeface="+mn-ea"/>
                <a:cs typeface="+mn-cs"/>
              </a:rPr>
              <a:t>mytable</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8</a:t>
            </a:fld>
            <a:endParaRPr lang="en-GB"/>
          </a:p>
        </p:txBody>
      </p:sp>
    </p:spTree>
    <p:extLst>
      <p:ext uri="{BB962C8B-B14F-4D97-AF65-F5344CB8AC3E}">
        <p14:creationId xmlns:p14="http://schemas.microsoft.com/office/powerpoint/2010/main" val="1791196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9</a:t>
            </a:fld>
            <a:endParaRPr lang="en-GB"/>
          </a:p>
        </p:txBody>
      </p:sp>
    </p:spTree>
    <p:extLst>
      <p:ext uri="{BB962C8B-B14F-4D97-AF65-F5344CB8AC3E}">
        <p14:creationId xmlns:p14="http://schemas.microsoft.com/office/powerpoint/2010/main" val="3672385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Blue">
    <p:spTree>
      <p:nvGrpSpPr>
        <p:cNvPr id="1" name=""/>
        <p:cNvGrpSpPr/>
        <p:nvPr/>
      </p:nvGrpSpPr>
      <p:grpSpPr>
        <a:xfrm>
          <a:off x="0" y="0"/>
          <a:ext cx="0" cy="0"/>
          <a:chOff x="0" y="0"/>
          <a:chExt cx="0" cy="0"/>
        </a:xfrm>
      </p:grpSpPr>
      <p:pic>
        <p:nvPicPr>
          <p:cNvPr id="7" name="Picture 6" descr="SCWB_PPTcover-BLUE.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25"/>
          <a:stretch/>
        </p:blipFill>
        <p:spPr>
          <a:xfrm>
            <a:off x="2" y="12599"/>
            <a:ext cx="9905998" cy="6832801"/>
          </a:xfrm>
          <a:prstGeom prst="rect">
            <a:avLst/>
          </a:prstGeom>
        </p:spPr>
      </p:pic>
      <p:pic>
        <p:nvPicPr>
          <p:cNvPr id="9" name="Picture 8"/>
          <p:cNvPicPr>
            <a:picLocks noChangeAspect="1"/>
          </p:cNvPicPr>
          <p:nvPr userDrawn="1"/>
        </p:nvPicPr>
        <p:blipFill>
          <a:blip r:embed="rId3" cstate="print"/>
          <a:stretch>
            <a:fillRect/>
          </a:stretch>
        </p:blipFill>
        <p:spPr>
          <a:xfrm>
            <a:off x="8134132" y="6283800"/>
            <a:ext cx="1449706" cy="226951"/>
          </a:xfrm>
          <a:prstGeom prst="rect">
            <a:avLst/>
          </a:prstGeom>
        </p:spPr>
      </p:pic>
      <p:sp>
        <p:nvSpPr>
          <p:cNvPr id="2" name="Title 1"/>
          <p:cNvSpPr>
            <a:spLocks noGrp="1"/>
          </p:cNvSpPr>
          <p:nvPr>
            <p:ph type="ctrTitle"/>
          </p:nvPr>
        </p:nvSpPr>
        <p:spPr>
          <a:xfrm>
            <a:off x="4251000" y="2008097"/>
            <a:ext cx="5316116"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3" name="Subtitle 2"/>
          <p:cNvSpPr>
            <a:spLocks noGrp="1"/>
          </p:cNvSpPr>
          <p:nvPr>
            <p:ph type="subTitle" idx="1"/>
          </p:nvPr>
        </p:nvSpPr>
        <p:spPr>
          <a:xfrm>
            <a:off x="4531893" y="3703460"/>
            <a:ext cx="5035223"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26" descr="Visual Identitiy Band"/>
          <p:cNvPicPr preferRelativeResize="0">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F29D4B84-79FB-4BAB-BA3E-79EA71FBEF28}"/>
              </a:ext>
            </a:extLst>
          </p:cNvPr>
          <p:cNvPicPr>
            <a:picLocks noChangeAspect="1"/>
          </p:cNvPicPr>
          <p:nvPr userDrawn="1"/>
        </p:nvPicPr>
        <p:blipFill>
          <a:blip r:embed="rId5"/>
          <a:stretch>
            <a:fillRect/>
          </a:stretch>
        </p:blipFill>
        <p:spPr>
          <a:xfrm>
            <a:off x="8060700" y="115759"/>
            <a:ext cx="1828800" cy="748531"/>
          </a:xfrm>
          <a:prstGeom prst="rect">
            <a:avLst/>
          </a:prstGeom>
        </p:spPr>
      </p:pic>
    </p:spTree>
    <p:extLst>
      <p:ext uri="{BB962C8B-B14F-4D97-AF65-F5344CB8AC3E}">
        <p14:creationId xmlns:p14="http://schemas.microsoft.com/office/powerpoint/2010/main" val="4066818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Green">
    <p:spTree>
      <p:nvGrpSpPr>
        <p:cNvPr id="1" name=""/>
        <p:cNvGrpSpPr/>
        <p:nvPr/>
      </p:nvGrpSpPr>
      <p:grpSpPr>
        <a:xfrm>
          <a:off x="0" y="0"/>
          <a:ext cx="0" cy="0"/>
          <a:chOff x="0" y="0"/>
          <a:chExt cx="0" cy="0"/>
        </a:xfrm>
      </p:grpSpPr>
      <p:pic>
        <p:nvPicPr>
          <p:cNvPr id="11" name="Picture 10" descr="SCWB_PPTcover-Grn.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52"/>
          <a:stretch/>
        </p:blipFill>
        <p:spPr>
          <a:xfrm>
            <a:off x="3" y="12600"/>
            <a:ext cx="9908664" cy="6832800"/>
          </a:xfrm>
          <a:prstGeom prst="rect">
            <a:avLst/>
          </a:prstGeom>
        </p:spPr>
      </p:pic>
      <p:pic>
        <p:nvPicPr>
          <p:cNvPr id="8" name="Picture 7"/>
          <p:cNvPicPr>
            <a:picLocks noChangeAspect="1"/>
          </p:cNvPicPr>
          <p:nvPr userDrawn="1"/>
        </p:nvPicPr>
        <p:blipFill>
          <a:blip r:embed="rId3" cstate="print"/>
          <a:stretch>
            <a:fillRect/>
          </a:stretch>
        </p:blipFill>
        <p:spPr>
          <a:xfrm>
            <a:off x="8134137" y="245287"/>
            <a:ext cx="1449701" cy="554026"/>
          </a:xfrm>
          <a:prstGeom prst="rect">
            <a:avLst/>
          </a:prstGeom>
        </p:spPr>
      </p:pic>
      <p:pic>
        <p:nvPicPr>
          <p:cNvPr id="9" name="Picture 8"/>
          <p:cNvPicPr>
            <a:picLocks noChangeAspect="1"/>
          </p:cNvPicPr>
          <p:nvPr userDrawn="1"/>
        </p:nvPicPr>
        <p:blipFill>
          <a:blip r:embed="rId4" cstate="print"/>
          <a:stretch>
            <a:fillRect/>
          </a:stretch>
        </p:blipFill>
        <p:spPr>
          <a:xfrm>
            <a:off x="8134132" y="6283800"/>
            <a:ext cx="1449706" cy="226951"/>
          </a:xfrm>
          <a:prstGeom prst="rect">
            <a:avLst/>
          </a:prstGeom>
        </p:spPr>
      </p:pic>
      <p:pic>
        <p:nvPicPr>
          <p:cNvPr id="10" name="Picture 26" descr="Visual Identitiy Band"/>
          <p:cNvPicPr preferRelativeResize="0">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Title 1"/>
          <p:cNvSpPr>
            <a:spLocks noGrp="1"/>
          </p:cNvSpPr>
          <p:nvPr>
            <p:ph type="ctrTitle"/>
          </p:nvPr>
        </p:nvSpPr>
        <p:spPr>
          <a:xfrm>
            <a:off x="4251000" y="2008097"/>
            <a:ext cx="5316116"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13" name="Subtitle 2"/>
          <p:cNvSpPr>
            <a:spLocks noGrp="1"/>
          </p:cNvSpPr>
          <p:nvPr>
            <p:ph type="subTitle" idx="1"/>
          </p:nvPr>
        </p:nvSpPr>
        <p:spPr>
          <a:xfrm>
            <a:off x="4531893" y="3703460"/>
            <a:ext cx="5035223"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90689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atermark">
    <p:spTree>
      <p:nvGrpSpPr>
        <p:cNvPr id="1" name=""/>
        <p:cNvGrpSpPr/>
        <p:nvPr/>
      </p:nvGrpSpPr>
      <p:grpSpPr>
        <a:xfrm>
          <a:off x="0" y="0"/>
          <a:ext cx="0" cy="0"/>
          <a:chOff x="0" y="0"/>
          <a:chExt cx="0" cy="0"/>
        </a:xfrm>
      </p:grpSpPr>
      <p:pic>
        <p:nvPicPr>
          <p:cNvPr id="3" name="Picture 2" descr="SCWB_PPT_Divider.jpg"/>
          <p:cNvPicPr>
            <a:picLocks noChangeAspect="1"/>
          </p:cNvPicPr>
          <p:nvPr userDrawn="1"/>
        </p:nvPicPr>
        <p:blipFill rotWithShape="1">
          <a:blip r:embed="rId2" cstate="print">
            <a:extLst>
              <a:ext uri="{28A0092B-C50C-407E-A947-70E740481C1C}">
                <a14:useLocalDpi xmlns:a14="http://schemas.microsoft.com/office/drawing/2010/main" val="0"/>
              </a:ext>
            </a:extLst>
          </a:blip>
          <a:srcRect t="15121" b="2696"/>
          <a:stretch/>
        </p:blipFill>
        <p:spPr>
          <a:xfrm>
            <a:off x="2350" y="1088141"/>
            <a:ext cx="9903650" cy="5757259"/>
          </a:xfrm>
          <a:prstGeom prst="rect">
            <a:avLst/>
          </a:prstGeom>
        </p:spPr>
      </p:pic>
      <p:sp>
        <p:nvSpPr>
          <p:cNvPr id="4" name="Title 1"/>
          <p:cNvSpPr>
            <a:spLocks noGrp="1"/>
          </p:cNvSpPr>
          <p:nvPr>
            <p:ph type="ctrTitle"/>
          </p:nvPr>
        </p:nvSpPr>
        <p:spPr>
          <a:xfrm>
            <a:off x="340234" y="4833001"/>
            <a:ext cx="9259747" cy="1029600"/>
          </a:xfrm>
        </p:spPr>
        <p:txBody>
          <a:bodyPr anchor="t">
            <a:normAutofit/>
          </a:bodyPr>
          <a:lstStyle>
            <a:lvl1pPr algn="l">
              <a:defRPr sz="3500" baseline="0">
                <a:solidFill>
                  <a:schemeClr val="accent5"/>
                </a:solidFill>
                <a:latin typeface="Cover Title"/>
              </a:defRPr>
            </a:lvl1pPr>
          </a:lstStyle>
          <a:p>
            <a:r>
              <a:rPr lang="en-US"/>
              <a:t>Click to edit Master title style</a:t>
            </a:r>
            <a:endParaRPr lang="en-US" dirty="0"/>
          </a:p>
        </p:txBody>
      </p:sp>
      <p:sp>
        <p:nvSpPr>
          <p:cNvPr id="5" name="Subtitle 2"/>
          <p:cNvSpPr>
            <a:spLocks noGrp="1"/>
          </p:cNvSpPr>
          <p:nvPr>
            <p:ph type="subTitle" idx="1"/>
          </p:nvPr>
        </p:nvSpPr>
        <p:spPr>
          <a:xfrm>
            <a:off x="340234" y="3709800"/>
            <a:ext cx="9243814" cy="966040"/>
          </a:xfrm>
        </p:spPr>
        <p:txBody>
          <a:bodyPr anchor="b">
            <a:normAutofit/>
          </a:bodyPr>
          <a:lstStyle>
            <a:lvl1pPr marL="0" indent="0" algn="l">
              <a:buNone/>
              <a:defRPr sz="2000" baseline="0">
                <a:solidFill>
                  <a:schemeClr val="tx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079082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Agenda P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6" name="Text Placeholder 2"/>
          <p:cNvSpPr>
            <a:spLocks noGrp="1"/>
          </p:cNvSpPr>
          <p:nvPr>
            <p:ph idx="1" hasCustomPrompt="1"/>
          </p:nvPr>
        </p:nvSpPr>
        <p:spPr>
          <a:xfrm>
            <a:off x="324091" y="1323001"/>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baseline="0">
                <a:solidFill>
                  <a:schemeClr val="accent5"/>
                </a:solidFill>
              </a:defRPr>
            </a:lvl1pPr>
            <a:lvl2pPr marL="457200" indent="0">
              <a:buNone/>
              <a:defRPr/>
            </a:lvl2pPr>
            <a:lvl3pPr marL="914400" indent="0">
              <a:buNone/>
              <a:defRPr/>
            </a:lvl3pPr>
            <a:lvl4pPr marL="1371600" indent="0">
              <a:buNone/>
              <a:defRPr/>
            </a:lvl4pPr>
            <a:lvl5pPr marL="1828800" indent="0">
              <a:buNone/>
              <a:defRPr/>
            </a:lvl5pPr>
          </a:lstStyle>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p:txBody>
      </p:sp>
    </p:spTree>
    <p:extLst>
      <p:ext uri="{BB962C8B-B14F-4D97-AF65-F5344CB8AC3E}">
        <p14:creationId xmlns:p14="http://schemas.microsoft.com/office/powerpoint/2010/main" val="3316229516"/>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ing &amp; 1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noChangeAspect="1"/>
          </p:cNvSpPr>
          <p:nvPr>
            <p:ph idx="1"/>
          </p:nvPr>
        </p:nvSpPr>
        <p:spPr>
          <a:xfrm>
            <a:off x="324091" y="1323001"/>
            <a:ext cx="9259747"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1876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ing &amp;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p:cNvSpPr>
          <p:nvPr>
            <p:ph idx="1"/>
          </p:nvPr>
        </p:nvSpPr>
        <p:spPr>
          <a:xfrm>
            <a:off x="324091" y="1323001"/>
            <a:ext cx="4488509"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p:cNvSpPr>
            <a:spLocks noGrp="1"/>
          </p:cNvSpPr>
          <p:nvPr>
            <p:ph idx="12"/>
          </p:nvPr>
        </p:nvSpPr>
        <p:spPr>
          <a:xfrm>
            <a:off x="5093400" y="1323001"/>
            <a:ext cx="4490438"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46380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AABF3E-EF9B-47F8-BC27-8C04233D4794}" type="datetimeFigureOut">
              <a:rPr lang="en-US" smtClean="0"/>
              <a:pPr/>
              <a:t>6/13/2019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496F9C-7FEE-48F2-A86C-DCFACBAB2156}" type="slidenum">
              <a:rPr lang="en-US" smtClean="0"/>
              <a:pPr/>
              <a:t>‹#›</a:t>
            </a:fld>
            <a:endParaRPr lang="en-US"/>
          </a:p>
        </p:txBody>
      </p:sp>
    </p:spTree>
    <p:extLst>
      <p:ext uri="{BB962C8B-B14F-4D97-AF65-F5344CB8AC3E}">
        <p14:creationId xmlns:p14="http://schemas.microsoft.com/office/powerpoint/2010/main" val="3416229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4091" y="199800"/>
            <a:ext cx="9259747" cy="702000"/>
          </a:xfrm>
          <a:prstGeom prst="rect">
            <a:avLst/>
          </a:prstGeom>
        </p:spPr>
        <p:txBody>
          <a:bodyPr vert="horz" lIns="0" tIns="0" rIns="0" bIns="0" rtlCol="0" anchor="b">
            <a:normAutofit/>
          </a:bodyPr>
          <a:lstStyle/>
          <a:p>
            <a:r>
              <a:rPr lang="en-US"/>
              <a:t>Click to edit Master title style</a:t>
            </a:r>
            <a:endParaRPr lang="en-US" dirty="0"/>
          </a:p>
        </p:txBody>
      </p:sp>
      <p:sp>
        <p:nvSpPr>
          <p:cNvPr id="3" name="Text Placeholder 2"/>
          <p:cNvSpPr>
            <a:spLocks noGrp="1" noChangeAspect="1"/>
          </p:cNvSpPr>
          <p:nvPr>
            <p:ph type="body" idx="1"/>
          </p:nvPr>
        </p:nvSpPr>
        <p:spPr>
          <a:xfrm>
            <a:off x="324091" y="1323001"/>
            <a:ext cx="9259747"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26" descr="Visual Identitiy Band"/>
          <p:cNvPicPr preferRelativeResize="0">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 name="Text Box 6"/>
          <p:cNvSpPr txBox="1">
            <a:spLocks noChangeArrowheads="1"/>
          </p:cNvSpPr>
          <p:nvPr/>
        </p:nvSpPr>
        <p:spPr bwMode="auto">
          <a:xfrm>
            <a:off x="9223410" y="6447452"/>
            <a:ext cx="357028" cy="298513"/>
          </a:xfrm>
          <a:prstGeom prst="rect">
            <a:avLst/>
          </a:prstGeom>
          <a:noFill/>
          <a:ln w="9525">
            <a:noFill/>
            <a:miter lim="800000"/>
            <a:headEnd/>
            <a:tailEnd/>
          </a:ln>
        </p:spPr>
        <p:txBody>
          <a:bodyPr lIns="0" tIns="0" rIns="0" bIns="0" anchor="ctr"/>
          <a:lstStyle>
            <a:lvl1pPr defTabSz="1042988" eaLnBrk="0" hangingPunct="0">
              <a:defRPr sz="900" baseline="-25000">
                <a:solidFill>
                  <a:srgbClr val="006699"/>
                </a:solidFill>
                <a:latin typeface="Arial" charset="0"/>
                <a:ea typeface="ＭＳ Ｐゴシック" charset="0"/>
                <a:cs typeface="Arial" charset="0"/>
              </a:defRPr>
            </a:lvl1pPr>
            <a:lvl2pPr marL="742950" indent="-285750" defTabSz="1042988" eaLnBrk="0" hangingPunct="0">
              <a:defRPr sz="900" baseline="-25000">
                <a:solidFill>
                  <a:srgbClr val="006699"/>
                </a:solidFill>
                <a:latin typeface="Arial" charset="0"/>
                <a:ea typeface="Arial" charset="0"/>
                <a:cs typeface="Arial" charset="0"/>
              </a:defRPr>
            </a:lvl2pPr>
            <a:lvl3pPr marL="1143000" indent="-228600" defTabSz="1042988" eaLnBrk="0" hangingPunct="0">
              <a:defRPr sz="900" baseline="-25000">
                <a:solidFill>
                  <a:srgbClr val="006699"/>
                </a:solidFill>
                <a:latin typeface="Arial" charset="0"/>
                <a:ea typeface="Arial" charset="0"/>
                <a:cs typeface="Arial" charset="0"/>
              </a:defRPr>
            </a:lvl3pPr>
            <a:lvl4pPr marL="1600200" indent="-228600" defTabSz="1042988" eaLnBrk="0" hangingPunct="0">
              <a:defRPr sz="900" baseline="-25000">
                <a:solidFill>
                  <a:srgbClr val="006699"/>
                </a:solidFill>
                <a:latin typeface="Arial" charset="0"/>
                <a:ea typeface="Arial" charset="0"/>
                <a:cs typeface="Arial" charset="0"/>
              </a:defRPr>
            </a:lvl4pPr>
            <a:lvl5pPr marL="2057400" indent="-228600" defTabSz="1042988" eaLnBrk="0" hangingPunct="0">
              <a:defRPr sz="900" baseline="-25000">
                <a:solidFill>
                  <a:srgbClr val="006699"/>
                </a:solidFill>
                <a:latin typeface="Arial" charset="0"/>
                <a:ea typeface="Arial" charset="0"/>
                <a:cs typeface="Arial" charset="0"/>
              </a:defRPr>
            </a:lvl5pPr>
            <a:lvl6pPr marL="25146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6pPr>
            <a:lvl7pPr marL="29718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7pPr>
            <a:lvl8pPr marL="34290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8pPr>
            <a:lvl9pPr marL="38862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9pPr>
          </a:lstStyle>
          <a:p>
            <a:pPr algn="r" eaLnBrk="1" hangingPunct="1"/>
            <a:fld id="{6E0DC809-1827-F44D-A8AA-8C566384234E}" type="slidenum">
              <a:rPr lang="en-US" sz="900" baseline="0">
                <a:solidFill>
                  <a:srgbClr val="6D6E71"/>
                </a:solidFill>
                <a:latin typeface="+mn-lt"/>
              </a:rPr>
              <a:pPr algn="r" eaLnBrk="1" hangingPunct="1"/>
              <a:t>‹#›</a:t>
            </a:fld>
            <a:endParaRPr lang="en-US" sz="900" baseline="0">
              <a:solidFill>
                <a:srgbClr val="6D6E71"/>
              </a:solidFill>
              <a:latin typeface="+mn-lt"/>
            </a:endParaRPr>
          </a:p>
        </p:txBody>
      </p:sp>
      <p:sp>
        <p:nvSpPr>
          <p:cNvPr id="15" name="Text Box 25"/>
          <p:cNvSpPr txBox="1">
            <a:spLocks noChangeArrowheads="1"/>
          </p:cNvSpPr>
          <p:nvPr/>
        </p:nvSpPr>
        <p:spPr bwMode="auto">
          <a:xfrm>
            <a:off x="5661057" y="6471270"/>
            <a:ext cx="3473490" cy="252466"/>
          </a:xfrm>
          <a:prstGeom prst="rect">
            <a:avLst/>
          </a:prstGeom>
          <a:noFill/>
          <a:ln w="9525">
            <a:noFill/>
            <a:miter lim="800000"/>
            <a:headEnd/>
            <a:tailEnd/>
          </a:ln>
          <a:effectLst/>
        </p:spPr>
        <p:txBody>
          <a:bodyPr lIns="0" tIns="0" rIns="132630" bIns="0" anchor="ctr"/>
          <a:lstStyle/>
          <a:p>
            <a:pPr marL="562284" indent="-562284" algn="r" defTabSz="1122860">
              <a:spcBef>
                <a:spcPct val="40000"/>
              </a:spcBef>
              <a:spcAft>
                <a:spcPct val="40000"/>
              </a:spcAft>
              <a:defRPr/>
            </a:pPr>
            <a:r>
              <a:rPr lang="en-GB" sz="900" baseline="0" dirty="0">
                <a:solidFill>
                  <a:srgbClr val="6D6E71"/>
                </a:solidFill>
                <a:latin typeface="+mn-lt"/>
                <a:ea typeface="+mn-ea"/>
              </a:rPr>
              <a:t>Document Title</a:t>
            </a:r>
          </a:p>
        </p:txBody>
      </p:sp>
      <p:pic>
        <p:nvPicPr>
          <p:cNvPr id="9" name="Picture 8">
            <a:extLst>
              <a:ext uri="{FF2B5EF4-FFF2-40B4-BE49-F238E27FC236}">
                <a16:creationId xmlns:a16="http://schemas.microsoft.com/office/drawing/2014/main" id="{48FC6E1C-F72F-45A3-B159-0C9D9DB4CA03}"/>
              </a:ext>
            </a:extLst>
          </p:cNvPr>
          <p:cNvPicPr>
            <a:picLocks noChangeAspect="1"/>
          </p:cNvPicPr>
          <p:nvPr userDrawn="1"/>
        </p:nvPicPr>
        <p:blipFill>
          <a:blip r:embed="rId10"/>
          <a:stretch>
            <a:fillRect/>
          </a:stretch>
        </p:blipFill>
        <p:spPr>
          <a:xfrm>
            <a:off x="7853739" y="183759"/>
            <a:ext cx="1736100" cy="710589"/>
          </a:xfrm>
          <a:prstGeom prst="rect">
            <a:avLst/>
          </a:prstGeom>
        </p:spPr>
      </p:pic>
    </p:spTree>
    <p:extLst>
      <p:ext uri="{BB962C8B-B14F-4D97-AF65-F5344CB8AC3E}">
        <p14:creationId xmlns:p14="http://schemas.microsoft.com/office/powerpoint/2010/main" val="1033158396"/>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80" r:id="rId3"/>
    <p:sldLayoutId id="2147483701" r:id="rId4"/>
    <p:sldLayoutId id="2147483666" r:id="rId5"/>
    <p:sldLayoutId id="2147483668" r:id="rId6"/>
    <p:sldLayoutId id="2147483702" r:id="rId7"/>
  </p:sldLayoutIdLst>
  <p:txStyles>
    <p:titleStyle>
      <a:lvl1pPr algn="l" defTabSz="914400" rtl="0" eaLnBrk="1" latinLnBrk="0" hangingPunct="1">
        <a:lnSpc>
          <a:spcPct val="90000"/>
        </a:lnSpc>
        <a:spcBef>
          <a:spcPct val="0"/>
        </a:spcBef>
        <a:buNone/>
        <a:defRPr sz="2800" kern="1200" baseline="0">
          <a:solidFill>
            <a:schemeClr val="accent5"/>
          </a:solidFill>
          <a:latin typeface="Slide Heading"/>
          <a:ea typeface="+mj-ea"/>
          <a:cs typeface="+mj-cs"/>
        </a:defRPr>
      </a:lvl1pPr>
    </p:titleStyle>
    <p:body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postgresql.org/download"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CBCD-801A-49BC-A91C-B8BC9C087C5E}"/>
              </a:ext>
            </a:extLst>
          </p:cNvPr>
          <p:cNvSpPr>
            <a:spLocks noGrp="1"/>
          </p:cNvSpPr>
          <p:nvPr>
            <p:ph type="ctrTitle"/>
          </p:nvPr>
        </p:nvSpPr>
        <p:spPr/>
        <p:txBody>
          <a:bodyPr/>
          <a:lstStyle/>
          <a:p>
            <a:r>
              <a:rPr lang="en-US" dirty="0"/>
              <a:t>PostgreSQL</a:t>
            </a:r>
          </a:p>
        </p:txBody>
      </p:sp>
      <p:sp>
        <p:nvSpPr>
          <p:cNvPr id="3" name="Subtitle 2">
            <a:extLst>
              <a:ext uri="{FF2B5EF4-FFF2-40B4-BE49-F238E27FC236}">
                <a16:creationId xmlns:a16="http://schemas.microsoft.com/office/drawing/2014/main" id="{0E9FF59E-1E51-4BB7-BD98-F4CD1B0F6BF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89203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5231-F8D8-42F1-B417-2028951CEF46}"/>
              </a:ext>
            </a:extLst>
          </p:cNvPr>
          <p:cNvSpPr>
            <a:spLocks noGrp="1"/>
          </p:cNvSpPr>
          <p:nvPr>
            <p:ph type="title"/>
          </p:nvPr>
        </p:nvSpPr>
        <p:spPr/>
        <p:txBody>
          <a:bodyPr/>
          <a:lstStyle/>
          <a:p>
            <a:r>
              <a:rPr lang="en-US" dirty="0"/>
              <a:t>PostgreSQL module design</a:t>
            </a:r>
          </a:p>
        </p:txBody>
      </p:sp>
      <p:sp>
        <p:nvSpPr>
          <p:cNvPr id="4" name="Rectangle: Rounded Corners 3">
            <a:extLst>
              <a:ext uri="{FF2B5EF4-FFF2-40B4-BE49-F238E27FC236}">
                <a16:creationId xmlns:a16="http://schemas.microsoft.com/office/drawing/2014/main" id="{80186F7D-2A5C-4831-8A17-394CDF830DE9}"/>
              </a:ext>
            </a:extLst>
          </p:cNvPr>
          <p:cNvSpPr/>
          <p:nvPr/>
        </p:nvSpPr>
        <p:spPr>
          <a:xfrm>
            <a:off x="1088182" y="2596143"/>
            <a:ext cx="1524000" cy="83820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Overview of PostgreSQL</a:t>
            </a:r>
          </a:p>
        </p:txBody>
      </p:sp>
      <p:sp>
        <p:nvSpPr>
          <p:cNvPr id="5" name="Rectangle: Rounded Corners 4">
            <a:extLst>
              <a:ext uri="{FF2B5EF4-FFF2-40B4-BE49-F238E27FC236}">
                <a16:creationId xmlns:a16="http://schemas.microsoft.com/office/drawing/2014/main" id="{A9D8ED8E-851B-4ED4-B70F-BF0A86370CBB}"/>
              </a:ext>
            </a:extLst>
          </p:cNvPr>
          <p:cNvSpPr/>
          <p:nvPr/>
        </p:nvSpPr>
        <p:spPr>
          <a:xfrm>
            <a:off x="6579194" y="2632429"/>
            <a:ext cx="2564805" cy="8763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Demonstrate how to work with database, schema and tables</a:t>
            </a:r>
          </a:p>
        </p:txBody>
      </p:sp>
      <p:sp>
        <p:nvSpPr>
          <p:cNvPr id="16" name="Rectangle: Rounded Corners 15">
            <a:extLst>
              <a:ext uri="{FF2B5EF4-FFF2-40B4-BE49-F238E27FC236}">
                <a16:creationId xmlns:a16="http://schemas.microsoft.com/office/drawing/2014/main" id="{932F650E-FDC7-4F04-BDA4-745D0D2D60EF}"/>
              </a:ext>
            </a:extLst>
          </p:cNvPr>
          <p:cNvSpPr/>
          <p:nvPr/>
        </p:nvSpPr>
        <p:spPr>
          <a:xfrm>
            <a:off x="3679552" y="2594329"/>
            <a:ext cx="1653022" cy="9144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How to use </a:t>
            </a:r>
            <a:r>
              <a:rPr lang="en-US" dirty="0" err="1">
                <a:solidFill>
                  <a:schemeClr val="bg1"/>
                </a:solidFill>
                <a:latin typeface="Body Level 1"/>
              </a:rPr>
              <a:t>pgAdmin</a:t>
            </a:r>
            <a:endParaRPr lang="en-US" dirty="0">
              <a:solidFill>
                <a:schemeClr val="bg1"/>
              </a:solidFill>
              <a:latin typeface="Body Level 1"/>
            </a:endParaRPr>
          </a:p>
        </p:txBody>
      </p:sp>
      <p:sp>
        <p:nvSpPr>
          <p:cNvPr id="17" name="Arrow: Right 16">
            <a:extLst>
              <a:ext uri="{FF2B5EF4-FFF2-40B4-BE49-F238E27FC236}">
                <a16:creationId xmlns:a16="http://schemas.microsoft.com/office/drawing/2014/main" id="{A4809A25-3E9B-4129-BCFA-CB2EF1BB22D8}"/>
              </a:ext>
            </a:extLst>
          </p:cNvPr>
          <p:cNvSpPr/>
          <p:nvPr/>
        </p:nvSpPr>
        <p:spPr>
          <a:xfrm>
            <a:off x="2832926" y="2970802"/>
            <a:ext cx="757957" cy="2088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0658473E-939F-4546-9077-4802B09AE0B2}"/>
              </a:ext>
            </a:extLst>
          </p:cNvPr>
          <p:cNvSpPr/>
          <p:nvPr/>
        </p:nvSpPr>
        <p:spPr>
          <a:xfrm>
            <a:off x="5564206" y="2964447"/>
            <a:ext cx="757957" cy="2088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73D8921-ED46-4639-8AD9-35F34ACE5E95}"/>
              </a:ext>
            </a:extLst>
          </p:cNvPr>
          <p:cNvSpPr txBox="1"/>
          <p:nvPr/>
        </p:nvSpPr>
        <p:spPr>
          <a:xfrm>
            <a:off x="155482" y="6052461"/>
            <a:ext cx="2924947" cy="702001"/>
          </a:xfrm>
          <a:prstGeom prst="rect">
            <a:avLst/>
          </a:prstGeom>
          <a:noFill/>
          <a:ln w="3175">
            <a:solidFill>
              <a:schemeClr val="tx1"/>
            </a:solidFill>
          </a:ln>
        </p:spPr>
        <p:txBody>
          <a:bodyPr wrap="square" rtlCol="0">
            <a:spAutoFit/>
          </a:bodyPr>
          <a:lstStyle/>
          <a:p>
            <a:r>
              <a:rPr lang="en-US" sz="2000" b="1" dirty="0">
                <a:latin typeface="Calibri" panose="020F0502020204030204" pitchFamily="34" charset="0"/>
                <a:cs typeface="Calibri" panose="020F0502020204030204" pitchFamily="34" charset="0"/>
              </a:rPr>
              <a:t>pgAdmin4</a:t>
            </a:r>
            <a:r>
              <a:rPr lang="en-US" sz="2000" dirty="0">
                <a:latin typeface="Calibri" panose="020F0502020204030204" pitchFamily="34" charset="0"/>
                <a:cs typeface="Calibri" panose="020F0502020204030204" pitchFamily="34" charset="0"/>
              </a:rPr>
              <a:t> :PostgreSQL</a:t>
            </a:r>
          </a:p>
          <a:p>
            <a:endParaRPr lang="en-US" sz="2000" dirty="0">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495F91BC-3074-40CF-B89E-11AECF044C6B}"/>
              </a:ext>
            </a:extLst>
          </p:cNvPr>
          <p:cNvSpPr/>
          <p:nvPr/>
        </p:nvSpPr>
        <p:spPr>
          <a:xfrm>
            <a:off x="155482" y="5721880"/>
            <a:ext cx="2924947" cy="330581"/>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S/W Requirements</a:t>
            </a:r>
            <a:endParaRPr lang="en-GB" b="1" dirty="0">
              <a:solidFill>
                <a:schemeClr val="tx2"/>
              </a:solidFill>
              <a:latin typeface="Calibri" panose="020F0502020204030204" pitchFamily="34" charset="0"/>
              <a:cs typeface="Calibri" panose="020F0502020204030204" pitchFamily="34" charset="0"/>
            </a:endParaRPr>
          </a:p>
        </p:txBody>
      </p:sp>
      <p:sp>
        <p:nvSpPr>
          <p:cNvPr id="3" name="Speech Bubble: Oval 2">
            <a:extLst>
              <a:ext uri="{FF2B5EF4-FFF2-40B4-BE49-F238E27FC236}">
                <a16:creationId xmlns:a16="http://schemas.microsoft.com/office/drawing/2014/main" id="{53896943-3FFB-4C26-8029-4197C8120EDA}"/>
              </a:ext>
            </a:extLst>
          </p:cNvPr>
          <p:cNvSpPr/>
          <p:nvPr/>
        </p:nvSpPr>
        <p:spPr>
          <a:xfrm>
            <a:off x="5867400" y="1295400"/>
            <a:ext cx="2057400" cy="876300"/>
          </a:xfrm>
          <a:prstGeom prst="wedgeEllipseCallout">
            <a:avLst>
              <a:gd name="adj1" fmla="val 77753"/>
              <a:gd name="adj2" fmla="val 99141"/>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Provide Cheat sheet </a:t>
            </a:r>
          </a:p>
        </p:txBody>
      </p:sp>
    </p:spTree>
    <p:extLst>
      <p:ext uri="{BB962C8B-B14F-4D97-AF65-F5344CB8AC3E}">
        <p14:creationId xmlns:p14="http://schemas.microsoft.com/office/powerpoint/2010/main" val="748001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AE90B-A071-4EF2-87F2-A9E173DC37C2}"/>
              </a:ext>
            </a:extLst>
          </p:cNvPr>
          <p:cNvSpPr>
            <a:spLocks noGrp="1"/>
          </p:cNvSpPr>
          <p:nvPr>
            <p:ph type="title"/>
          </p:nvPr>
        </p:nvSpPr>
        <p:spPr/>
        <p:txBody>
          <a:bodyPr/>
          <a:lstStyle/>
          <a:p>
            <a:r>
              <a:rPr lang="en-US" dirty="0"/>
              <a:t>Overview of PostgreSQL</a:t>
            </a:r>
          </a:p>
        </p:txBody>
      </p:sp>
      <p:sp>
        <p:nvSpPr>
          <p:cNvPr id="3" name="Content Placeholder 2">
            <a:extLst>
              <a:ext uri="{FF2B5EF4-FFF2-40B4-BE49-F238E27FC236}">
                <a16:creationId xmlns:a16="http://schemas.microsoft.com/office/drawing/2014/main" id="{206CB844-C8C6-40F5-9D91-9DC0F31E4A39}"/>
              </a:ext>
            </a:extLst>
          </p:cNvPr>
          <p:cNvSpPr>
            <a:spLocks noGrp="1"/>
          </p:cNvSpPr>
          <p:nvPr>
            <p:ph idx="1"/>
          </p:nvPr>
        </p:nvSpPr>
        <p:spPr>
          <a:xfrm>
            <a:off x="324091" y="1323000"/>
            <a:ext cx="6619393" cy="4925399"/>
          </a:xfrm>
        </p:spPr>
        <p:txBody>
          <a:bodyPr/>
          <a:lstStyle/>
          <a:p>
            <a:r>
              <a:rPr lang="en-US" b="1" dirty="0"/>
              <a:t>PostgreSQL</a:t>
            </a:r>
            <a:r>
              <a:rPr lang="en-US" dirty="0"/>
              <a:t>, also known as </a:t>
            </a:r>
            <a:r>
              <a:rPr lang="en-US" b="1" dirty="0"/>
              <a:t>Postgres</a:t>
            </a:r>
            <a:r>
              <a:rPr lang="en-US" dirty="0"/>
              <a:t>, is a free and open-source relational database management system (RDBMS) emphasizing extensibility and technical standards compliance.</a:t>
            </a:r>
          </a:p>
          <a:p>
            <a:r>
              <a:rPr lang="en-US" dirty="0"/>
              <a:t>PostgreSQL can run dynamic websites and web apps.</a:t>
            </a:r>
          </a:p>
          <a:p>
            <a:r>
              <a:rPr lang="en-US" dirty="0"/>
              <a:t>PostgreSQL's write-ahead logging makes it a highly fault-tolerant database</a:t>
            </a:r>
          </a:p>
          <a:p>
            <a:r>
              <a:rPr lang="en-US" dirty="0"/>
              <a:t>PostgreSQL source code is freely available under an open source license. This allows you the freedom to use, modify, and implement it as per your business needs.</a:t>
            </a:r>
          </a:p>
          <a:p>
            <a:r>
              <a:rPr lang="en-US" dirty="0"/>
              <a:t>PostgreSQL supports geographic objects so you can use it for location-based services and geographic information systems</a:t>
            </a:r>
          </a:p>
          <a:p>
            <a:pPr marL="0" indent="0">
              <a:buNone/>
            </a:pPr>
            <a:endParaRPr lang="en-US" dirty="0"/>
          </a:p>
          <a:p>
            <a:endParaRPr lang="en-US" dirty="0"/>
          </a:p>
        </p:txBody>
      </p:sp>
      <p:pic>
        <p:nvPicPr>
          <p:cNvPr id="4" name="Picture 3">
            <a:extLst>
              <a:ext uri="{FF2B5EF4-FFF2-40B4-BE49-F238E27FC236}">
                <a16:creationId xmlns:a16="http://schemas.microsoft.com/office/drawing/2014/main" id="{8396656D-43A7-4206-BDFC-6B51717BFA80}"/>
              </a:ext>
            </a:extLst>
          </p:cNvPr>
          <p:cNvPicPr>
            <a:picLocks noChangeAspect="1"/>
          </p:cNvPicPr>
          <p:nvPr/>
        </p:nvPicPr>
        <p:blipFill>
          <a:blip r:embed="rId2"/>
          <a:stretch>
            <a:fillRect/>
          </a:stretch>
        </p:blipFill>
        <p:spPr>
          <a:xfrm>
            <a:off x="6943484" y="1323001"/>
            <a:ext cx="2638425" cy="2057400"/>
          </a:xfrm>
          <a:prstGeom prst="rect">
            <a:avLst/>
          </a:prstGeom>
        </p:spPr>
      </p:pic>
    </p:spTree>
    <p:extLst>
      <p:ext uri="{BB962C8B-B14F-4D97-AF65-F5344CB8AC3E}">
        <p14:creationId xmlns:p14="http://schemas.microsoft.com/office/powerpoint/2010/main" val="1538441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0D6DD-745F-4724-A669-A622C4B1FA85}"/>
              </a:ext>
            </a:extLst>
          </p:cNvPr>
          <p:cNvSpPr>
            <a:spLocks noGrp="1"/>
          </p:cNvSpPr>
          <p:nvPr>
            <p:ph type="title"/>
          </p:nvPr>
        </p:nvSpPr>
        <p:spPr/>
        <p:txBody>
          <a:bodyPr/>
          <a:lstStyle/>
          <a:p>
            <a:r>
              <a:rPr lang="en-US" dirty="0"/>
              <a:t>PostgreSQL Usage</a:t>
            </a:r>
          </a:p>
        </p:txBody>
      </p:sp>
      <p:sp>
        <p:nvSpPr>
          <p:cNvPr id="3" name="Content Placeholder 2">
            <a:extLst>
              <a:ext uri="{FF2B5EF4-FFF2-40B4-BE49-F238E27FC236}">
                <a16:creationId xmlns:a16="http://schemas.microsoft.com/office/drawing/2014/main" id="{7ACC3DEB-8BCD-44B4-A85D-30069E57A4E1}"/>
              </a:ext>
            </a:extLst>
          </p:cNvPr>
          <p:cNvSpPr>
            <a:spLocks noGrp="1"/>
          </p:cNvSpPr>
          <p:nvPr>
            <p:ph idx="1"/>
          </p:nvPr>
        </p:nvSpPr>
        <p:spPr/>
        <p:txBody>
          <a:bodyPr/>
          <a:lstStyle/>
          <a:p>
            <a:r>
              <a:rPr lang="en-US" b="1" dirty="0"/>
              <a:t>Financial Industry</a:t>
            </a:r>
            <a:endParaRPr lang="en-US" dirty="0"/>
          </a:p>
          <a:p>
            <a:pPr lvl="1"/>
            <a:r>
              <a:rPr lang="en-US" dirty="0"/>
              <a:t>PostgreSQL is an ideal DBMS system for the financial industry. Moreover, It is fully ACID compliant which makes it an ideal choice for OLTP (Online Transaction Processing). It is also capable of performing database analytics. It can be integrated with mathematical software like </a:t>
            </a:r>
            <a:r>
              <a:rPr lang="en-US" dirty="0" err="1"/>
              <a:t>Matlab</a:t>
            </a:r>
            <a:r>
              <a:rPr lang="en-US" dirty="0"/>
              <a:t> and R.</a:t>
            </a:r>
          </a:p>
          <a:p>
            <a:r>
              <a:rPr lang="en-US" b="1" dirty="0"/>
              <a:t>Web technology and NoSQL</a:t>
            </a:r>
            <a:endParaRPr lang="en-US" dirty="0"/>
          </a:p>
          <a:p>
            <a:pPr lvl="1"/>
            <a:r>
              <a:rPr lang="en-US" dirty="0"/>
              <a:t>If your website requires to deal with hundreds or even thousands request per second at that time, scalability is a surely big issue. Here, PostgreSQL proves the best solution. PostgreSQL works fine with all modern web frameworks like Django, Node.js,</a:t>
            </a:r>
          </a:p>
          <a:p>
            <a:r>
              <a:rPr lang="en-US" b="1" dirty="0"/>
              <a:t>Scientific data</a:t>
            </a:r>
            <a:endParaRPr lang="en-US" dirty="0"/>
          </a:p>
          <a:p>
            <a:pPr lvl="1"/>
            <a:r>
              <a:rPr lang="en-US" dirty="0"/>
              <a:t>You need to generate terabytes of data if you are working on research and scientific project. Therefore, it is important to handle in the most efficient way as possible. For that, PostgreSQL offers wonderful analytical capabilities and powerful SQL engine. This helps you to manage a large amount of data with ease.</a:t>
            </a:r>
          </a:p>
          <a:p>
            <a:endParaRPr lang="en-US" dirty="0"/>
          </a:p>
        </p:txBody>
      </p:sp>
    </p:spTree>
    <p:extLst>
      <p:ext uri="{BB962C8B-B14F-4D97-AF65-F5344CB8AC3E}">
        <p14:creationId xmlns:p14="http://schemas.microsoft.com/office/powerpoint/2010/main" val="4268655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FD7D-D6C9-4C1F-A3B1-0813F006A40A}"/>
              </a:ext>
            </a:extLst>
          </p:cNvPr>
          <p:cNvSpPr>
            <a:spLocks noGrp="1"/>
          </p:cNvSpPr>
          <p:nvPr>
            <p:ph type="title"/>
          </p:nvPr>
        </p:nvSpPr>
        <p:spPr/>
        <p:txBody>
          <a:bodyPr/>
          <a:lstStyle/>
          <a:p>
            <a:r>
              <a:rPr lang="en-US" dirty="0"/>
              <a:t>Supported Data Types</a:t>
            </a:r>
          </a:p>
        </p:txBody>
      </p:sp>
      <p:sp>
        <p:nvSpPr>
          <p:cNvPr id="3" name="Content Placeholder 2">
            <a:extLst>
              <a:ext uri="{FF2B5EF4-FFF2-40B4-BE49-F238E27FC236}">
                <a16:creationId xmlns:a16="http://schemas.microsoft.com/office/drawing/2014/main" id="{5E7BE39C-19F7-425D-8FDD-FAA7B6E72888}"/>
              </a:ext>
            </a:extLst>
          </p:cNvPr>
          <p:cNvSpPr>
            <a:spLocks noGrp="1"/>
          </p:cNvSpPr>
          <p:nvPr>
            <p:ph idx="1"/>
          </p:nvPr>
        </p:nvSpPr>
        <p:spPr>
          <a:xfrm>
            <a:off x="324091" y="1447800"/>
            <a:ext cx="8972309" cy="4569811"/>
          </a:xfrm>
        </p:spPr>
        <p:txBody>
          <a:bodyPr numCol="2">
            <a:normAutofit lnSpcReduction="10000"/>
          </a:bodyPr>
          <a:lstStyle/>
          <a:p>
            <a:r>
              <a:rPr lang="en-US" dirty="0"/>
              <a:t>PostgreSQL supports the following data types:</a:t>
            </a:r>
          </a:p>
          <a:p>
            <a:endParaRPr lang="en-US" dirty="0"/>
          </a:p>
          <a:p>
            <a:pPr marL="342900" indent="-342900">
              <a:buFont typeface="+mj-lt"/>
              <a:buAutoNum type="arabicPeriod"/>
            </a:pPr>
            <a:r>
              <a:rPr lang="en-US" dirty="0"/>
              <a:t>Text Types (char(4),text)</a:t>
            </a:r>
          </a:p>
          <a:p>
            <a:pPr marL="342900" indent="-342900">
              <a:buFont typeface="+mj-lt"/>
              <a:buAutoNum type="arabicPeriod"/>
            </a:pPr>
            <a:r>
              <a:rPr lang="en-US" dirty="0"/>
              <a:t>Numeric Types (decimal, integer, numeric)</a:t>
            </a:r>
          </a:p>
          <a:p>
            <a:pPr marL="342900" indent="-342900">
              <a:buFont typeface="+mj-lt"/>
              <a:buAutoNum type="arabicPeriod"/>
            </a:pPr>
            <a:r>
              <a:rPr lang="en-US" dirty="0"/>
              <a:t>Dates and Times (timestamp/time with/without time zone, date)</a:t>
            </a:r>
          </a:p>
          <a:p>
            <a:pPr marL="342900" indent="-342900">
              <a:buFont typeface="+mj-lt"/>
              <a:buAutoNum type="arabicPeriod"/>
            </a:pPr>
            <a:r>
              <a:rPr lang="en-US" dirty="0"/>
              <a:t>Boolean (</a:t>
            </a:r>
            <a:r>
              <a:rPr lang="en-US" dirty="0" err="1"/>
              <a:t>boolean</a:t>
            </a:r>
            <a:r>
              <a:rPr lang="en-US" dirty="0"/>
              <a:t>)</a:t>
            </a:r>
          </a:p>
          <a:p>
            <a:pPr marL="342900" indent="-342900">
              <a:buFont typeface="+mj-lt"/>
              <a:buAutoNum type="arabicPeriod"/>
            </a:pPr>
            <a:r>
              <a:rPr lang="en-US" dirty="0"/>
              <a:t>XML</a:t>
            </a:r>
          </a:p>
          <a:p>
            <a:pPr marL="342900" indent="-342900">
              <a:buFont typeface="+mj-lt"/>
              <a:buAutoNum type="arabicPeriod"/>
            </a:pPr>
            <a:r>
              <a:rPr lang="en-US" dirty="0"/>
              <a:t>JSON</a:t>
            </a:r>
          </a:p>
          <a:p>
            <a:pPr marL="342900" indent="-342900">
              <a:buFont typeface="+mj-lt"/>
              <a:buAutoNum type="arabicPeriod"/>
            </a:pPr>
            <a:r>
              <a:rPr lang="en-US" dirty="0"/>
              <a:t>Bits</a:t>
            </a:r>
          </a:p>
          <a:p>
            <a:pPr marL="342900" indent="-342900">
              <a:buFont typeface="+mj-lt"/>
              <a:buAutoNum type="arabicPeriod"/>
            </a:pPr>
            <a:r>
              <a:rPr lang="en-US" dirty="0"/>
              <a:t>Binary Data</a:t>
            </a:r>
          </a:p>
          <a:p>
            <a:pPr marL="342900" indent="-342900">
              <a:buFont typeface="+mj-lt"/>
              <a:buAutoNum type="arabicPeriod"/>
            </a:pPr>
            <a:r>
              <a:rPr lang="en-US" dirty="0"/>
              <a:t>Network</a:t>
            </a:r>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r>
              <a:rPr lang="en-US" dirty="0"/>
              <a:t>Arrays</a:t>
            </a:r>
          </a:p>
          <a:p>
            <a:pPr marL="342900" indent="-342900">
              <a:buFont typeface="+mj-lt"/>
              <a:buAutoNum type="arabicPeriod"/>
            </a:pPr>
            <a:r>
              <a:rPr lang="en-US" dirty="0"/>
              <a:t>Create your Data Type</a:t>
            </a:r>
          </a:p>
          <a:p>
            <a:pPr marL="342900" indent="-342900">
              <a:buFont typeface="+mj-lt"/>
              <a:buAutoNum type="arabicPeriod"/>
            </a:pPr>
            <a:r>
              <a:rPr lang="en-US" dirty="0"/>
              <a:t>Temporal</a:t>
            </a:r>
          </a:p>
          <a:p>
            <a:pPr marL="342900" indent="-342900">
              <a:buFont typeface="+mj-lt"/>
              <a:buAutoNum type="arabicPeriod"/>
            </a:pPr>
            <a:r>
              <a:rPr lang="en-US" dirty="0"/>
              <a:t>UUID</a:t>
            </a:r>
          </a:p>
          <a:p>
            <a:pPr marL="342900" indent="-342900">
              <a:buFont typeface="+mj-lt"/>
              <a:buAutoNum type="arabicPeriod"/>
            </a:pPr>
            <a:r>
              <a:rPr lang="en-US" dirty="0"/>
              <a:t>Array</a:t>
            </a:r>
          </a:p>
          <a:p>
            <a:pPr marL="342900" indent="-342900">
              <a:buFont typeface="+mj-lt"/>
              <a:buAutoNum type="arabicPeriod"/>
            </a:pPr>
            <a:r>
              <a:rPr lang="en-US" dirty="0"/>
              <a:t>JSON</a:t>
            </a:r>
          </a:p>
          <a:p>
            <a:pPr marL="342900" indent="-342900">
              <a:buFont typeface="+mj-lt"/>
              <a:buAutoNum type="arabicPeriod"/>
            </a:pPr>
            <a:r>
              <a:rPr lang="en-US" dirty="0"/>
              <a:t>Special Data types for storing a network address and geometric data.</a:t>
            </a:r>
          </a:p>
          <a:p>
            <a:pPr marL="0" indent="0">
              <a:buNone/>
            </a:pPr>
            <a:br>
              <a:rPr lang="en-US" dirty="0"/>
            </a:br>
            <a:endParaRPr lang="en-US" dirty="0"/>
          </a:p>
        </p:txBody>
      </p:sp>
    </p:spTree>
    <p:extLst>
      <p:ext uri="{BB962C8B-B14F-4D97-AF65-F5344CB8AC3E}">
        <p14:creationId xmlns:p14="http://schemas.microsoft.com/office/powerpoint/2010/main" val="3336320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49DD7-68CD-442B-A072-AB2930160938}"/>
              </a:ext>
            </a:extLst>
          </p:cNvPr>
          <p:cNvSpPr>
            <a:spLocks noGrp="1"/>
          </p:cNvSpPr>
          <p:nvPr>
            <p:ph type="title"/>
          </p:nvPr>
        </p:nvSpPr>
        <p:spPr/>
        <p:txBody>
          <a:bodyPr/>
          <a:lstStyle/>
          <a:p>
            <a:r>
              <a:rPr lang="en-US" dirty="0"/>
              <a:t>Steps to database server connection </a:t>
            </a:r>
          </a:p>
        </p:txBody>
      </p:sp>
      <p:sp>
        <p:nvSpPr>
          <p:cNvPr id="3" name="Content Placeholder 2">
            <a:extLst>
              <a:ext uri="{FF2B5EF4-FFF2-40B4-BE49-F238E27FC236}">
                <a16:creationId xmlns:a16="http://schemas.microsoft.com/office/drawing/2014/main" id="{D88BA76A-9293-4B5E-8578-0525D330FE2F}"/>
              </a:ext>
            </a:extLst>
          </p:cNvPr>
          <p:cNvSpPr>
            <a:spLocks noGrp="1"/>
          </p:cNvSpPr>
          <p:nvPr>
            <p:ph idx="1"/>
          </p:nvPr>
        </p:nvSpPr>
        <p:spPr>
          <a:xfrm>
            <a:off x="218580" y="1424894"/>
            <a:ext cx="4353419" cy="4594906"/>
          </a:xfrm>
        </p:spPr>
        <p:txBody>
          <a:bodyPr/>
          <a:lstStyle/>
          <a:p>
            <a:r>
              <a:rPr lang="en-US" dirty="0"/>
              <a:t>To use PostgreSQL in your machine, you need to install:</a:t>
            </a:r>
          </a:p>
          <a:p>
            <a:pPr marL="342900" indent="-342900">
              <a:buFont typeface="+mj-lt"/>
              <a:buAutoNum type="arabicPeriod"/>
            </a:pPr>
            <a:r>
              <a:rPr lang="en-US" dirty="0"/>
              <a:t>PostgreSQL Database Server</a:t>
            </a:r>
          </a:p>
          <a:p>
            <a:pPr marL="342900" indent="-342900">
              <a:buFont typeface="+mj-lt"/>
              <a:buAutoNum type="arabicPeriod"/>
            </a:pPr>
            <a:r>
              <a:rPr lang="en-US" dirty="0"/>
              <a:t>A graphical tool to administer and manage the DB. </a:t>
            </a:r>
            <a:r>
              <a:rPr lang="en-US" dirty="0" err="1"/>
              <a:t>pgAdmin</a:t>
            </a:r>
            <a:r>
              <a:rPr lang="en-US" dirty="0"/>
              <a:t> is the most popular tool GUI Tool for PostgreSQL</a:t>
            </a:r>
          </a:p>
          <a:p>
            <a:r>
              <a:rPr lang="en-US" dirty="0"/>
              <a:t>Visit</a:t>
            </a:r>
            <a:r>
              <a:rPr lang="pl-PL" dirty="0"/>
              <a:t> </a:t>
            </a:r>
            <a:r>
              <a:rPr lang="pl-PL" dirty="0">
                <a:hlinkClick r:id="rId2"/>
              </a:rPr>
              <a:t>https://www.postgresql.org/download</a:t>
            </a:r>
            <a:endParaRPr lang="en-US" dirty="0"/>
          </a:p>
          <a:p>
            <a:r>
              <a:rPr lang="en-US" dirty="0"/>
              <a:t>After successful installation, to launch PostgreSQL go to Start Menu and search </a:t>
            </a:r>
            <a:r>
              <a:rPr lang="en-US" dirty="0" err="1"/>
              <a:t>pgAdmin</a:t>
            </a:r>
            <a:r>
              <a:rPr lang="en-US" dirty="0"/>
              <a:t> 4 and once you select this, it will open </a:t>
            </a:r>
            <a:r>
              <a:rPr lang="en-US" dirty="0" err="1"/>
              <a:t>pgAdmin</a:t>
            </a:r>
            <a:r>
              <a:rPr lang="en-US" dirty="0"/>
              <a:t> homepage</a:t>
            </a:r>
          </a:p>
          <a:p>
            <a:pPr marL="0" indent="0">
              <a:buNone/>
            </a:pPr>
            <a:endParaRPr lang="en-US" dirty="0"/>
          </a:p>
        </p:txBody>
      </p:sp>
      <p:pic>
        <p:nvPicPr>
          <p:cNvPr id="4" name="Picture 3">
            <a:extLst>
              <a:ext uri="{FF2B5EF4-FFF2-40B4-BE49-F238E27FC236}">
                <a16:creationId xmlns:a16="http://schemas.microsoft.com/office/drawing/2014/main" id="{960B4FC5-EE6F-4247-9CC8-5B7F2B496FDD}"/>
              </a:ext>
            </a:extLst>
          </p:cNvPr>
          <p:cNvPicPr>
            <a:picLocks noChangeAspect="1"/>
          </p:cNvPicPr>
          <p:nvPr/>
        </p:nvPicPr>
        <p:blipFill>
          <a:blip r:embed="rId3"/>
          <a:stretch>
            <a:fillRect/>
          </a:stretch>
        </p:blipFill>
        <p:spPr>
          <a:xfrm>
            <a:off x="4662713" y="1439408"/>
            <a:ext cx="5010630" cy="3738563"/>
          </a:xfrm>
          <a:prstGeom prst="rect">
            <a:avLst/>
          </a:prstGeom>
          <a:solidFill>
            <a:schemeClr val="accent1"/>
          </a:solidFill>
          <a:ln>
            <a:solidFill>
              <a:schemeClr val="tx1"/>
            </a:solidFill>
          </a:ln>
        </p:spPr>
      </p:pic>
      <p:sp>
        <p:nvSpPr>
          <p:cNvPr id="5" name="TextBox 4">
            <a:extLst>
              <a:ext uri="{FF2B5EF4-FFF2-40B4-BE49-F238E27FC236}">
                <a16:creationId xmlns:a16="http://schemas.microsoft.com/office/drawing/2014/main" id="{00FCC42F-C11A-42A2-AFF7-3225D13DDA02}"/>
              </a:ext>
            </a:extLst>
          </p:cNvPr>
          <p:cNvSpPr txBox="1"/>
          <p:nvPr/>
        </p:nvSpPr>
        <p:spPr>
          <a:xfrm>
            <a:off x="6019800" y="5177971"/>
            <a:ext cx="2286000" cy="381000"/>
          </a:xfrm>
          <a:prstGeom prst="rect">
            <a:avLst/>
          </a:prstGeom>
          <a:noFill/>
        </p:spPr>
        <p:txBody>
          <a:bodyPr wrap="square" rtlCol="0">
            <a:spAutoFit/>
          </a:bodyPr>
          <a:lstStyle/>
          <a:p>
            <a:r>
              <a:rPr lang="en-US" dirty="0" err="1">
                <a:latin typeface="Body Level 1"/>
              </a:rPr>
              <a:t>pgAdmin</a:t>
            </a:r>
            <a:r>
              <a:rPr lang="en-US" dirty="0">
                <a:latin typeface="Body Level 1"/>
              </a:rPr>
              <a:t> homepage</a:t>
            </a:r>
          </a:p>
        </p:txBody>
      </p:sp>
    </p:spTree>
    <p:extLst>
      <p:ext uri="{BB962C8B-B14F-4D97-AF65-F5344CB8AC3E}">
        <p14:creationId xmlns:p14="http://schemas.microsoft.com/office/powerpoint/2010/main" val="1020107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ACDE0-054A-494B-A0DB-E890E147EB7B}"/>
              </a:ext>
            </a:extLst>
          </p:cNvPr>
          <p:cNvSpPr>
            <a:spLocks noGrp="1"/>
          </p:cNvSpPr>
          <p:nvPr>
            <p:ph type="title"/>
          </p:nvPr>
        </p:nvSpPr>
        <p:spPr/>
        <p:txBody>
          <a:bodyPr/>
          <a:lstStyle/>
          <a:p>
            <a:r>
              <a:rPr lang="en-US" dirty="0"/>
              <a:t>Steps to database server connection </a:t>
            </a:r>
            <a:r>
              <a:rPr lang="en-US" dirty="0" err="1"/>
              <a:t>cont</a:t>
            </a:r>
            <a:r>
              <a:rPr lang="en-US" dirty="0"/>
              <a:t>…</a:t>
            </a:r>
          </a:p>
        </p:txBody>
      </p:sp>
      <p:sp>
        <p:nvSpPr>
          <p:cNvPr id="3" name="Content Placeholder 2">
            <a:extLst>
              <a:ext uri="{FF2B5EF4-FFF2-40B4-BE49-F238E27FC236}">
                <a16:creationId xmlns:a16="http://schemas.microsoft.com/office/drawing/2014/main" id="{5BDC8831-7D97-4610-ACCB-7C8B4F902E45}"/>
              </a:ext>
            </a:extLst>
          </p:cNvPr>
          <p:cNvSpPr>
            <a:spLocks noGrp="1"/>
          </p:cNvSpPr>
          <p:nvPr>
            <p:ph idx="1"/>
          </p:nvPr>
        </p:nvSpPr>
        <p:spPr>
          <a:xfrm>
            <a:off x="324091" y="1432599"/>
            <a:ext cx="4628909" cy="4265011"/>
          </a:xfrm>
        </p:spPr>
        <p:txBody>
          <a:bodyPr/>
          <a:lstStyle/>
          <a:p>
            <a:r>
              <a:rPr lang="en-US" dirty="0"/>
              <a:t>Click on Servers &gt; </a:t>
            </a:r>
            <a:r>
              <a:rPr lang="en-US" dirty="0" err="1"/>
              <a:t>Postgre</a:t>
            </a:r>
            <a:r>
              <a:rPr lang="en-US" dirty="0"/>
              <a:t> SQL 10 in the left tree</a:t>
            </a:r>
          </a:p>
          <a:p>
            <a:r>
              <a:rPr lang="en-US" dirty="0"/>
              <a:t>Enter super user password set during installation and click OK.</a:t>
            </a:r>
          </a:p>
          <a:p>
            <a:endParaRPr lang="en-US" dirty="0"/>
          </a:p>
          <a:p>
            <a:endParaRPr lang="en-US" dirty="0"/>
          </a:p>
          <a:p>
            <a:endParaRPr lang="en-US" dirty="0"/>
          </a:p>
          <a:p>
            <a:r>
              <a:rPr lang="en-US" b="1" dirty="0"/>
              <a:t> </a:t>
            </a:r>
            <a:r>
              <a:rPr lang="en-US" dirty="0"/>
              <a:t>You will see the Dashboard</a:t>
            </a:r>
          </a:p>
          <a:p>
            <a:endParaRPr lang="en-US" dirty="0"/>
          </a:p>
        </p:txBody>
      </p:sp>
      <p:pic>
        <p:nvPicPr>
          <p:cNvPr id="4" name="Picture 3">
            <a:extLst>
              <a:ext uri="{FF2B5EF4-FFF2-40B4-BE49-F238E27FC236}">
                <a16:creationId xmlns:a16="http://schemas.microsoft.com/office/drawing/2014/main" id="{6E07BD79-4B09-465E-96DC-632E5E7AD08A}"/>
              </a:ext>
            </a:extLst>
          </p:cNvPr>
          <p:cNvPicPr>
            <a:picLocks noChangeAspect="1"/>
          </p:cNvPicPr>
          <p:nvPr/>
        </p:nvPicPr>
        <p:blipFill>
          <a:blip r:embed="rId2"/>
          <a:stretch>
            <a:fillRect/>
          </a:stretch>
        </p:blipFill>
        <p:spPr>
          <a:xfrm>
            <a:off x="7258993" y="1412558"/>
            <a:ext cx="2286630" cy="695931"/>
          </a:xfrm>
          <a:prstGeom prst="rect">
            <a:avLst/>
          </a:prstGeom>
          <a:ln>
            <a:solidFill>
              <a:schemeClr val="accent1"/>
            </a:solidFill>
          </a:ln>
        </p:spPr>
      </p:pic>
      <p:pic>
        <p:nvPicPr>
          <p:cNvPr id="6" name="Picture 5">
            <a:extLst>
              <a:ext uri="{FF2B5EF4-FFF2-40B4-BE49-F238E27FC236}">
                <a16:creationId xmlns:a16="http://schemas.microsoft.com/office/drawing/2014/main" id="{36C8E74F-49AA-408C-8E2F-268DA1F931DF}"/>
              </a:ext>
            </a:extLst>
          </p:cNvPr>
          <p:cNvPicPr>
            <a:picLocks noChangeAspect="1"/>
          </p:cNvPicPr>
          <p:nvPr/>
        </p:nvPicPr>
        <p:blipFill>
          <a:blip r:embed="rId3"/>
          <a:stretch>
            <a:fillRect/>
          </a:stretch>
        </p:blipFill>
        <p:spPr>
          <a:xfrm>
            <a:off x="5381122" y="2186411"/>
            <a:ext cx="4168130" cy="1557787"/>
          </a:xfrm>
          <a:prstGeom prst="rect">
            <a:avLst/>
          </a:prstGeom>
          <a:ln>
            <a:solidFill>
              <a:schemeClr val="accent1"/>
            </a:solidFill>
          </a:ln>
        </p:spPr>
      </p:pic>
      <p:pic>
        <p:nvPicPr>
          <p:cNvPr id="7" name="Picture 6">
            <a:extLst>
              <a:ext uri="{FF2B5EF4-FFF2-40B4-BE49-F238E27FC236}">
                <a16:creationId xmlns:a16="http://schemas.microsoft.com/office/drawing/2014/main" id="{E5FFDD61-B750-4DAB-9277-7EE2203B4FBD}"/>
              </a:ext>
            </a:extLst>
          </p:cNvPr>
          <p:cNvPicPr>
            <a:picLocks noChangeAspect="1"/>
          </p:cNvPicPr>
          <p:nvPr/>
        </p:nvPicPr>
        <p:blipFill>
          <a:blip r:embed="rId4"/>
          <a:stretch>
            <a:fillRect/>
          </a:stretch>
        </p:blipFill>
        <p:spPr>
          <a:xfrm>
            <a:off x="5413779" y="3948713"/>
            <a:ext cx="4168130" cy="2520162"/>
          </a:xfrm>
          <a:prstGeom prst="rect">
            <a:avLst/>
          </a:prstGeom>
          <a:ln>
            <a:solidFill>
              <a:schemeClr val="accent1"/>
            </a:solidFill>
          </a:ln>
        </p:spPr>
      </p:pic>
    </p:spTree>
    <p:extLst>
      <p:ext uri="{BB962C8B-B14F-4D97-AF65-F5344CB8AC3E}">
        <p14:creationId xmlns:p14="http://schemas.microsoft.com/office/powerpoint/2010/main" val="613564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69C0A-2FF2-4D24-B060-D811BD86F249}"/>
              </a:ext>
            </a:extLst>
          </p:cNvPr>
          <p:cNvSpPr>
            <a:spLocks noGrp="1"/>
          </p:cNvSpPr>
          <p:nvPr>
            <p:ph type="ctrTitle"/>
          </p:nvPr>
        </p:nvSpPr>
        <p:spPr/>
        <p:txBody>
          <a:bodyPr/>
          <a:lstStyle/>
          <a:p>
            <a:r>
              <a:rPr lang="en-US" dirty="0"/>
              <a:t>Let us start with dashboard</a:t>
            </a:r>
          </a:p>
        </p:txBody>
      </p:sp>
      <p:sp>
        <p:nvSpPr>
          <p:cNvPr id="3" name="Subtitle 2">
            <a:extLst>
              <a:ext uri="{FF2B5EF4-FFF2-40B4-BE49-F238E27FC236}">
                <a16:creationId xmlns:a16="http://schemas.microsoft.com/office/drawing/2014/main" id="{2383930A-AA29-438C-9959-44B57B2E94B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12575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B8CD1-1ACA-4C5C-BC29-8FA7B3856A15}"/>
              </a:ext>
            </a:extLst>
          </p:cNvPr>
          <p:cNvSpPr>
            <a:spLocks noGrp="1"/>
          </p:cNvSpPr>
          <p:nvPr>
            <p:ph type="title"/>
          </p:nvPr>
        </p:nvSpPr>
        <p:spPr/>
        <p:txBody>
          <a:bodyPr/>
          <a:lstStyle/>
          <a:p>
            <a:r>
              <a:rPr lang="en-US" dirty="0"/>
              <a:t>Demo</a:t>
            </a:r>
          </a:p>
        </p:txBody>
      </p:sp>
      <p:sp>
        <p:nvSpPr>
          <p:cNvPr id="3" name="Content Placeholder 2">
            <a:extLst>
              <a:ext uri="{FF2B5EF4-FFF2-40B4-BE49-F238E27FC236}">
                <a16:creationId xmlns:a16="http://schemas.microsoft.com/office/drawing/2014/main" id="{71094B12-E73C-4AD0-B791-2B8BE900CE6A}"/>
              </a:ext>
            </a:extLst>
          </p:cNvPr>
          <p:cNvSpPr>
            <a:spLocks noGrp="1"/>
          </p:cNvSpPr>
          <p:nvPr>
            <p:ph idx="1"/>
          </p:nvPr>
        </p:nvSpPr>
        <p:spPr/>
        <p:txBody>
          <a:bodyPr/>
          <a:lstStyle/>
          <a:p>
            <a:r>
              <a:rPr lang="en-US" dirty="0"/>
              <a:t>Create Database</a:t>
            </a:r>
          </a:p>
          <a:p>
            <a:r>
              <a:rPr lang="en-US" dirty="0"/>
              <a:t>Create Schema</a:t>
            </a:r>
          </a:p>
          <a:p>
            <a:r>
              <a:rPr lang="en-US" dirty="0"/>
              <a:t>Create Table</a:t>
            </a:r>
          </a:p>
          <a:p>
            <a:r>
              <a:rPr lang="en-US" dirty="0"/>
              <a:t>Perform CRUD operations ( Insert rows, Remove rows, Update rows and Display Rows)</a:t>
            </a:r>
          </a:p>
        </p:txBody>
      </p:sp>
    </p:spTree>
    <p:extLst>
      <p:ext uri="{BB962C8B-B14F-4D97-AF65-F5344CB8AC3E}">
        <p14:creationId xmlns:p14="http://schemas.microsoft.com/office/powerpoint/2010/main" val="1243112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BF57-E0D1-4CAD-919D-A0A5C0FCD358}"/>
              </a:ext>
            </a:extLst>
          </p:cNvPr>
          <p:cNvSpPr>
            <a:spLocks noGrp="1"/>
          </p:cNvSpPr>
          <p:nvPr>
            <p:ph type="title"/>
          </p:nvPr>
        </p:nvSpPr>
        <p:spPr/>
        <p:txBody>
          <a:bodyPr/>
          <a:lstStyle/>
          <a:p>
            <a:r>
              <a:rPr lang="en-US" dirty="0"/>
              <a:t>Cheat Sheet references</a:t>
            </a:r>
          </a:p>
        </p:txBody>
      </p:sp>
      <p:sp>
        <p:nvSpPr>
          <p:cNvPr id="3" name="Content Placeholder 2">
            <a:extLst>
              <a:ext uri="{FF2B5EF4-FFF2-40B4-BE49-F238E27FC236}">
                <a16:creationId xmlns:a16="http://schemas.microsoft.com/office/drawing/2014/main" id="{9A5980D6-1B1C-4DEB-80E9-629D5947B514}"/>
              </a:ext>
            </a:extLst>
          </p:cNvPr>
          <p:cNvSpPr>
            <a:spLocks noGrp="1"/>
          </p:cNvSpPr>
          <p:nvPr>
            <p:ph idx="1"/>
          </p:nvPr>
        </p:nvSpPr>
        <p:spPr>
          <a:xfrm>
            <a:off x="265725" y="1430771"/>
            <a:ext cx="9259747" cy="1998229"/>
          </a:xfrm>
        </p:spPr>
        <p:txBody>
          <a:bodyPr>
            <a:normAutofit/>
          </a:bodyPr>
          <a:lstStyle/>
          <a:p>
            <a:pPr marL="0" indent="0">
              <a:buNone/>
            </a:pPr>
            <a:r>
              <a:rPr lang="en-US" sz="2000" dirty="0"/>
              <a:t>Cheat Sheet for PostgreSQL : PostgreSQL Cheat Sheet</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3194204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CBCD-801A-49BC-A91C-B8BC9C087C5E}"/>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0E9FF59E-1E51-4BB7-BD98-F4CD1B0F6BF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78316253"/>
      </p:ext>
    </p:extLst>
  </p:cSld>
  <p:clrMapOvr>
    <a:masterClrMapping/>
  </p:clrMapOvr>
</p:sld>
</file>

<file path=ppt/theme/theme1.xml><?xml version="1.0" encoding="utf-8"?>
<a:theme xmlns:a="http://schemas.openxmlformats.org/drawingml/2006/main" name="Blank">
  <a:themeElements>
    <a:clrScheme name="Standard Chartered Template">
      <a:dk1>
        <a:srgbClr val="005C84"/>
      </a:dk1>
      <a:lt1>
        <a:sysClr val="window" lastClr="FFFFFF"/>
      </a:lt1>
      <a:dk2>
        <a:srgbClr val="000F46"/>
      </a:dk2>
      <a:lt2>
        <a:srgbClr val="E6E7E8"/>
      </a:lt2>
      <a:accent1>
        <a:srgbClr val="0075B0"/>
      </a:accent1>
      <a:accent2>
        <a:srgbClr val="009FDA"/>
      </a:accent2>
      <a:accent3>
        <a:srgbClr val="3F9C35"/>
      </a:accent3>
      <a:accent4>
        <a:srgbClr val="69BE28"/>
      </a:accent4>
      <a:accent5>
        <a:srgbClr val="6D6E71"/>
      </a:accent5>
      <a:accent6>
        <a:srgbClr val="939598"/>
      </a:accent6>
      <a:hlink>
        <a:srgbClr val="6D6E71"/>
      </a:hlink>
      <a:folHlink>
        <a:srgbClr val="2890C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ndardChartered_GlobalTemplate_Edit" id="{F6B87342-6B81-4D6D-A50D-E2D2D73676CB}" vid="{2987BD1D-0BCF-44F0-BC5D-89E75A8139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397</Words>
  <Application>Microsoft Office PowerPoint</Application>
  <PresentationFormat>A4 Paper (210x297 mm)</PresentationFormat>
  <Paragraphs>77</Paragraphs>
  <Slides>11</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11</vt:i4>
      </vt:variant>
    </vt:vector>
  </HeadingPairs>
  <TitlesOfParts>
    <vt:vector size="24" baseType="lpstr">
      <vt:lpstr>Arial</vt:lpstr>
      <vt:lpstr>Body Level 1</vt:lpstr>
      <vt:lpstr>Body Level 2</vt:lpstr>
      <vt:lpstr>Body Level 3</vt:lpstr>
      <vt:lpstr>Body Level 4</vt:lpstr>
      <vt:lpstr>Body Level 5</vt:lpstr>
      <vt:lpstr>Calibri</vt:lpstr>
      <vt:lpstr>Courier New</vt:lpstr>
      <vt:lpstr>Cover Description</vt:lpstr>
      <vt:lpstr>Cover Title</vt:lpstr>
      <vt:lpstr>Slide Heading</vt:lpstr>
      <vt:lpstr>Wingdings</vt:lpstr>
      <vt:lpstr>Blank</vt:lpstr>
      <vt:lpstr>PostgreSQL</vt:lpstr>
      <vt:lpstr>PostgreSQL module design</vt:lpstr>
      <vt:lpstr>Overview of PostgreSQL</vt:lpstr>
      <vt:lpstr>PostgreSQL Usage</vt:lpstr>
      <vt:lpstr>Supported Data Types</vt:lpstr>
      <vt:lpstr>Steps to database server connection </vt:lpstr>
      <vt:lpstr>Steps to database server connection cont…</vt:lpstr>
      <vt:lpstr>Let us start with dashboard</vt:lpstr>
      <vt:lpstr>Demo</vt:lpstr>
      <vt:lpstr>Cheat Sheet references</vt:lpstr>
      <vt:lpstr>Thank You</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2019-02-13T05:36:40Z</dcterms:created>
  <dcterms:modified xsi:type="dcterms:W3CDTF">2019-06-13T11:44:43Z</dcterms:modified>
</cp:coreProperties>
</file>