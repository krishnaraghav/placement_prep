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60" r:id="rId1"/>
  </p:sldMasterIdLst>
  <p:notesMasterIdLst>
    <p:notesMasterId r:id="rId14"/>
  </p:notesMasterIdLst>
  <p:sldIdLst>
    <p:sldId id="670" r:id="rId2"/>
    <p:sldId id="694" r:id="rId3"/>
    <p:sldId id="680" r:id="rId4"/>
    <p:sldId id="688" r:id="rId5"/>
    <p:sldId id="682" r:id="rId6"/>
    <p:sldId id="658" r:id="rId7"/>
    <p:sldId id="657" r:id="rId8"/>
    <p:sldId id="659" r:id="rId9"/>
    <p:sldId id="683" r:id="rId10"/>
    <p:sldId id="687" r:id="rId11"/>
    <p:sldId id="605" r:id="rId12"/>
    <p:sldId id="649" r:id="rId13"/>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DC52"/>
    <a:srgbClr val="F9FC8E"/>
    <a:srgbClr val="99FFCC"/>
    <a:srgbClr val="A1C5E0"/>
    <a:srgbClr val="C3E2C1"/>
    <a:srgbClr val="FF9900"/>
    <a:srgbClr val="6BA8D0"/>
    <a:srgbClr val="09ADFF"/>
    <a:srgbClr val="BCBEC0"/>
    <a:srgbClr val="9FD1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6" autoAdjust="0"/>
    <p:restoredTop sz="80295" autoAdjust="0"/>
  </p:normalViewPr>
  <p:slideViewPr>
    <p:cSldViewPr showGuides="1">
      <p:cViewPr varScale="1">
        <p:scale>
          <a:sx n="58" d="100"/>
          <a:sy n="58" d="100"/>
        </p:scale>
        <p:origin x="1632" y="72"/>
      </p:cViewPr>
      <p:guideLst>
        <p:guide orient="horz" pos="2160"/>
        <p:guide pos="3120"/>
      </p:guideLst>
    </p:cSldViewPr>
  </p:slideViewPr>
  <p:notesTextViewPr>
    <p:cViewPr>
      <p:scale>
        <a:sx n="1" d="1"/>
        <a:sy n="1" d="1"/>
      </p:scale>
      <p:origin x="0" y="0"/>
    </p:cViewPr>
  </p:notesTextViewPr>
  <p:sorterViewPr>
    <p:cViewPr varScale="1">
      <p:scale>
        <a:sx n="100" d="100"/>
        <a:sy n="100" d="100"/>
      </p:scale>
      <p:origin x="0" y="-538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4F01A-3E91-4831-92AD-6D4AF38A1953}" type="datetimeFigureOut">
              <a:rPr lang="en-GB" smtClean="0"/>
              <a:t>19/06/2019</a:t>
            </a:fld>
            <a:endParaRPr lang="en-GB"/>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3102E-6C56-4F81-B30B-581BE2EC6691}" type="slidenum">
              <a:rPr lang="en-GB" smtClean="0"/>
              <a:t>‹#›</a:t>
            </a:fld>
            <a:endParaRPr lang="en-GB"/>
          </a:p>
        </p:txBody>
      </p:sp>
    </p:spTree>
    <p:extLst>
      <p:ext uri="{BB962C8B-B14F-4D97-AF65-F5344CB8AC3E}">
        <p14:creationId xmlns:p14="http://schemas.microsoft.com/office/powerpoint/2010/main" val="10279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F3102E-6C56-4F81-B30B-581BE2EC6691}" type="slidenum">
              <a:rPr lang="en-GB" smtClean="0"/>
              <a:t>10</a:t>
            </a:fld>
            <a:endParaRPr lang="en-GB"/>
          </a:p>
        </p:txBody>
      </p:sp>
    </p:spTree>
    <p:extLst>
      <p:ext uri="{BB962C8B-B14F-4D97-AF65-F5344CB8AC3E}">
        <p14:creationId xmlns:p14="http://schemas.microsoft.com/office/powerpoint/2010/main" val="3672385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Blue">
    <p:spTree>
      <p:nvGrpSpPr>
        <p:cNvPr id="1" name=""/>
        <p:cNvGrpSpPr/>
        <p:nvPr/>
      </p:nvGrpSpPr>
      <p:grpSpPr>
        <a:xfrm>
          <a:off x="0" y="0"/>
          <a:ext cx="0" cy="0"/>
          <a:chOff x="0" y="0"/>
          <a:chExt cx="0" cy="0"/>
        </a:xfrm>
      </p:grpSpPr>
      <p:pic>
        <p:nvPicPr>
          <p:cNvPr id="7" name="Picture 6" descr="SCWB_PPTcover-BLUE.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25"/>
          <a:stretch/>
        </p:blipFill>
        <p:spPr>
          <a:xfrm>
            <a:off x="2" y="12599"/>
            <a:ext cx="9905998" cy="6832801"/>
          </a:xfrm>
          <a:prstGeom prst="rect">
            <a:avLst/>
          </a:prstGeom>
        </p:spPr>
      </p:pic>
      <p:pic>
        <p:nvPicPr>
          <p:cNvPr id="9" name="Picture 8"/>
          <p:cNvPicPr>
            <a:picLocks noChangeAspect="1"/>
          </p:cNvPicPr>
          <p:nvPr userDrawn="1"/>
        </p:nvPicPr>
        <p:blipFill>
          <a:blip r:embed="rId3" cstate="print"/>
          <a:stretch>
            <a:fillRect/>
          </a:stretch>
        </p:blipFill>
        <p:spPr>
          <a:xfrm>
            <a:off x="8134132" y="6283800"/>
            <a:ext cx="1449706" cy="226951"/>
          </a:xfrm>
          <a:prstGeom prst="rect">
            <a:avLst/>
          </a:prstGeom>
        </p:spPr>
      </p:pic>
      <p:sp>
        <p:nvSpPr>
          <p:cNvPr id="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26" descr="Visual Identitiy Band"/>
          <p:cNvPicPr preferRelativeResize="0">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F29D4B84-79FB-4BAB-BA3E-79EA71FBEF28}"/>
              </a:ext>
            </a:extLst>
          </p:cNvPr>
          <p:cNvPicPr>
            <a:picLocks noChangeAspect="1"/>
          </p:cNvPicPr>
          <p:nvPr userDrawn="1"/>
        </p:nvPicPr>
        <p:blipFill>
          <a:blip r:embed="rId5"/>
          <a:stretch>
            <a:fillRect/>
          </a:stretch>
        </p:blipFill>
        <p:spPr>
          <a:xfrm>
            <a:off x="8060700" y="115759"/>
            <a:ext cx="1828800" cy="748531"/>
          </a:xfrm>
          <a:prstGeom prst="rect">
            <a:avLst/>
          </a:prstGeom>
        </p:spPr>
      </p:pic>
    </p:spTree>
    <p:extLst>
      <p:ext uri="{BB962C8B-B14F-4D97-AF65-F5344CB8AC3E}">
        <p14:creationId xmlns:p14="http://schemas.microsoft.com/office/powerpoint/2010/main" val="4066818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Green">
    <p:spTree>
      <p:nvGrpSpPr>
        <p:cNvPr id="1" name=""/>
        <p:cNvGrpSpPr/>
        <p:nvPr/>
      </p:nvGrpSpPr>
      <p:grpSpPr>
        <a:xfrm>
          <a:off x="0" y="0"/>
          <a:ext cx="0" cy="0"/>
          <a:chOff x="0" y="0"/>
          <a:chExt cx="0" cy="0"/>
        </a:xfrm>
      </p:grpSpPr>
      <p:pic>
        <p:nvPicPr>
          <p:cNvPr id="11" name="Picture 10" descr="SCWB_PPTcover-Grn.jpg"/>
          <p:cNvPicPr>
            <a:picLocks noChangeAspect="1"/>
          </p:cNvPicPr>
          <p:nvPr userDrawn="1"/>
        </p:nvPicPr>
        <p:blipFill rotWithShape="1">
          <a:blip r:embed="rId2" cstate="print">
            <a:extLst>
              <a:ext uri="{28A0092B-C50C-407E-A947-70E740481C1C}">
                <a14:useLocalDpi xmlns:a14="http://schemas.microsoft.com/office/drawing/2010/main" val="0"/>
              </a:ext>
            </a:extLst>
          </a:blip>
          <a:srcRect b="2252"/>
          <a:stretch/>
        </p:blipFill>
        <p:spPr>
          <a:xfrm>
            <a:off x="3" y="12600"/>
            <a:ext cx="9908664" cy="6832800"/>
          </a:xfrm>
          <a:prstGeom prst="rect">
            <a:avLst/>
          </a:prstGeom>
        </p:spPr>
      </p:pic>
      <p:pic>
        <p:nvPicPr>
          <p:cNvPr id="8" name="Picture 7"/>
          <p:cNvPicPr>
            <a:picLocks noChangeAspect="1"/>
          </p:cNvPicPr>
          <p:nvPr userDrawn="1"/>
        </p:nvPicPr>
        <p:blipFill>
          <a:blip r:embed="rId3" cstate="print"/>
          <a:stretch>
            <a:fillRect/>
          </a:stretch>
        </p:blipFill>
        <p:spPr>
          <a:xfrm>
            <a:off x="8134137" y="245287"/>
            <a:ext cx="1449701" cy="554026"/>
          </a:xfrm>
          <a:prstGeom prst="rect">
            <a:avLst/>
          </a:prstGeom>
        </p:spPr>
      </p:pic>
      <p:pic>
        <p:nvPicPr>
          <p:cNvPr id="9" name="Picture 8"/>
          <p:cNvPicPr>
            <a:picLocks noChangeAspect="1"/>
          </p:cNvPicPr>
          <p:nvPr userDrawn="1"/>
        </p:nvPicPr>
        <p:blipFill>
          <a:blip r:embed="rId4" cstate="print"/>
          <a:stretch>
            <a:fillRect/>
          </a:stretch>
        </p:blipFill>
        <p:spPr>
          <a:xfrm>
            <a:off x="8134132" y="6283800"/>
            <a:ext cx="1449706" cy="226951"/>
          </a:xfrm>
          <a:prstGeom prst="rect">
            <a:avLst/>
          </a:prstGeom>
        </p:spPr>
      </p:pic>
      <p:pic>
        <p:nvPicPr>
          <p:cNvPr id="10" name="Picture 26" descr="Visual Identitiy Band"/>
          <p:cNvPicPr preferRelativeResize="0">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p:cNvSpPr>
            <a:spLocks noGrp="1"/>
          </p:cNvSpPr>
          <p:nvPr>
            <p:ph type="ctrTitle"/>
          </p:nvPr>
        </p:nvSpPr>
        <p:spPr>
          <a:xfrm>
            <a:off x="4251000" y="2008097"/>
            <a:ext cx="5316116" cy="1495525"/>
          </a:xfrm>
        </p:spPr>
        <p:txBody>
          <a:bodyPr anchor="b">
            <a:normAutofit/>
          </a:bodyPr>
          <a:lstStyle>
            <a:lvl1pPr algn="r">
              <a:defRPr sz="3500" baseline="0">
                <a:solidFill>
                  <a:schemeClr val="bg1"/>
                </a:solidFill>
                <a:latin typeface="Cover Title"/>
              </a:defRPr>
            </a:lvl1pPr>
          </a:lstStyle>
          <a:p>
            <a:r>
              <a:rPr lang="en-US"/>
              <a:t>Click to edit Master title style</a:t>
            </a:r>
            <a:endParaRPr lang="en-US" dirty="0"/>
          </a:p>
        </p:txBody>
      </p:sp>
      <p:sp>
        <p:nvSpPr>
          <p:cNvPr id="13" name="Subtitle 2"/>
          <p:cNvSpPr>
            <a:spLocks noGrp="1"/>
          </p:cNvSpPr>
          <p:nvPr>
            <p:ph type="subTitle" idx="1"/>
          </p:nvPr>
        </p:nvSpPr>
        <p:spPr>
          <a:xfrm>
            <a:off x="4531893" y="3703460"/>
            <a:ext cx="5035223" cy="726458"/>
          </a:xfrm>
        </p:spPr>
        <p:txBody>
          <a:bodyPr>
            <a:normAutofit/>
          </a:bodyPr>
          <a:lstStyle>
            <a:lvl1pPr marL="0" indent="0" algn="r">
              <a:buNone/>
              <a:defRPr sz="2000" baseline="0">
                <a:solidFill>
                  <a:schemeClr val="bg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068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atermark">
    <p:spTree>
      <p:nvGrpSpPr>
        <p:cNvPr id="1" name=""/>
        <p:cNvGrpSpPr/>
        <p:nvPr/>
      </p:nvGrpSpPr>
      <p:grpSpPr>
        <a:xfrm>
          <a:off x="0" y="0"/>
          <a:ext cx="0" cy="0"/>
          <a:chOff x="0" y="0"/>
          <a:chExt cx="0" cy="0"/>
        </a:xfrm>
      </p:grpSpPr>
      <p:pic>
        <p:nvPicPr>
          <p:cNvPr id="3" name="Picture 2" descr="SCWB_PPT_Divider.jpg"/>
          <p:cNvPicPr>
            <a:picLocks noChangeAspect="1"/>
          </p:cNvPicPr>
          <p:nvPr userDrawn="1"/>
        </p:nvPicPr>
        <p:blipFill rotWithShape="1">
          <a:blip r:embed="rId2" cstate="print">
            <a:extLst>
              <a:ext uri="{28A0092B-C50C-407E-A947-70E740481C1C}">
                <a14:useLocalDpi xmlns:a14="http://schemas.microsoft.com/office/drawing/2010/main" val="0"/>
              </a:ext>
            </a:extLst>
          </a:blip>
          <a:srcRect t="15121" b="2696"/>
          <a:stretch/>
        </p:blipFill>
        <p:spPr>
          <a:xfrm>
            <a:off x="2350" y="1088141"/>
            <a:ext cx="9903650" cy="5757259"/>
          </a:xfrm>
          <a:prstGeom prst="rect">
            <a:avLst/>
          </a:prstGeom>
        </p:spPr>
      </p:pic>
      <p:sp>
        <p:nvSpPr>
          <p:cNvPr id="4" name="Title 1"/>
          <p:cNvSpPr>
            <a:spLocks noGrp="1"/>
          </p:cNvSpPr>
          <p:nvPr>
            <p:ph type="ctrTitle"/>
          </p:nvPr>
        </p:nvSpPr>
        <p:spPr>
          <a:xfrm>
            <a:off x="340234" y="4833001"/>
            <a:ext cx="9259747" cy="1029600"/>
          </a:xfrm>
        </p:spPr>
        <p:txBody>
          <a:bodyPr anchor="t">
            <a:normAutofit/>
          </a:bodyPr>
          <a:lstStyle>
            <a:lvl1pPr algn="l">
              <a:defRPr sz="3500" baseline="0">
                <a:solidFill>
                  <a:schemeClr val="accent5"/>
                </a:solidFill>
                <a:latin typeface="Cover Title"/>
              </a:defRPr>
            </a:lvl1pPr>
          </a:lstStyle>
          <a:p>
            <a:r>
              <a:rPr lang="en-US"/>
              <a:t>Click to edit Master title style</a:t>
            </a:r>
            <a:endParaRPr lang="en-US" dirty="0"/>
          </a:p>
        </p:txBody>
      </p:sp>
      <p:sp>
        <p:nvSpPr>
          <p:cNvPr id="5" name="Subtitle 2"/>
          <p:cNvSpPr>
            <a:spLocks noGrp="1"/>
          </p:cNvSpPr>
          <p:nvPr>
            <p:ph type="subTitle" idx="1"/>
          </p:nvPr>
        </p:nvSpPr>
        <p:spPr>
          <a:xfrm>
            <a:off x="340234" y="3709800"/>
            <a:ext cx="9243814" cy="966040"/>
          </a:xfrm>
        </p:spPr>
        <p:txBody>
          <a:bodyPr anchor="b">
            <a:normAutofit/>
          </a:bodyPr>
          <a:lstStyle>
            <a:lvl1pPr marL="0" indent="0" algn="l">
              <a:buNone/>
              <a:defRPr sz="2000" baseline="0">
                <a:solidFill>
                  <a:schemeClr val="tx1"/>
                </a:solidFill>
                <a:latin typeface="Cover Descriptio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079082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24091" y="132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3316229516"/>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876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324091" y="1323001"/>
            <a:ext cx="4488509"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idx="12"/>
          </p:nvPr>
        </p:nvSpPr>
        <p:spPr>
          <a:xfrm>
            <a:off x="5093400" y="1323001"/>
            <a:ext cx="4490438"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380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AABF3E-EF9B-47F8-BC27-8C04233D4794}" type="datetimeFigureOut">
              <a:rPr lang="en-US" smtClean="0"/>
              <a:pPr/>
              <a:t>6/19/2019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496F9C-7FEE-48F2-A86C-DCFACBAB2156}" type="slidenum">
              <a:rPr lang="en-US" smtClean="0"/>
              <a:pPr/>
              <a:t>‹#›</a:t>
            </a:fld>
            <a:endParaRPr lang="en-US"/>
          </a:p>
        </p:txBody>
      </p:sp>
    </p:spTree>
    <p:extLst>
      <p:ext uri="{BB962C8B-B14F-4D97-AF65-F5344CB8AC3E}">
        <p14:creationId xmlns:p14="http://schemas.microsoft.com/office/powerpoint/2010/main" val="341622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91" y="199800"/>
            <a:ext cx="9259747" cy="70200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p:cNvSpPr>
            <a:spLocks noGrp="1" noChangeAspect="1"/>
          </p:cNvSpPr>
          <p:nvPr>
            <p:ph type="body" idx="1"/>
          </p:nvPr>
        </p:nvSpPr>
        <p:spPr>
          <a:xfrm>
            <a:off x="324091" y="1323001"/>
            <a:ext cx="9259747" cy="484701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26" descr="Visual Identitiy Band"/>
          <p:cNvPicPr preferRelativeResize="0">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0" y="1039623"/>
            <a:ext cx="9905997" cy="48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 name="Text Box 6"/>
          <p:cNvSpPr txBox="1">
            <a:spLocks noChangeArrowheads="1"/>
          </p:cNvSpPr>
          <p:nvPr/>
        </p:nvSpPr>
        <p:spPr bwMode="auto">
          <a:xfrm>
            <a:off x="9223410" y="6447452"/>
            <a:ext cx="357028" cy="298513"/>
          </a:xfrm>
          <a:prstGeom prst="rect">
            <a:avLst/>
          </a:prstGeom>
          <a:noFill/>
          <a:ln w="9525">
            <a:noFill/>
            <a:miter lim="800000"/>
            <a:headEnd/>
            <a:tailEnd/>
          </a:ln>
        </p:spPr>
        <p:txBody>
          <a:bodyPr lIns="0" tIns="0" rIns="0" bIns="0" anchor="ctr"/>
          <a:lstStyle>
            <a:lvl1pPr defTabSz="1042988" eaLnBrk="0" hangingPunct="0">
              <a:defRPr sz="900" baseline="-25000">
                <a:solidFill>
                  <a:srgbClr val="006699"/>
                </a:solidFill>
                <a:latin typeface="Arial" charset="0"/>
                <a:ea typeface="ＭＳ Ｐゴシック" charset="0"/>
                <a:cs typeface="Arial" charset="0"/>
              </a:defRPr>
            </a:lvl1pPr>
            <a:lvl2pPr marL="742950" indent="-285750" defTabSz="1042988" eaLnBrk="0" hangingPunct="0">
              <a:defRPr sz="900" baseline="-25000">
                <a:solidFill>
                  <a:srgbClr val="006699"/>
                </a:solidFill>
                <a:latin typeface="Arial" charset="0"/>
                <a:ea typeface="Arial" charset="0"/>
                <a:cs typeface="Arial" charset="0"/>
              </a:defRPr>
            </a:lvl2pPr>
            <a:lvl3pPr marL="1143000" indent="-228600" defTabSz="1042988" eaLnBrk="0" hangingPunct="0">
              <a:defRPr sz="900" baseline="-25000">
                <a:solidFill>
                  <a:srgbClr val="006699"/>
                </a:solidFill>
                <a:latin typeface="Arial" charset="0"/>
                <a:ea typeface="Arial" charset="0"/>
                <a:cs typeface="Arial" charset="0"/>
              </a:defRPr>
            </a:lvl3pPr>
            <a:lvl4pPr marL="1600200" indent="-228600" defTabSz="1042988" eaLnBrk="0" hangingPunct="0">
              <a:defRPr sz="900" baseline="-25000">
                <a:solidFill>
                  <a:srgbClr val="006699"/>
                </a:solidFill>
                <a:latin typeface="Arial" charset="0"/>
                <a:ea typeface="Arial" charset="0"/>
                <a:cs typeface="Arial" charset="0"/>
              </a:defRPr>
            </a:lvl4pPr>
            <a:lvl5pPr marL="2057400" indent="-228600" defTabSz="1042988" eaLnBrk="0" hangingPunct="0">
              <a:defRPr sz="900" baseline="-25000">
                <a:solidFill>
                  <a:srgbClr val="006699"/>
                </a:solidFill>
                <a:latin typeface="Arial" charset="0"/>
                <a:ea typeface="Arial" charset="0"/>
                <a:cs typeface="Arial" charset="0"/>
              </a:defRPr>
            </a:lvl5pPr>
            <a:lvl6pPr marL="25146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6pPr>
            <a:lvl7pPr marL="29718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7pPr>
            <a:lvl8pPr marL="34290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8pPr>
            <a:lvl9pPr marL="3886200" indent="-228600" defTabSz="1042988" eaLnBrk="0" fontAlgn="base" hangingPunct="0">
              <a:spcBef>
                <a:spcPct val="0"/>
              </a:spcBef>
              <a:spcAft>
                <a:spcPct val="0"/>
              </a:spcAft>
              <a:defRPr sz="900" baseline="-25000">
                <a:solidFill>
                  <a:srgbClr val="006699"/>
                </a:solidFill>
                <a:latin typeface="Arial" charset="0"/>
                <a:ea typeface="Arial" charset="0"/>
                <a:cs typeface="Arial" charset="0"/>
              </a:defRPr>
            </a:lvl9pPr>
          </a:lstStyle>
          <a:p>
            <a:pPr algn="r" eaLnBrk="1" hangingPunct="1"/>
            <a:fld id="{6E0DC809-1827-F44D-A8AA-8C566384234E}" type="slidenum">
              <a:rPr lang="en-US" sz="900" baseline="0">
                <a:solidFill>
                  <a:srgbClr val="6D6E71"/>
                </a:solidFill>
                <a:latin typeface="+mn-lt"/>
              </a:rPr>
              <a:pPr algn="r" eaLnBrk="1" hangingPunct="1"/>
              <a:t>‹#›</a:t>
            </a:fld>
            <a:endParaRPr lang="en-US" sz="900" baseline="0">
              <a:solidFill>
                <a:srgbClr val="6D6E71"/>
              </a:solidFill>
              <a:latin typeface="+mn-lt"/>
            </a:endParaRPr>
          </a:p>
        </p:txBody>
      </p:sp>
      <p:sp>
        <p:nvSpPr>
          <p:cNvPr id="15" name="Text Box 25"/>
          <p:cNvSpPr txBox="1">
            <a:spLocks noChangeArrowheads="1"/>
          </p:cNvSpPr>
          <p:nvPr/>
        </p:nvSpPr>
        <p:spPr bwMode="auto">
          <a:xfrm>
            <a:off x="5661057" y="6471270"/>
            <a:ext cx="3473490" cy="252466"/>
          </a:xfrm>
          <a:prstGeom prst="rect">
            <a:avLst/>
          </a:prstGeom>
          <a:noFill/>
          <a:ln w="9525">
            <a:noFill/>
            <a:miter lim="800000"/>
            <a:headEnd/>
            <a:tailEnd/>
          </a:ln>
          <a:effectLst/>
        </p:spPr>
        <p:txBody>
          <a:bodyPr lIns="0" tIns="0" rIns="132630" bIns="0" anchor="ctr"/>
          <a:lstStyle/>
          <a:p>
            <a:pPr marL="562284" indent="-562284" algn="r" defTabSz="1122860">
              <a:spcBef>
                <a:spcPct val="40000"/>
              </a:spcBef>
              <a:spcAft>
                <a:spcPct val="40000"/>
              </a:spcAft>
              <a:defRPr/>
            </a:pPr>
            <a:r>
              <a:rPr lang="en-GB" sz="900" baseline="0" dirty="0">
                <a:solidFill>
                  <a:srgbClr val="6D6E71"/>
                </a:solidFill>
                <a:latin typeface="+mn-lt"/>
                <a:ea typeface="+mn-ea"/>
              </a:rPr>
              <a:t>Document Title</a:t>
            </a:r>
          </a:p>
        </p:txBody>
      </p:sp>
      <p:pic>
        <p:nvPicPr>
          <p:cNvPr id="9" name="Picture 8">
            <a:extLst>
              <a:ext uri="{FF2B5EF4-FFF2-40B4-BE49-F238E27FC236}">
                <a16:creationId xmlns:a16="http://schemas.microsoft.com/office/drawing/2014/main" id="{48FC6E1C-F72F-45A3-B159-0C9D9DB4CA03}"/>
              </a:ext>
            </a:extLst>
          </p:cNvPr>
          <p:cNvPicPr>
            <a:picLocks noChangeAspect="1"/>
          </p:cNvPicPr>
          <p:nvPr userDrawn="1"/>
        </p:nvPicPr>
        <p:blipFill>
          <a:blip r:embed="rId10"/>
          <a:stretch>
            <a:fillRect/>
          </a:stretch>
        </p:blipFill>
        <p:spPr>
          <a:xfrm>
            <a:off x="7853739" y="183759"/>
            <a:ext cx="1736100" cy="710589"/>
          </a:xfrm>
          <a:prstGeom prst="rect">
            <a:avLst/>
          </a:prstGeom>
        </p:spPr>
      </p:pic>
    </p:spTree>
    <p:extLst>
      <p:ext uri="{BB962C8B-B14F-4D97-AF65-F5344CB8AC3E}">
        <p14:creationId xmlns:p14="http://schemas.microsoft.com/office/powerpoint/2010/main" val="103315839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80" r:id="rId3"/>
    <p:sldLayoutId id="2147483701" r:id="rId4"/>
    <p:sldLayoutId id="2147483666" r:id="rId5"/>
    <p:sldLayoutId id="2147483668" r:id="rId6"/>
    <p:sldLayoutId id="2147483702" r:id="rId7"/>
  </p:sldLayoutIdLst>
  <p:txStyles>
    <p:title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JSON</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2993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5231-F8D8-42F1-B417-2028951CEF46}"/>
              </a:ext>
            </a:extLst>
          </p:cNvPr>
          <p:cNvSpPr>
            <a:spLocks noGrp="1"/>
          </p:cNvSpPr>
          <p:nvPr>
            <p:ph type="title"/>
          </p:nvPr>
        </p:nvSpPr>
        <p:spPr/>
        <p:txBody>
          <a:bodyPr/>
          <a:lstStyle/>
          <a:p>
            <a:r>
              <a:rPr lang="en-US" dirty="0"/>
              <a:t>Module design</a:t>
            </a:r>
          </a:p>
        </p:txBody>
      </p:sp>
      <p:sp>
        <p:nvSpPr>
          <p:cNvPr id="4" name="Rectangle: Rounded Corners 3">
            <a:extLst>
              <a:ext uri="{FF2B5EF4-FFF2-40B4-BE49-F238E27FC236}">
                <a16:creationId xmlns:a16="http://schemas.microsoft.com/office/drawing/2014/main" id="{80186F7D-2A5C-4831-8A17-394CDF830DE9}"/>
              </a:ext>
            </a:extLst>
          </p:cNvPr>
          <p:cNvSpPr/>
          <p:nvPr/>
        </p:nvSpPr>
        <p:spPr>
          <a:xfrm>
            <a:off x="2954900" y="2541278"/>
            <a:ext cx="1590532" cy="8382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JSON Overview</a:t>
            </a:r>
          </a:p>
        </p:txBody>
      </p:sp>
      <p:sp>
        <p:nvSpPr>
          <p:cNvPr id="5" name="Rectangle: Rounded Corners 4">
            <a:extLst>
              <a:ext uri="{FF2B5EF4-FFF2-40B4-BE49-F238E27FC236}">
                <a16:creationId xmlns:a16="http://schemas.microsoft.com/office/drawing/2014/main" id="{A9D8ED8E-851B-4ED4-B70F-BF0A86370CBB}"/>
              </a:ext>
            </a:extLst>
          </p:cNvPr>
          <p:cNvSpPr/>
          <p:nvPr/>
        </p:nvSpPr>
        <p:spPr>
          <a:xfrm>
            <a:off x="7919500" y="2558986"/>
            <a:ext cx="1653023" cy="8382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JSON methods</a:t>
            </a:r>
          </a:p>
        </p:txBody>
      </p:sp>
      <p:sp>
        <p:nvSpPr>
          <p:cNvPr id="16" name="Rectangle: Rounded Corners 15">
            <a:extLst>
              <a:ext uri="{FF2B5EF4-FFF2-40B4-BE49-F238E27FC236}">
                <a16:creationId xmlns:a16="http://schemas.microsoft.com/office/drawing/2014/main" id="{932F650E-FDC7-4F04-BDA4-745D0D2D60EF}"/>
              </a:ext>
            </a:extLst>
          </p:cNvPr>
          <p:cNvSpPr/>
          <p:nvPr/>
        </p:nvSpPr>
        <p:spPr>
          <a:xfrm>
            <a:off x="5460151" y="2558986"/>
            <a:ext cx="1653022" cy="8382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JSON value data types</a:t>
            </a:r>
          </a:p>
        </p:txBody>
      </p:sp>
      <p:sp>
        <p:nvSpPr>
          <p:cNvPr id="17" name="Arrow: Right 16">
            <a:extLst>
              <a:ext uri="{FF2B5EF4-FFF2-40B4-BE49-F238E27FC236}">
                <a16:creationId xmlns:a16="http://schemas.microsoft.com/office/drawing/2014/main" id="{A4809A25-3E9B-4129-BCFA-CB2EF1BB22D8}"/>
              </a:ext>
            </a:extLst>
          </p:cNvPr>
          <p:cNvSpPr/>
          <p:nvPr/>
        </p:nvSpPr>
        <p:spPr>
          <a:xfrm>
            <a:off x="4545432" y="2832038"/>
            <a:ext cx="887260" cy="3305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Arrow: Right 18">
            <a:extLst>
              <a:ext uri="{FF2B5EF4-FFF2-40B4-BE49-F238E27FC236}">
                <a16:creationId xmlns:a16="http://schemas.microsoft.com/office/drawing/2014/main" id="{0658473E-939F-4546-9077-4802B09AE0B2}"/>
              </a:ext>
            </a:extLst>
          </p:cNvPr>
          <p:cNvSpPr/>
          <p:nvPr/>
        </p:nvSpPr>
        <p:spPr>
          <a:xfrm>
            <a:off x="7140632" y="2832038"/>
            <a:ext cx="778867" cy="2809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73D8921-ED46-4639-8AD9-35F34ACE5E95}"/>
              </a:ext>
            </a:extLst>
          </p:cNvPr>
          <p:cNvSpPr txBox="1"/>
          <p:nvPr/>
        </p:nvSpPr>
        <p:spPr>
          <a:xfrm>
            <a:off x="155482" y="6052461"/>
            <a:ext cx="2924947" cy="707886"/>
          </a:xfrm>
          <a:prstGeom prst="rect">
            <a:avLst/>
          </a:prstGeom>
          <a:noFill/>
          <a:ln w="3175">
            <a:solidFill>
              <a:schemeClr val="tx1"/>
            </a:solidFill>
          </a:ln>
        </p:spPr>
        <p:txBody>
          <a:bodyPr wrap="square" rtlCol="0">
            <a:spAutoFit/>
          </a:bodyPr>
          <a:lstStyle/>
          <a:p>
            <a:r>
              <a:rPr lang="en-US" sz="2000" dirty="0">
                <a:latin typeface="Calibri" panose="020F0502020204030204" pitchFamily="34" charset="0"/>
                <a:cs typeface="Calibri" panose="020F0502020204030204" pitchFamily="34" charset="0"/>
              </a:rPr>
              <a:t>IDE :Visual Studio Code</a:t>
            </a:r>
          </a:p>
          <a:p>
            <a:r>
              <a:rPr lang="en-US" sz="2000" dirty="0">
                <a:latin typeface="Calibri" panose="020F0502020204030204" pitchFamily="34" charset="0"/>
                <a:cs typeface="Calibri" panose="020F0502020204030204" pitchFamily="34" charset="0"/>
              </a:rPr>
              <a:t>Browser: Chrome</a:t>
            </a:r>
          </a:p>
        </p:txBody>
      </p:sp>
      <p:sp>
        <p:nvSpPr>
          <p:cNvPr id="25" name="Rectangle 24">
            <a:extLst>
              <a:ext uri="{FF2B5EF4-FFF2-40B4-BE49-F238E27FC236}">
                <a16:creationId xmlns:a16="http://schemas.microsoft.com/office/drawing/2014/main" id="{495F91BC-3074-40CF-B89E-11AECF044C6B}"/>
              </a:ext>
            </a:extLst>
          </p:cNvPr>
          <p:cNvSpPr/>
          <p:nvPr/>
        </p:nvSpPr>
        <p:spPr>
          <a:xfrm>
            <a:off x="155482" y="5721880"/>
            <a:ext cx="2924947" cy="33058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S/W Requirements</a:t>
            </a:r>
            <a:endParaRPr lang="en-GB" b="1" dirty="0">
              <a:solidFill>
                <a:schemeClr val="tx2"/>
              </a:solidFill>
              <a:latin typeface="Calibri" panose="020F0502020204030204" pitchFamily="34" charset="0"/>
              <a:cs typeface="Calibri" panose="020F0502020204030204" pitchFamily="34" charset="0"/>
            </a:endParaRPr>
          </a:p>
        </p:txBody>
      </p:sp>
      <p:sp>
        <p:nvSpPr>
          <p:cNvPr id="8" name="Speech Bubble: Oval 7">
            <a:extLst>
              <a:ext uri="{FF2B5EF4-FFF2-40B4-BE49-F238E27FC236}">
                <a16:creationId xmlns:a16="http://schemas.microsoft.com/office/drawing/2014/main" id="{77A786EA-D466-4BEE-81A8-2FD818C7443C}"/>
              </a:ext>
            </a:extLst>
          </p:cNvPr>
          <p:cNvSpPr/>
          <p:nvPr/>
        </p:nvSpPr>
        <p:spPr>
          <a:xfrm>
            <a:off x="4785102" y="1128900"/>
            <a:ext cx="1905000" cy="793852"/>
          </a:xfrm>
          <a:prstGeom prst="wedgeEllipseCallout">
            <a:avLst>
              <a:gd name="adj1" fmla="val -85414"/>
              <a:gd name="adj2" fmla="val 123234"/>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ody Level 1"/>
              </a:rPr>
              <a:t>Provide the cheat sheet</a:t>
            </a:r>
          </a:p>
        </p:txBody>
      </p:sp>
      <p:sp>
        <p:nvSpPr>
          <p:cNvPr id="23" name="Rectangle: Rounded Corners 22">
            <a:extLst>
              <a:ext uri="{FF2B5EF4-FFF2-40B4-BE49-F238E27FC236}">
                <a16:creationId xmlns:a16="http://schemas.microsoft.com/office/drawing/2014/main" id="{F381729A-0F75-4009-821B-D2C99A37253B}"/>
              </a:ext>
            </a:extLst>
          </p:cNvPr>
          <p:cNvSpPr/>
          <p:nvPr/>
        </p:nvSpPr>
        <p:spPr>
          <a:xfrm>
            <a:off x="376588" y="2578228"/>
            <a:ext cx="1524000" cy="838200"/>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Body Level 1"/>
              </a:rPr>
              <a:t>Introduce the use case</a:t>
            </a:r>
          </a:p>
        </p:txBody>
      </p:sp>
      <p:sp>
        <p:nvSpPr>
          <p:cNvPr id="24" name="Arrow: Right 23">
            <a:extLst>
              <a:ext uri="{FF2B5EF4-FFF2-40B4-BE49-F238E27FC236}">
                <a16:creationId xmlns:a16="http://schemas.microsoft.com/office/drawing/2014/main" id="{F5D55FAA-872A-46DE-B66C-5CB6CD12FBF4}"/>
              </a:ext>
            </a:extLst>
          </p:cNvPr>
          <p:cNvSpPr/>
          <p:nvPr/>
        </p:nvSpPr>
        <p:spPr>
          <a:xfrm>
            <a:off x="1994581" y="2832039"/>
            <a:ext cx="932860" cy="2425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Oval 2">
            <a:extLst>
              <a:ext uri="{FF2B5EF4-FFF2-40B4-BE49-F238E27FC236}">
                <a16:creationId xmlns:a16="http://schemas.microsoft.com/office/drawing/2014/main" id="{D32D6FB2-EB4E-43FC-9200-3429FD816EF9}"/>
              </a:ext>
            </a:extLst>
          </p:cNvPr>
          <p:cNvSpPr/>
          <p:nvPr/>
        </p:nvSpPr>
        <p:spPr>
          <a:xfrm>
            <a:off x="1085820" y="4629869"/>
            <a:ext cx="1375191" cy="838201"/>
          </a:xfrm>
          <a:prstGeom prst="wedgeEllipseCallout">
            <a:avLst>
              <a:gd name="adj1" fmla="val -60643"/>
              <a:gd name="adj2" fmla="val -183450"/>
            </a:avLst>
          </a:prstGeom>
          <a:solidFill>
            <a:srgbClr val="F9FC8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latin typeface="Body Level 1"/>
              </a:rPr>
              <a:t>Display use case</a:t>
            </a:r>
          </a:p>
        </p:txBody>
      </p:sp>
    </p:spTree>
    <p:extLst>
      <p:ext uri="{BB962C8B-B14F-4D97-AF65-F5344CB8AC3E}">
        <p14:creationId xmlns:p14="http://schemas.microsoft.com/office/powerpoint/2010/main" val="4252844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Introduce the Use Case on JSON</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37355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2D52-F9E3-4F62-B0D2-C45B2F912AA5}"/>
              </a:ext>
            </a:extLst>
          </p:cNvPr>
          <p:cNvSpPr>
            <a:spLocks noGrp="1"/>
          </p:cNvSpPr>
          <p:nvPr>
            <p:ph type="title"/>
          </p:nvPr>
        </p:nvSpPr>
        <p:spPr/>
        <p:txBody>
          <a:bodyPr/>
          <a:lstStyle/>
          <a:p>
            <a:r>
              <a:rPr lang="en-US" dirty="0"/>
              <a:t>Presenting the Use case on JSON</a:t>
            </a:r>
          </a:p>
        </p:txBody>
      </p:sp>
      <p:pic>
        <p:nvPicPr>
          <p:cNvPr id="4" name="Content Placeholder 3">
            <a:extLst>
              <a:ext uri="{FF2B5EF4-FFF2-40B4-BE49-F238E27FC236}">
                <a16:creationId xmlns:a16="http://schemas.microsoft.com/office/drawing/2014/main" id="{68B89855-BA1A-40CA-AB54-9D9C80CEF7EE}"/>
              </a:ext>
            </a:extLst>
          </p:cNvPr>
          <p:cNvPicPr>
            <a:picLocks noGrp="1" noChangeAspect="1"/>
          </p:cNvPicPr>
          <p:nvPr>
            <p:ph idx="1"/>
          </p:nvPr>
        </p:nvPicPr>
        <p:blipFill>
          <a:blip r:embed="rId2"/>
          <a:stretch>
            <a:fillRect/>
          </a:stretch>
        </p:blipFill>
        <p:spPr>
          <a:xfrm>
            <a:off x="340856" y="2226279"/>
            <a:ext cx="9259748" cy="1675818"/>
          </a:xfrm>
          <a:prstGeom prst="rect">
            <a:avLst/>
          </a:prstGeom>
          <a:ln>
            <a:solidFill>
              <a:schemeClr val="tx1"/>
            </a:solidFill>
          </a:ln>
        </p:spPr>
      </p:pic>
      <p:sp>
        <p:nvSpPr>
          <p:cNvPr id="5" name="Content Placeholder 2">
            <a:extLst>
              <a:ext uri="{FF2B5EF4-FFF2-40B4-BE49-F238E27FC236}">
                <a16:creationId xmlns:a16="http://schemas.microsoft.com/office/drawing/2014/main" id="{BEF7ADC8-12B9-4A35-8C5D-D8ABB13640C1}"/>
              </a:ext>
            </a:extLst>
          </p:cNvPr>
          <p:cNvSpPr txBox="1">
            <a:spLocks/>
          </p:cNvSpPr>
          <p:nvPr/>
        </p:nvSpPr>
        <p:spPr>
          <a:xfrm>
            <a:off x="324091" y="1323001"/>
            <a:ext cx="9048509" cy="7020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Design the below page using bootstrap. Once the user clicks on submit button the entries get saved into JSON array and on click of Display JSON data , it should display the JSON array.</a:t>
            </a:r>
          </a:p>
        </p:txBody>
      </p:sp>
    </p:spTree>
    <p:extLst>
      <p:ext uri="{BB962C8B-B14F-4D97-AF65-F5344CB8AC3E}">
        <p14:creationId xmlns:p14="http://schemas.microsoft.com/office/powerpoint/2010/main" val="1893372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Overview of JSON</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89637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E06C0-7C4B-4A1E-82C1-BF905F4C4D9E}"/>
              </a:ext>
            </a:extLst>
          </p:cNvPr>
          <p:cNvSpPr>
            <a:spLocks noGrp="1"/>
          </p:cNvSpPr>
          <p:nvPr>
            <p:ph type="title"/>
          </p:nvPr>
        </p:nvSpPr>
        <p:spPr/>
        <p:txBody>
          <a:bodyPr/>
          <a:lstStyle/>
          <a:p>
            <a:r>
              <a:rPr lang="en-US" dirty="0"/>
              <a:t>JSON</a:t>
            </a:r>
          </a:p>
        </p:txBody>
      </p:sp>
      <p:sp>
        <p:nvSpPr>
          <p:cNvPr id="3" name="Content Placeholder 2">
            <a:extLst>
              <a:ext uri="{FF2B5EF4-FFF2-40B4-BE49-F238E27FC236}">
                <a16:creationId xmlns:a16="http://schemas.microsoft.com/office/drawing/2014/main" id="{CE14A066-6737-498A-BA2F-102FDA727B8D}"/>
              </a:ext>
            </a:extLst>
          </p:cNvPr>
          <p:cNvSpPr>
            <a:spLocks noGrp="1"/>
          </p:cNvSpPr>
          <p:nvPr>
            <p:ph idx="1"/>
          </p:nvPr>
        </p:nvSpPr>
        <p:spPr>
          <a:xfrm>
            <a:off x="160367" y="1295400"/>
            <a:ext cx="7104717" cy="5362800"/>
          </a:xfrm>
        </p:spPr>
        <p:txBody>
          <a:bodyPr>
            <a:normAutofit/>
          </a:bodyPr>
          <a:lstStyle/>
          <a:p>
            <a:r>
              <a:rPr lang="en-US" b="1" dirty="0"/>
              <a:t>JSON</a:t>
            </a:r>
            <a:r>
              <a:rPr lang="en-US" dirty="0"/>
              <a:t> (JavaScript Object Notation) is a lightweight data-interchange format. It is easy for humans to read and write. It is easy for machines to parse and generate that is the reason it works as the replacement of XML</a:t>
            </a:r>
          </a:p>
          <a:p>
            <a:r>
              <a:rPr lang="en-US" dirty="0"/>
              <a:t>JSON is a language-independent data format. It was derived from JavaScript, but as of 2017 many programming languages include code to generate and parse JSON-format data. </a:t>
            </a:r>
          </a:p>
          <a:p>
            <a:r>
              <a:rPr lang="en-US" dirty="0"/>
              <a:t>The JSON syntax is a subset of the JavaScript syntax.</a:t>
            </a:r>
          </a:p>
          <a:p>
            <a:r>
              <a:rPr lang="en-US" dirty="0"/>
              <a:t>The JSON format is almost identical to JavaScript objects.</a:t>
            </a:r>
          </a:p>
          <a:p>
            <a:r>
              <a:rPr lang="en-US" dirty="0"/>
              <a:t>The file type for JSON files is ".json"</a:t>
            </a:r>
          </a:p>
          <a:p>
            <a:r>
              <a:rPr lang="en-US" dirty="0"/>
              <a:t>In JSON, </a:t>
            </a:r>
            <a:r>
              <a:rPr lang="en-US" i="1" dirty="0"/>
              <a:t>keys</a:t>
            </a:r>
            <a:r>
              <a:rPr lang="en-US" dirty="0"/>
              <a:t> must be strings, written with double quotes.</a:t>
            </a:r>
          </a:p>
          <a:p>
            <a:r>
              <a:rPr lang="en-US" dirty="0"/>
              <a:t>Syntax:</a:t>
            </a:r>
          </a:p>
          <a:p>
            <a:pPr marL="0" indent="0">
              <a:buNone/>
            </a:pPr>
            <a:r>
              <a:rPr lang="en-US" dirty="0"/>
              <a:t>	JSON Object:	</a:t>
            </a:r>
          </a:p>
          <a:p>
            <a:pPr marL="0" indent="0">
              <a:buNone/>
            </a:pPr>
            <a:r>
              <a:rPr lang="en-US" dirty="0"/>
              <a:t>	{"</a:t>
            </a:r>
            <a:r>
              <a:rPr lang="en-US" dirty="0" err="1"/>
              <a:t>name":"John</a:t>
            </a:r>
            <a:r>
              <a:rPr lang="en-US" dirty="0"/>
              <a:t>", "age":31, "</a:t>
            </a:r>
            <a:r>
              <a:rPr lang="en-US" dirty="0" err="1"/>
              <a:t>city":"New</a:t>
            </a:r>
            <a:r>
              <a:rPr lang="en-US" dirty="0"/>
              <a:t> York"}</a:t>
            </a:r>
          </a:p>
          <a:p>
            <a:pPr marL="0" indent="0">
              <a:buNone/>
            </a:pPr>
            <a:r>
              <a:rPr lang="en-US" dirty="0"/>
              <a:t>	JSON array of objects:</a:t>
            </a:r>
          </a:p>
          <a:p>
            <a:pPr marL="0" indent="0">
              <a:buNone/>
            </a:pPr>
            <a:r>
              <a:rPr lang="en-US" dirty="0"/>
              <a:t> 	{“</a:t>
            </a:r>
            <a:r>
              <a:rPr lang="en-US" dirty="0" err="1"/>
              <a:t>arr</a:t>
            </a:r>
            <a:r>
              <a:rPr lang="en-US" dirty="0"/>
              <a:t>”: [{"name":"John","age":30},{"name":"Jack","age":25}]  }</a:t>
            </a:r>
          </a:p>
        </p:txBody>
      </p:sp>
      <p:pic>
        <p:nvPicPr>
          <p:cNvPr id="8" name="Picture 7">
            <a:extLst>
              <a:ext uri="{FF2B5EF4-FFF2-40B4-BE49-F238E27FC236}">
                <a16:creationId xmlns:a16="http://schemas.microsoft.com/office/drawing/2014/main" id="{46735C48-9EE4-4055-96AF-1DC6E964EBBA}"/>
              </a:ext>
            </a:extLst>
          </p:cNvPr>
          <p:cNvPicPr>
            <a:picLocks noChangeAspect="1"/>
          </p:cNvPicPr>
          <p:nvPr/>
        </p:nvPicPr>
        <p:blipFill>
          <a:blip r:embed="rId2"/>
          <a:stretch>
            <a:fillRect/>
          </a:stretch>
        </p:blipFill>
        <p:spPr>
          <a:xfrm>
            <a:off x="7265085" y="1271847"/>
            <a:ext cx="2640915" cy="2101373"/>
          </a:xfrm>
          <a:prstGeom prst="rect">
            <a:avLst/>
          </a:prstGeom>
        </p:spPr>
      </p:pic>
    </p:spTree>
    <p:extLst>
      <p:ext uri="{BB962C8B-B14F-4D97-AF65-F5344CB8AC3E}">
        <p14:creationId xmlns:p14="http://schemas.microsoft.com/office/powerpoint/2010/main" val="468989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1390-B1A7-43F0-94AD-C3CE63021CB6}"/>
              </a:ext>
            </a:extLst>
          </p:cNvPr>
          <p:cNvSpPr>
            <a:spLocks noGrp="1"/>
          </p:cNvSpPr>
          <p:nvPr>
            <p:ph type="title"/>
          </p:nvPr>
        </p:nvSpPr>
        <p:spPr/>
        <p:txBody>
          <a:bodyPr/>
          <a:lstStyle/>
          <a:p>
            <a:r>
              <a:rPr lang="en-US" dirty="0"/>
              <a:t>JSON value data types</a:t>
            </a:r>
          </a:p>
        </p:txBody>
      </p:sp>
      <p:sp>
        <p:nvSpPr>
          <p:cNvPr id="6" name="Content Placeholder 5">
            <a:extLst>
              <a:ext uri="{FF2B5EF4-FFF2-40B4-BE49-F238E27FC236}">
                <a16:creationId xmlns:a16="http://schemas.microsoft.com/office/drawing/2014/main" id="{90324C3F-F83C-4277-BF1E-C27724EC59A9}"/>
              </a:ext>
            </a:extLst>
          </p:cNvPr>
          <p:cNvSpPr>
            <a:spLocks noGrp="1"/>
          </p:cNvSpPr>
          <p:nvPr>
            <p:ph idx="1"/>
          </p:nvPr>
        </p:nvSpPr>
        <p:spPr/>
        <p:txBody>
          <a:bodyPr/>
          <a:lstStyle/>
          <a:p>
            <a:pPr marL="0" indent="0">
              <a:buNone/>
            </a:pPr>
            <a:r>
              <a:rPr lang="en-US" dirty="0"/>
              <a:t>In JSON, values must be one of the following data types:</a:t>
            </a:r>
          </a:p>
          <a:p>
            <a:r>
              <a:rPr lang="en-US" dirty="0"/>
              <a:t>a string</a:t>
            </a:r>
          </a:p>
          <a:p>
            <a:r>
              <a:rPr lang="en-US" dirty="0"/>
              <a:t>a number</a:t>
            </a:r>
          </a:p>
          <a:p>
            <a:r>
              <a:rPr lang="en-US" dirty="0"/>
              <a:t>an object (JSON object)</a:t>
            </a:r>
          </a:p>
          <a:p>
            <a:r>
              <a:rPr lang="en-US" dirty="0"/>
              <a:t>an array</a:t>
            </a:r>
          </a:p>
          <a:p>
            <a:r>
              <a:rPr lang="en-US" dirty="0"/>
              <a:t>a </a:t>
            </a:r>
            <a:r>
              <a:rPr lang="en-US" dirty="0" err="1"/>
              <a:t>boolean</a:t>
            </a:r>
            <a:endParaRPr lang="en-US" dirty="0"/>
          </a:p>
          <a:p>
            <a:r>
              <a:rPr lang="en-US" i="1" dirty="0"/>
              <a:t>null</a:t>
            </a:r>
            <a:endParaRPr lang="en-US" dirty="0"/>
          </a:p>
          <a:p>
            <a:pPr marL="0" indent="0">
              <a:buNone/>
            </a:pPr>
            <a:r>
              <a:rPr lang="en-US" dirty="0"/>
              <a:t>JSON values </a:t>
            </a:r>
            <a:r>
              <a:rPr lang="en-US" b="1" dirty="0"/>
              <a:t>cannot </a:t>
            </a:r>
            <a:r>
              <a:rPr lang="en-US" dirty="0"/>
              <a:t>be one of the following data types:</a:t>
            </a:r>
          </a:p>
          <a:p>
            <a:r>
              <a:rPr lang="en-US" dirty="0"/>
              <a:t>a function</a:t>
            </a:r>
          </a:p>
          <a:p>
            <a:r>
              <a:rPr lang="en-US" dirty="0"/>
              <a:t>a date</a:t>
            </a:r>
          </a:p>
          <a:p>
            <a:r>
              <a:rPr lang="en-US" i="1" dirty="0"/>
              <a:t>undefined</a:t>
            </a:r>
            <a:endParaRPr lang="en-US" dirty="0"/>
          </a:p>
          <a:p>
            <a:pPr marL="0" indent="0">
              <a:buNone/>
            </a:pPr>
            <a:endParaRPr lang="en-US" dirty="0"/>
          </a:p>
        </p:txBody>
      </p:sp>
      <p:pic>
        <p:nvPicPr>
          <p:cNvPr id="8" name="Content Placeholder 3">
            <a:extLst>
              <a:ext uri="{FF2B5EF4-FFF2-40B4-BE49-F238E27FC236}">
                <a16:creationId xmlns:a16="http://schemas.microsoft.com/office/drawing/2014/main" id="{0711A582-D4E6-4602-972A-C0D0AC323B0F}"/>
              </a:ext>
            </a:extLst>
          </p:cNvPr>
          <p:cNvPicPr>
            <a:picLocks noChangeAspect="1"/>
          </p:cNvPicPr>
          <p:nvPr/>
        </p:nvPicPr>
        <p:blipFill>
          <a:blip r:embed="rId2"/>
          <a:stretch>
            <a:fillRect/>
          </a:stretch>
        </p:blipFill>
        <p:spPr>
          <a:xfrm>
            <a:off x="6248400" y="1182861"/>
            <a:ext cx="3200400" cy="5189089"/>
          </a:xfrm>
          <a:prstGeom prst="rect">
            <a:avLst/>
          </a:prstGeom>
          <a:ln>
            <a:solidFill>
              <a:schemeClr val="accent1"/>
            </a:solidFill>
          </a:ln>
        </p:spPr>
      </p:pic>
      <p:sp>
        <p:nvSpPr>
          <p:cNvPr id="9" name="TextBox 8">
            <a:extLst>
              <a:ext uri="{FF2B5EF4-FFF2-40B4-BE49-F238E27FC236}">
                <a16:creationId xmlns:a16="http://schemas.microsoft.com/office/drawing/2014/main" id="{919D844F-9818-4620-975E-87A42355DE2E}"/>
              </a:ext>
            </a:extLst>
          </p:cNvPr>
          <p:cNvSpPr txBox="1"/>
          <p:nvPr/>
        </p:nvSpPr>
        <p:spPr>
          <a:xfrm>
            <a:off x="6934200" y="6329547"/>
            <a:ext cx="1371600" cy="369332"/>
          </a:xfrm>
          <a:prstGeom prst="rect">
            <a:avLst/>
          </a:prstGeom>
          <a:noFill/>
        </p:spPr>
        <p:txBody>
          <a:bodyPr wrap="square" rtlCol="0">
            <a:spAutoFit/>
          </a:bodyPr>
          <a:lstStyle/>
          <a:p>
            <a:r>
              <a:rPr lang="en-US" dirty="0" err="1">
                <a:latin typeface="Body Level 1"/>
              </a:rPr>
              <a:t>sample.json</a:t>
            </a:r>
            <a:endParaRPr lang="en-US" dirty="0">
              <a:latin typeface="Body Level 1"/>
            </a:endParaRPr>
          </a:p>
        </p:txBody>
      </p:sp>
    </p:spTree>
    <p:extLst>
      <p:ext uri="{BB962C8B-B14F-4D97-AF65-F5344CB8AC3E}">
        <p14:creationId xmlns:p14="http://schemas.microsoft.com/office/powerpoint/2010/main" val="3457468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7FE7-367C-44A0-B59C-E67E063A0703}"/>
              </a:ext>
            </a:extLst>
          </p:cNvPr>
          <p:cNvSpPr>
            <a:spLocks noGrp="1"/>
          </p:cNvSpPr>
          <p:nvPr>
            <p:ph type="title"/>
          </p:nvPr>
        </p:nvSpPr>
        <p:spPr/>
        <p:txBody>
          <a:bodyPr/>
          <a:lstStyle/>
          <a:p>
            <a:r>
              <a:rPr lang="en-US" dirty="0"/>
              <a:t>JSON Methods</a:t>
            </a:r>
          </a:p>
        </p:txBody>
      </p:sp>
      <p:sp>
        <p:nvSpPr>
          <p:cNvPr id="3" name="Content Placeholder 2">
            <a:extLst>
              <a:ext uri="{FF2B5EF4-FFF2-40B4-BE49-F238E27FC236}">
                <a16:creationId xmlns:a16="http://schemas.microsoft.com/office/drawing/2014/main" id="{E383F796-073C-4F01-87F4-BE170B4B5463}"/>
              </a:ext>
            </a:extLst>
          </p:cNvPr>
          <p:cNvSpPr>
            <a:spLocks noGrp="1"/>
          </p:cNvSpPr>
          <p:nvPr>
            <p:ph idx="1"/>
          </p:nvPr>
        </p:nvSpPr>
        <p:spPr>
          <a:xfrm>
            <a:off x="324091" y="1323001"/>
            <a:ext cx="9259747" cy="2157001"/>
          </a:xfrm>
        </p:spPr>
        <p:txBody>
          <a:bodyPr>
            <a:normAutofit/>
          </a:bodyPr>
          <a:lstStyle/>
          <a:p>
            <a:r>
              <a:rPr lang="en-US" dirty="0"/>
              <a:t>A common use of JSON is to exchange data to/from a web server.</a:t>
            </a:r>
          </a:p>
          <a:p>
            <a:r>
              <a:rPr lang="en-US" dirty="0"/>
              <a:t>When receiving data from a web server, the data is always a string.</a:t>
            </a:r>
          </a:p>
          <a:p>
            <a:pPr lvl="1"/>
            <a:r>
              <a:rPr lang="en-US" dirty="0"/>
              <a:t>Parse the data with </a:t>
            </a:r>
            <a:r>
              <a:rPr lang="en-US" dirty="0" err="1"/>
              <a:t>JSON.parse</a:t>
            </a:r>
            <a:r>
              <a:rPr lang="en-US" dirty="0"/>
              <a:t>() and the data becomes a JavaScript object.</a:t>
            </a:r>
          </a:p>
          <a:p>
            <a:r>
              <a:rPr lang="en-US" dirty="0"/>
              <a:t>When sending data to a web server, the data has to be a string.</a:t>
            </a:r>
          </a:p>
          <a:p>
            <a:pPr lvl="1"/>
            <a:r>
              <a:rPr lang="en-US" dirty="0"/>
              <a:t>Convert a JavaScript object into a string with </a:t>
            </a:r>
            <a:r>
              <a:rPr lang="en-US" dirty="0" err="1"/>
              <a:t>JSON.stringify</a:t>
            </a:r>
            <a:r>
              <a:rPr lang="en-US" dirty="0"/>
              <a:t>() method.</a:t>
            </a:r>
          </a:p>
          <a:p>
            <a:pPr marL="0" indent="0">
              <a:buNone/>
            </a:pPr>
            <a:endParaRPr lang="en-US" dirty="0"/>
          </a:p>
          <a:p>
            <a:pPr marL="0" indent="0">
              <a:buNone/>
            </a:pPr>
            <a:endParaRPr lang="en-US" altLang="en-US" sz="4000" dirty="0">
              <a:latin typeface="Arial" panose="020B0604020202020204" pitchFamily="34" charset="0"/>
            </a:endParaRPr>
          </a:p>
          <a:p>
            <a:pPr marL="0" indent="0">
              <a:buNone/>
            </a:pPr>
            <a:endParaRPr lang="en-US" dirty="0"/>
          </a:p>
        </p:txBody>
      </p:sp>
      <p:grpSp>
        <p:nvGrpSpPr>
          <p:cNvPr id="19" name="Group 18">
            <a:extLst>
              <a:ext uri="{FF2B5EF4-FFF2-40B4-BE49-F238E27FC236}">
                <a16:creationId xmlns:a16="http://schemas.microsoft.com/office/drawing/2014/main" id="{77B6EB31-E615-48E8-B763-FAB7B3439D0B}"/>
              </a:ext>
            </a:extLst>
          </p:cNvPr>
          <p:cNvGrpSpPr/>
          <p:nvPr/>
        </p:nvGrpSpPr>
        <p:grpSpPr>
          <a:xfrm>
            <a:off x="1227514" y="3728831"/>
            <a:ext cx="8538986" cy="2140982"/>
            <a:chOff x="1227514" y="3728831"/>
            <a:chExt cx="8538986" cy="2140982"/>
          </a:xfrm>
        </p:grpSpPr>
        <p:pic>
          <p:nvPicPr>
            <p:cNvPr id="10" name="Picture 9">
              <a:extLst>
                <a:ext uri="{FF2B5EF4-FFF2-40B4-BE49-F238E27FC236}">
                  <a16:creationId xmlns:a16="http://schemas.microsoft.com/office/drawing/2014/main" id="{EB5F48D4-6AD1-43FF-A486-A3C56FF63A7C}"/>
                </a:ext>
              </a:extLst>
            </p:cNvPr>
            <p:cNvPicPr>
              <a:picLocks noChangeAspect="1"/>
            </p:cNvPicPr>
            <p:nvPr/>
          </p:nvPicPr>
          <p:blipFill>
            <a:blip r:embed="rId2"/>
            <a:stretch>
              <a:fillRect/>
            </a:stretch>
          </p:blipFill>
          <p:spPr>
            <a:xfrm>
              <a:off x="5966025" y="3728831"/>
              <a:ext cx="3800475" cy="1771650"/>
            </a:xfrm>
            <a:prstGeom prst="rect">
              <a:avLst/>
            </a:prstGeom>
            <a:ln>
              <a:solidFill>
                <a:schemeClr val="accent1"/>
              </a:solidFill>
            </a:ln>
          </p:spPr>
        </p:pic>
        <p:sp>
          <p:nvSpPr>
            <p:cNvPr id="13" name="TextBox 12">
              <a:extLst>
                <a:ext uri="{FF2B5EF4-FFF2-40B4-BE49-F238E27FC236}">
                  <a16:creationId xmlns:a16="http://schemas.microsoft.com/office/drawing/2014/main" id="{75110886-EFAF-4E42-A03F-3231056FAB6F}"/>
                </a:ext>
              </a:extLst>
            </p:cNvPr>
            <p:cNvSpPr txBox="1"/>
            <p:nvPr/>
          </p:nvSpPr>
          <p:spPr>
            <a:xfrm>
              <a:off x="1227514" y="5499723"/>
              <a:ext cx="1905000" cy="369332"/>
            </a:xfrm>
            <a:prstGeom prst="rect">
              <a:avLst/>
            </a:prstGeom>
            <a:noFill/>
          </p:spPr>
          <p:txBody>
            <a:bodyPr wrap="square" rtlCol="0">
              <a:spAutoFit/>
            </a:bodyPr>
            <a:lstStyle/>
            <a:p>
              <a:r>
                <a:rPr lang="en-US" dirty="0">
                  <a:latin typeface="Body Level 1"/>
                </a:rPr>
                <a:t>JSON data (str)</a:t>
              </a:r>
            </a:p>
          </p:txBody>
        </p:sp>
        <p:sp>
          <p:nvSpPr>
            <p:cNvPr id="14" name="TextBox 13">
              <a:extLst>
                <a:ext uri="{FF2B5EF4-FFF2-40B4-BE49-F238E27FC236}">
                  <a16:creationId xmlns:a16="http://schemas.microsoft.com/office/drawing/2014/main" id="{4FAF0901-9FA4-44ED-AC4E-F2BE8C4858E1}"/>
                </a:ext>
              </a:extLst>
            </p:cNvPr>
            <p:cNvSpPr txBox="1"/>
            <p:nvPr/>
          </p:nvSpPr>
          <p:spPr>
            <a:xfrm>
              <a:off x="6781800" y="5500481"/>
              <a:ext cx="2421038" cy="369332"/>
            </a:xfrm>
            <a:prstGeom prst="rect">
              <a:avLst/>
            </a:prstGeom>
            <a:noFill/>
          </p:spPr>
          <p:txBody>
            <a:bodyPr wrap="square" rtlCol="0">
              <a:spAutoFit/>
            </a:bodyPr>
            <a:lstStyle/>
            <a:p>
              <a:r>
                <a:rPr lang="en-US" dirty="0">
                  <a:latin typeface="Body Level 1"/>
                </a:rPr>
                <a:t>Java Script Object (obj)</a:t>
              </a:r>
            </a:p>
          </p:txBody>
        </p:sp>
        <p:sp>
          <p:nvSpPr>
            <p:cNvPr id="15" name="Arrow: Right 14">
              <a:extLst>
                <a:ext uri="{FF2B5EF4-FFF2-40B4-BE49-F238E27FC236}">
                  <a16:creationId xmlns:a16="http://schemas.microsoft.com/office/drawing/2014/main" id="{B8DFF0A6-4985-45A8-9E38-CF5524B7E506}"/>
                </a:ext>
              </a:extLst>
            </p:cNvPr>
            <p:cNvSpPr/>
            <p:nvPr/>
          </p:nvSpPr>
          <p:spPr>
            <a:xfrm>
              <a:off x="4200525" y="4104926"/>
              <a:ext cx="17526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8598C59-D2FA-4938-91A8-E96BAEB2F4EF}"/>
                </a:ext>
              </a:extLst>
            </p:cNvPr>
            <p:cNvSpPr txBox="1"/>
            <p:nvPr/>
          </p:nvSpPr>
          <p:spPr>
            <a:xfrm>
              <a:off x="4204681" y="3751436"/>
              <a:ext cx="1905000" cy="369332"/>
            </a:xfrm>
            <a:prstGeom prst="rect">
              <a:avLst/>
            </a:prstGeom>
            <a:noFill/>
          </p:spPr>
          <p:txBody>
            <a:bodyPr wrap="square" rtlCol="0">
              <a:spAutoFit/>
            </a:bodyPr>
            <a:lstStyle/>
            <a:p>
              <a:r>
                <a:rPr lang="en-US" dirty="0" err="1">
                  <a:latin typeface="Body Level 1"/>
                </a:rPr>
                <a:t>JSON.parse</a:t>
              </a:r>
              <a:r>
                <a:rPr lang="en-US" dirty="0">
                  <a:latin typeface="Body Level 1"/>
                </a:rPr>
                <a:t>(str)</a:t>
              </a:r>
            </a:p>
          </p:txBody>
        </p:sp>
        <p:sp>
          <p:nvSpPr>
            <p:cNvPr id="17" name="TextBox 16">
              <a:extLst>
                <a:ext uri="{FF2B5EF4-FFF2-40B4-BE49-F238E27FC236}">
                  <a16:creationId xmlns:a16="http://schemas.microsoft.com/office/drawing/2014/main" id="{6AC6A2F9-D4B7-475D-8C3A-91534234E5AF}"/>
                </a:ext>
              </a:extLst>
            </p:cNvPr>
            <p:cNvSpPr txBox="1"/>
            <p:nvPr/>
          </p:nvSpPr>
          <p:spPr>
            <a:xfrm>
              <a:off x="4124325" y="4962325"/>
              <a:ext cx="1905000" cy="369332"/>
            </a:xfrm>
            <a:prstGeom prst="rect">
              <a:avLst/>
            </a:prstGeom>
            <a:noFill/>
          </p:spPr>
          <p:txBody>
            <a:bodyPr wrap="square" rtlCol="0">
              <a:spAutoFit/>
            </a:bodyPr>
            <a:lstStyle/>
            <a:p>
              <a:r>
                <a:rPr lang="en-US" dirty="0" err="1">
                  <a:latin typeface="Body Level 1"/>
                </a:rPr>
                <a:t>JSON.stringify</a:t>
              </a:r>
              <a:r>
                <a:rPr lang="en-US" dirty="0">
                  <a:latin typeface="Body Level 1"/>
                </a:rPr>
                <a:t>(obj)</a:t>
              </a:r>
            </a:p>
          </p:txBody>
        </p:sp>
        <p:sp>
          <p:nvSpPr>
            <p:cNvPr id="18" name="Arrow: Left 17">
              <a:extLst>
                <a:ext uri="{FF2B5EF4-FFF2-40B4-BE49-F238E27FC236}">
                  <a16:creationId xmlns:a16="http://schemas.microsoft.com/office/drawing/2014/main" id="{7CAB703F-34C4-4EDC-BACD-6583A92D290A}"/>
                </a:ext>
              </a:extLst>
            </p:cNvPr>
            <p:cNvSpPr/>
            <p:nvPr/>
          </p:nvSpPr>
          <p:spPr>
            <a:xfrm>
              <a:off x="4200525" y="4688378"/>
              <a:ext cx="1728093" cy="2849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a:extLst>
              <a:ext uri="{FF2B5EF4-FFF2-40B4-BE49-F238E27FC236}">
                <a16:creationId xmlns:a16="http://schemas.microsoft.com/office/drawing/2014/main" id="{64DE32E9-6530-4066-9A82-383140924C51}"/>
              </a:ext>
            </a:extLst>
          </p:cNvPr>
          <p:cNvPicPr>
            <a:picLocks noChangeAspect="1"/>
          </p:cNvPicPr>
          <p:nvPr/>
        </p:nvPicPr>
        <p:blipFill>
          <a:blip r:embed="rId3"/>
          <a:stretch>
            <a:fillRect/>
          </a:stretch>
        </p:blipFill>
        <p:spPr>
          <a:xfrm>
            <a:off x="105468" y="3728831"/>
            <a:ext cx="4057650" cy="1762125"/>
          </a:xfrm>
          <a:prstGeom prst="rect">
            <a:avLst/>
          </a:prstGeom>
          <a:ln>
            <a:solidFill>
              <a:schemeClr val="accent1"/>
            </a:solidFill>
          </a:ln>
        </p:spPr>
      </p:pic>
    </p:spTree>
    <p:extLst>
      <p:ext uri="{BB962C8B-B14F-4D97-AF65-F5344CB8AC3E}">
        <p14:creationId xmlns:p14="http://schemas.microsoft.com/office/powerpoint/2010/main" val="3575870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BF15-3475-439A-B829-CD6B7E204EAE}"/>
              </a:ext>
            </a:extLst>
          </p:cNvPr>
          <p:cNvSpPr>
            <a:spLocks noGrp="1"/>
          </p:cNvSpPr>
          <p:nvPr>
            <p:ph type="ctrTitle"/>
          </p:nvPr>
        </p:nvSpPr>
        <p:spPr/>
        <p:txBody>
          <a:bodyPr/>
          <a:lstStyle/>
          <a:p>
            <a:r>
              <a:rPr lang="en-US" dirty="0"/>
              <a:t>Let us work on use case on JSON</a:t>
            </a:r>
          </a:p>
        </p:txBody>
      </p:sp>
      <p:sp>
        <p:nvSpPr>
          <p:cNvPr id="3" name="Subtitle 2">
            <a:extLst>
              <a:ext uri="{FF2B5EF4-FFF2-40B4-BE49-F238E27FC236}">
                <a16:creationId xmlns:a16="http://schemas.microsoft.com/office/drawing/2014/main" id="{2965DC1F-DE34-41BA-8B44-FBCAFF6EC4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82603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2D52-F9E3-4F62-B0D2-C45B2F912AA5}"/>
              </a:ext>
            </a:extLst>
          </p:cNvPr>
          <p:cNvSpPr>
            <a:spLocks noGrp="1"/>
          </p:cNvSpPr>
          <p:nvPr>
            <p:ph type="title"/>
          </p:nvPr>
        </p:nvSpPr>
        <p:spPr/>
        <p:txBody>
          <a:bodyPr/>
          <a:lstStyle/>
          <a:p>
            <a:r>
              <a:rPr lang="en-US" dirty="0"/>
              <a:t>Presenting the Use case on JSON</a:t>
            </a:r>
          </a:p>
        </p:txBody>
      </p:sp>
      <p:pic>
        <p:nvPicPr>
          <p:cNvPr id="4" name="Content Placeholder 3">
            <a:extLst>
              <a:ext uri="{FF2B5EF4-FFF2-40B4-BE49-F238E27FC236}">
                <a16:creationId xmlns:a16="http://schemas.microsoft.com/office/drawing/2014/main" id="{68B89855-BA1A-40CA-AB54-9D9C80CEF7EE}"/>
              </a:ext>
            </a:extLst>
          </p:cNvPr>
          <p:cNvPicPr>
            <a:picLocks noGrp="1" noChangeAspect="1"/>
          </p:cNvPicPr>
          <p:nvPr>
            <p:ph idx="1"/>
          </p:nvPr>
        </p:nvPicPr>
        <p:blipFill>
          <a:blip r:embed="rId2"/>
          <a:stretch>
            <a:fillRect/>
          </a:stretch>
        </p:blipFill>
        <p:spPr>
          <a:xfrm>
            <a:off x="340716" y="2226278"/>
            <a:ext cx="9259888" cy="1675843"/>
          </a:xfrm>
          <a:prstGeom prst="rect">
            <a:avLst/>
          </a:prstGeom>
          <a:ln>
            <a:solidFill>
              <a:schemeClr val="tx1"/>
            </a:solidFill>
          </a:ln>
        </p:spPr>
      </p:pic>
      <p:sp>
        <p:nvSpPr>
          <p:cNvPr id="5" name="Content Placeholder 2">
            <a:extLst>
              <a:ext uri="{FF2B5EF4-FFF2-40B4-BE49-F238E27FC236}">
                <a16:creationId xmlns:a16="http://schemas.microsoft.com/office/drawing/2014/main" id="{BEF7ADC8-12B9-4A35-8C5D-D8ABB13640C1}"/>
              </a:ext>
            </a:extLst>
          </p:cNvPr>
          <p:cNvSpPr txBox="1">
            <a:spLocks/>
          </p:cNvSpPr>
          <p:nvPr/>
        </p:nvSpPr>
        <p:spPr>
          <a:xfrm>
            <a:off x="324091" y="1323001"/>
            <a:ext cx="9048509" cy="7020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Design the below page using bootstrap. Once the user clicks on submit button the entries get saved into JSON array and on click of Display JSON data , it should display the JSON array down.</a:t>
            </a:r>
          </a:p>
        </p:txBody>
      </p:sp>
    </p:spTree>
    <p:extLst>
      <p:ext uri="{BB962C8B-B14F-4D97-AF65-F5344CB8AC3E}">
        <p14:creationId xmlns:p14="http://schemas.microsoft.com/office/powerpoint/2010/main" val="1205970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F57-E0D1-4CAD-919D-A0A5C0FCD358}"/>
              </a:ext>
            </a:extLst>
          </p:cNvPr>
          <p:cNvSpPr>
            <a:spLocks noGrp="1"/>
          </p:cNvSpPr>
          <p:nvPr>
            <p:ph type="title"/>
          </p:nvPr>
        </p:nvSpPr>
        <p:spPr/>
        <p:txBody>
          <a:bodyPr/>
          <a:lstStyle/>
          <a:p>
            <a:r>
              <a:rPr lang="en-US" dirty="0"/>
              <a:t>Cheat Sheet references</a:t>
            </a:r>
          </a:p>
        </p:txBody>
      </p:sp>
      <p:sp>
        <p:nvSpPr>
          <p:cNvPr id="3" name="Content Placeholder 2">
            <a:extLst>
              <a:ext uri="{FF2B5EF4-FFF2-40B4-BE49-F238E27FC236}">
                <a16:creationId xmlns:a16="http://schemas.microsoft.com/office/drawing/2014/main" id="{9A5980D6-1B1C-4DEB-80E9-629D5947B514}"/>
              </a:ext>
            </a:extLst>
          </p:cNvPr>
          <p:cNvSpPr>
            <a:spLocks noGrp="1"/>
          </p:cNvSpPr>
          <p:nvPr>
            <p:ph idx="1"/>
          </p:nvPr>
        </p:nvSpPr>
        <p:spPr>
          <a:xfrm>
            <a:off x="265725" y="1430771"/>
            <a:ext cx="9259747" cy="1998229"/>
          </a:xfrm>
        </p:spPr>
        <p:txBody>
          <a:bodyPr>
            <a:normAutofit/>
          </a:bodyPr>
          <a:lstStyle/>
          <a:p>
            <a:pPr marL="0" indent="0">
              <a:buNone/>
            </a:pPr>
            <a:r>
              <a:rPr lang="en-US" sz="2000" dirty="0"/>
              <a:t>Cheat Sheet for JSON : JSON Cheat Sheet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194204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CBCD-801A-49BC-A91C-B8BC9C087C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E9FF59E-1E51-4BB7-BD98-F4CD1B0F6BF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78316253"/>
      </p:ext>
    </p:extLst>
  </p:cSld>
  <p:clrMapOvr>
    <a:masterClrMapping/>
  </p:clrMapOvr>
</p:sld>
</file>

<file path=ppt/theme/theme1.xml><?xml version="1.0" encoding="utf-8"?>
<a:theme xmlns:a="http://schemas.openxmlformats.org/drawingml/2006/main" name="Blank">
  <a:themeElements>
    <a:clrScheme name="Standard Chartered Template">
      <a:dk1>
        <a:srgbClr val="005C84"/>
      </a:dk1>
      <a:lt1>
        <a:sysClr val="window" lastClr="FFFFFF"/>
      </a:lt1>
      <a:dk2>
        <a:srgbClr val="000F46"/>
      </a:dk2>
      <a:lt2>
        <a:srgbClr val="E6E7E8"/>
      </a:lt2>
      <a:accent1>
        <a:srgbClr val="0075B0"/>
      </a:accent1>
      <a:accent2>
        <a:srgbClr val="009FDA"/>
      </a:accent2>
      <a:accent3>
        <a:srgbClr val="3F9C35"/>
      </a:accent3>
      <a:accent4>
        <a:srgbClr val="69BE28"/>
      </a:accent4>
      <a:accent5>
        <a:srgbClr val="6D6E71"/>
      </a:accent5>
      <a:accent6>
        <a:srgbClr val="939598"/>
      </a:accent6>
      <a:hlink>
        <a:srgbClr val="6D6E71"/>
      </a:hlink>
      <a:folHlink>
        <a:srgbClr val="289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Chartered_GlobalTemplate_Edit" id="{F6B87342-6B81-4D6D-A50D-E2D2D73676CB}" vid="{2987BD1D-0BCF-44F0-BC5D-89E75A8139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285</Words>
  <Application>Microsoft Office PowerPoint</Application>
  <PresentationFormat>A4 Paper (210x297 mm)</PresentationFormat>
  <Paragraphs>65</Paragraphs>
  <Slides>12</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Arial</vt:lpstr>
      <vt:lpstr>Body Level 1</vt:lpstr>
      <vt:lpstr>Body Level 2</vt:lpstr>
      <vt:lpstr>Body Level 3</vt:lpstr>
      <vt:lpstr>Body Level 4</vt:lpstr>
      <vt:lpstr>Body Level 5</vt:lpstr>
      <vt:lpstr>Calibri</vt:lpstr>
      <vt:lpstr>Courier New</vt:lpstr>
      <vt:lpstr>Cover Description</vt:lpstr>
      <vt:lpstr>Cover Title</vt:lpstr>
      <vt:lpstr>Slide Heading</vt:lpstr>
      <vt:lpstr>Wingdings</vt:lpstr>
      <vt:lpstr>Blank</vt:lpstr>
      <vt:lpstr>JSON</vt:lpstr>
      <vt:lpstr>Module design</vt:lpstr>
      <vt:lpstr>Introduce the Use Case on JSON</vt:lpstr>
      <vt:lpstr>Presenting the Use case on JSON</vt:lpstr>
      <vt:lpstr>Overview of JSON</vt:lpstr>
      <vt:lpstr>JSON</vt:lpstr>
      <vt:lpstr>JSON value data types</vt:lpstr>
      <vt:lpstr>JSON Methods</vt:lpstr>
      <vt:lpstr>Let us work on use case on JSON</vt:lpstr>
      <vt:lpstr>Presenting the Use case on JSON</vt:lpstr>
      <vt:lpstr>Cheat Sheet references</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2019-02-13T05:36:40Z</dcterms:created>
  <dcterms:modified xsi:type="dcterms:W3CDTF">2019-06-19T12:19:28Z</dcterms:modified>
</cp:coreProperties>
</file>