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60" r:id="rId1"/>
  </p:sldMasterIdLst>
  <p:notesMasterIdLst>
    <p:notesMasterId r:id="rId19"/>
  </p:notesMasterIdLst>
  <p:sldIdLst>
    <p:sldId id="502" r:id="rId2"/>
    <p:sldId id="693" r:id="rId3"/>
    <p:sldId id="678" r:id="rId4"/>
    <p:sldId id="677" r:id="rId5"/>
    <p:sldId id="694" r:id="rId6"/>
    <p:sldId id="669" r:id="rId7"/>
    <p:sldId id="666" r:id="rId8"/>
    <p:sldId id="672" r:id="rId9"/>
    <p:sldId id="673" r:id="rId10"/>
    <p:sldId id="671" r:id="rId11"/>
    <p:sldId id="674" r:id="rId12"/>
    <p:sldId id="676" r:id="rId13"/>
    <p:sldId id="679" r:id="rId14"/>
    <p:sldId id="695" r:id="rId15"/>
    <p:sldId id="696" r:id="rId16"/>
    <p:sldId id="605" r:id="rId17"/>
    <p:sldId id="649" r:id="rId18"/>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DC52"/>
    <a:srgbClr val="F9FC8E"/>
    <a:srgbClr val="99FFCC"/>
    <a:srgbClr val="A1C5E0"/>
    <a:srgbClr val="C3E2C1"/>
    <a:srgbClr val="FF9900"/>
    <a:srgbClr val="6BA8D0"/>
    <a:srgbClr val="09ADFF"/>
    <a:srgbClr val="BCBEC0"/>
    <a:srgbClr val="9FD1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6" autoAdjust="0"/>
    <p:restoredTop sz="80295" autoAdjust="0"/>
  </p:normalViewPr>
  <p:slideViewPr>
    <p:cSldViewPr showGuides="1">
      <p:cViewPr varScale="1">
        <p:scale>
          <a:sx n="58" d="100"/>
          <a:sy n="58" d="100"/>
        </p:scale>
        <p:origin x="1632" y="72"/>
      </p:cViewPr>
      <p:guideLst>
        <p:guide orient="horz" pos="2160"/>
        <p:guide pos="3120"/>
      </p:guideLst>
    </p:cSldViewPr>
  </p:slideViewPr>
  <p:notesTextViewPr>
    <p:cViewPr>
      <p:scale>
        <a:sx n="1" d="1"/>
        <a:sy n="1" d="1"/>
      </p:scale>
      <p:origin x="0" y="0"/>
    </p:cViewPr>
  </p:notesTextViewPr>
  <p:sorterViewPr>
    <p:cViewPr varScale="1">
      <p:scale>
        <a:sx n="100" d="100"/>
        <a:sy n="100" d="100"/>
      </p:scale>
      <p:origin x="0" y="-538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4F01A-3E91-4831-92AD-6D4AF38A1953}" type="datetimeFigureOut">
              <a:rPr lang="en-GB" smtClean="0"/>
              <a:t>19/06/2019</a:t>
            </a:fld>
            <a:endParaRPr lang="en-GB"/>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3102E-6C56-4F81-B30B-581BE2EC6691}" type="slidenum">
              <a:rPr lang="en-GB" smtClean="0"/>
              <a:t>‹#›</a:t>
            </a:fld>
            <a:endParaRPr lang="en-GB"/>
          </a:p>
        </p:txBody>
      </p:sp>
    </p:spTree>
    <p:extLst>
      <p:ext uri="{BB962C8B-B14F-4D97-AF65-F5344CB8AC3E}">
        <p14:creationId xmlns:p14="http://schemas.microsoft.com/office/powerpoint/2010/main" val="102796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6</a:t>
            </a:fld>
            <a:endParaRPr lang="en-GB"/>
          </a:p>
        </p:txBody>
      </p:sp>
    </p:spTree>
    <p:extLst>
      <p:ext uri="{BB962C8B-B14F-4D97-AF65-F5344CB8AC3E}">
        <p14:creationId xmlns:p14="http://schemas.microsoft.com/office/powerpoint/2010/main" val="1799772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15</a:t>
            </a:fld>
            <a:endParaRPr lang="en-GB"/>
          </a:p>
        </p:txBody>
      </p:sp>
    </p:spTree>
    <p:extLst>
      <p:ext uri="{BB962C8B-B14F-4D97-AF65-F5344CB8AC3E}">
        <p14:creationId xmlns:p14="http://schemas.microsoft.com/office/powerpoint/2010/main" val="3672385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Blue">
    <p:spTree>
      <p:nvGrpSpPr>
        <p:cNvPr id="1" name=""/>
        <p:cNvGrpSpPr/>
        <p:nvPr/>
      </p:nvGrpSpPr>
      <p:grpSpPr>
        <a:xfrm>
          <a:off x="0" y="0"/>
          <a:ext cx="0" cy="0"/>
          <a:chOff x="0" y="0"/>
          <a:chExt cx="0" cy="0"/>
        </a:xfrm>
      </p:grpSpPr>
      <p:pic>
        <p:nvPicPr>
          <p:cNvPr id="7" name="Picture 6" descr="SCWB_PPTcover-BLUE.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25"/>
          <a:stretch/>
        </p:blipFill>
        <p:spPr>
          <a:xfrm>
            <a:off x="2" y="12599"/>
            <a:ext cx="9905998" cy="6832801"/>
          </a:xfrm>
          <a:prstGeom prst="rect">
            <a:avLst/>
          </a:prstGeom>
        </p:spPr>
      </p:pic>
      <p:pic>
        <p:nvPicPr>
          <p:cNvPr id="9" name="Picture 8"/>
          <p:cNvPicPr>
            <a:picLocks noChangeAspect="1"/>
          </p:cNvPicPr>
          <p:nvPr userDrawn="1"/>
        </p:nvPicPr>
        <p:blipFill>
          <a:blip r:embed="rId3" cstate="print"/>
          <a:stretch>
            <a:fillRect/>
          </a:stretch>
        </p:blipFill>
        <p:spPr>
          <a:xfrm>
            <a:off x="8134132" y="6283800"/>
            <a:ext cx="1449706" cy="226951"/>
          </a:xfrm>
          <a:prstGeom prst="rect">
            <a:avLst/>
          </a:prstGeom>
        </p:spPr>
      </p:pic>
      <p:sp>
        <p:nvSpPr>
          <p:cNvPr id="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26" descr="Visual Identitiy Band"/>
          <p:cNvPicPr preferRelativeResize="0">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F29D4B84-79FB-4BAB-BA3E-79EA71FBEF28}"/>
              </a:ext>
            </a:extLst>
          </p:cNvPr>
          <p:cNvPicPr>
            <a:picLocks noChangeAspect="1"/>
          </p:cNvPicPr>
          <p:nvPr userDrawn="1"/>
        </p:nvPicPr>
        <p:blipFill>
          <a:blip r:embed="rId5"/>
          <a:stretch>
            <a:fillRect/>
          </a:stretch>
        </p:blipFill>
        <p:spPr>
          <a:xfrm>
            <a:off x="8060700" y="115759"/>
            <a:ext cx="1828800" cy="748531"/>
          </a:xfrm>
          <a:prstGeom prst="rect">
            <a:avLst/>
          </a:prstGeom>
        </p:spPr>
      </p:pic>
    </p:spTree>
    <p:extLst>
      <p:ext uri="{BB962C8B-B14F-4D97-AF65-F5344CB8AC3E}">
        <p14:creationId xmlns:p14="http://schemas.microsoft.com/office/powerpoint/2010/main" val="4066818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Green">
    <p:spTree>
      <p:nvGrpSpPr>
        <p:cNvPr id="1" name=""/>
        <p:cNvGrpSpPr/>
        <p:nvPr/>
      </p:nvGrpSpPr>
      <p:grpSpPr>
        <a:xfrm>
          <a:off x="0" y="0"/>
          <a:ext cx="0" cy="0"/>
          <a:chOff x="0" y="0"/>
          <a:chExt cx="0" cy="0"/>
        </a:xfrm>
      </p:grpSpPr>
      <p:pic>
        <p:nvPicPr>
          <p:cNvPr id="11" name="Picture 10" descr="SCWB_PPTcover-Grn.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52"/>
          <a:stretch/>
        </p:blipFill>
        <p:spPr>
          <a:xfrm>
            <a:off x="3" y="12600"/>
            <a:ext cx="9908664" cy="6832800"/>
          </a:xfrm>
          <a:prstGeom prst="rect">
            <a:avLst/>
          </a:prstGeom>
        </p:spPr>
      </p:pic>
      <p:pic>
        <p:nvPicPr>
          <p:cNvPr id="8" name="Picture 7"/>
          <p:cNvPicPr>
            <a:picLocks noChangeAspect="1"/>
          </p:cNvPicPr>
          <p:nvPr userDrawn="1"/>
        </p:nvPicPr>
        <p:blipFill>
          <a:blip r:embed="rId3" cstate="print"/>
          <a:stretch>
            <a:fillRect/>
          </a:stretch>
        </p:blipFill>
        <p:spPr>
          <a:xfrm>
            <a:off x="8134137" y="245287"/>
            <a:ext cx="1449701" cy="554026"/>
          </a:xfrm>
          <a:prstGeom prst="rect">
            <a:avLst/>
          </a:prstGeom>
        </p:spPr>
      </p:pic>
      <p:pic>
        <p:nvPicPr>
          <p:cNvPr id="9" name="Picture 8"/>
          <p:cNvPicPr>
            <a:picLocks noChangeAspect="1"/>
          </p:cNvPicPr>
          <p:nvPr userDrawn="1"/>
        </p:nvPicPr>
        <p:blipFill>
          <a:blip r:embed="rId4" cstate="print"/>
          <a:stretch>
            <a:fillRect/>
          </a:stretch>
        </p:blipFill>
        <p:spPr>
          <a:xfrm>
            <a:off x="8134132" y="6283800"/>
            <a:ext cx="1449706" cy="226951"/>
          </a:xfrm>
          <a:prstGeom prst="rect">
            <a:avLst/>
          </a:prstGeom>
        </p:spPr>
      </p:pic>
      <p:pic>
        <p:nvPicPr>
          <p:cNvPr id="10" name="Picture 26" descr="Visual Identitiy Band"/>
          <p:cNvPicPr preferRelativeResize="0">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1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068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atermark">
    <p:spTree>
      <p:nvGrpSpPr>
        <p:cNvPr id="1" name=""/>
        <p:cNvGrpSpPr/>
        <p:nvPr/>
      </p:nvGrpSpPr>
      <p:grpSpPr>
        <a:xfrm>
          <a:off x="0" y="0"/>
          <a:ext cx="0" cy="0"/>
          <a:chOff x="0" y="0"/>
          <a:chExt cx="0" cy="0"/>
        </a:xfrm>
      </p:grpSpPr>
      <p:pic>
        <p:nvPicPr>
          <p:cNvPr id="3" name="Picture 2" descr="SCWB_PPT_Divider.jpg"/>
          <p:cNvPicPr>
            <a:picLocks noChangeAspect="1"/>
          </p:cNvPicPr>
          <p:nvPr userDrawn="1"/>
        </p:nvPicPr>
        <p:blipFill rotWithShape="1">
          <a:blip r:embed="rId2" cstate="print">
            <a:extLst>
              <a:ext uri="{28A0092B-C50C-407E-A947-70E740481C1C}">
                <a14:useLocalDpi xmlns:a14="http://schemas.microsoft.com/office/drawing/2010/main" val="0"/>
              </a:ext>
            </a:extLst>
          </a:blip>
          <a:srcRect t="15121" b="2696"/>
          <a:stretch/>
        </p:blipFill>
        <p:spPr>
          <a:xfrm>
            <a:off x="2350" y="1088141"/>
            <a:ext cx="9903650" cy="5757259"/>
          </a:xfrm>
          <a:prstGeom prst="rect">
            <a:avLst/>
          </a:prstGeom>
        </p:spPr>
      </p:pic>
      <p:sp>
        <p:nvSpPr>
          <p:cNvPr id="4" name="Title 1"/>
          <p:cNvSpPr>
            <a:spLocks noGrp="1"/>
          </p:cNvSpPr>
          <p:nvPr>
            <p:ph type="ctrTitle"/>
          </p:nvPr>
        </p:nvSpPr>
        <p:spPr>
          <a:xfrm>
            <a:off x="340234" y="4833001"/>
            <a:ext cx="9259747" cy="1029600"/>
          </a:xfrm>
        </p:spPr>
        <p:txBody>
          <a:bodyPr anchor="t">
            <a:normAutofit/>
          </a:bodyPr>
          <a:lstStyle>
            <a:lvl1pPr algn="l">
              <a:defRPr sz="3500" baseline="0">
                <a:solidFill>
                  <a:schemeClr val="accent5"/>
                </a:solidFill>
                <a:latin typeface="Cover Title"/>
              </a:defRPr>
            </a:lvl1pPr>
          </a:lstStyle>
          <a:p>
            <a:r>
              <a:rPr lang="en-US"/>
              <a:t>Click to edit Master title style</a:t>
            </a:r>
            <a:endParaRPr lang="en-US" dirty="0"/>
          </a:p>
        </p:txBody>
      </p:sp>
      <p:sp>
        <p:nvSpPr>
          <p:cNvPr id="5" name="Subtitle 2"/>
          <p:cNvSpPr>
            <a:spLocks noGrp="1"/>
          </p:cNvSpPr>
          <p:nvPr>
            <p:ph type="subTitle" idx="1"/>
          </p:nvPr>
        </p:nvSpPr>
        <p:spPr>
          <a:xfrm>
            <a:off x="340234" y="3709800"/>
            <a:ext cx="9243814" cy="966040"/>
          </a:xfrm>
        </p:spPr>
        <p:txBody>
          <a:bodyPr anchor="b">
            <a:normAutofit/>
          </a:bodyPr>
          <a:lstStyle>
            <a:lvl1pPr marL="0" indent="0" algn="l">
              <a:buNone/>
              <a:defRPr sz="2000" baseline="0">
                <a:solidFill>
                  <a:schemeClr val="tx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079082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Agenda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Text Placeholder 2"/>
          <p:cNvSpPr>
            <a:spLocks noGrp="1"/>
          </p:cNvSpPr>
          <p:nvPr>
            <p:ph idx="1" hasCustomPrompt="1"/>
          </p:nvPr>
        </p:nvSpPr>
        <p:spPr>
          <a:xfrm>
            <a:off x="324091" y="1323001"/>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baseline="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p:txBody>
      </p:sp>
    </p:spTree>
    <p:extLst>
      <p:ext uri="{BB962C8B-B14F-4D97-AF65-F5344CB8AC3E}">
        <p14:creationId xmlns:p14="http://schemas.microsoft.com/office/powerpoint/2010/main" val="3316229516"/>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ing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noChangeAspect="1"/>
          </p:cNvSpPr>
          <p:nvPr>
            <p:ph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876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ing &amp;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p:cNvSpPr>
          <p:nvPr>
            <p:ph idx="1"/>
          </p:nvPr>
        </p:nvSpPr>
        <p:spPr>
          <a:xfrm>
            <a:off x="324091" y="1323001"/>
            <a:ext cx="4488509"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idx="12"/>
          </p:nvPr>
        </p:nvSpPr>
        <p:spPr>
          <a:xfrm>
            <a:off x="5093400" y="1323001"/>
            <a:ext cx="4490438"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6380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AABF3E-EF9B-47F8-BC27-8C04233D4794}" type="datetimeFigureOut">
              <a:rPr lang="en-US" smtClean="0"/>
              <a:pPr/>
              <a:t>6/19/2019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96F9C-7FEE-48F2-A86C-DCFACBAB2156}" type="slidenum">
              <a:rPr lang="en-US" smtClean="0"/>
              <a:pPr/>
              <a:t>‹#›</a:t>
            </a:fld>
            <a:endParaRPr lang="en-US"/>
          </a:p>
        </p:txBody>
      </p:sp>
    </p:spTree>
    <p:extLst>
      <p:ext uri="{BB962C8B-B14F-4D97-AF65-F5344CB8AC3E}">
        <p14:creationId xmlns:p14="http://schemas.microsoft.com/office/powerpoint/2010/main" val="341622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091" y="199800"/>
            <a:ext cx="9259747" cy="702000"/>
          </a:xfrm>
          <a:prstGeom prst="rect">
            <a:avLst/>
          </a:prstGeom>
        </p:spPr>
        <p:txBody>
          <a:bodyPr vert="horz" lIns="0" tIns="0" rIns="0" bIns="0" rtlCol="0" anchor="b">
            <a:normAutofit/>
          </a:bodyPr>
          <a:lstStyle/>
          <a:p>
            <a:r>
              <a:rPr lang="en-US"/>
              <a:t>Click to edit Master title style</a:t>
            </a:r>
            <a:endParaRPr lang="en-US" dirty="0"/>
          </a:p>
        </p:txBody>
      </p:sp>
      <p:sp>
        <p:nvSpPr>
          <p:cNvPr id="3" name="Text Placeholder 2"/>
          <p:cNvSpPr>
            <a:spLocks noGrp="1" noChangeAspect="1"/>
          </p:cNvSpPr>
          <p:nvPr>
            <p:ph type="body"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26" descr="Visual Identitiy Band"/>
          <p:cNvPicPr preferRelativeResize="0">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 name="Text Box 6"/>
          <p:cNvSpPr txBox="1">
            <a:spLocks noChangeArrowheads="1"/>
          </p:cNvSpPr>
          <p:nvPr/>
        </p:nvSpPr>
        <p:spPr bwMode="auto">
          <a:xfrm>
            <a:off x="9223410" y="6447452"/>
            <a:ext cx="357028" cy="298513"/>
          </a:xfrm>
          <a:prstGeom prst="rect">
            <a:avLst/>
          </a:prstGeom>
          <a:noFill/>
          <a:ln w="9525">
            <a:noFill/>
            <a:miter lim="800000"/>
            <a:headEnd/>
            <a:tailEnd/>
          </a:ln>
        </p:spPr>
        <p:txBody>
          <a:bodyPr lIns="0" tIns="0" rIns="0" bIns="0" anchor="ctr"/>
          <a:lstStyle>
            <a:lvl1pPr defTabSz="1042988" eaLnBrk="0" hangingPunct="0">
              <a:defRPr sz="900" baseline="-25000">
                <a:solidFill>
                  <a:srgbClr val="006699"/>
                </a:solidFill>
                <a:latin typeface="Arial" charset="0"/>
                <a:ea typeface="ＭＳ Ｐゴシック" charset="0"/>
                <a:cs typeface="Arial" charset="0"/>
              </a:defRPr>
            </a:lvl1pPr>
            <a:lvl2pPr marL="742950" indent="-285750" defTabSz="1042988" eaLnBrk="0" hangingPunct="0">
              <a:defRPr sz="900" baseline="-25000">
                <a:solidFill>
                  <a:srgbClr val="006699"/>
                </a:solidFill>
                <a:latin typeface="Arial" charset="0"/>
                <a:ea typeface="Arial" charset="0"/>
                <a:cs typeface="Arial" charset="0"/>
              </a:defRPr>
            </a:lvl2pPr>
            <a:lvl3pPr marL="1143000" indent="-228600" defTabSz="1042988" eaLnBrk="0" hangingPunct="0">
              <a:defRPr sz="900" baseline="-25000">
                <a:solidFill>
                  <a:srgbClr val="006699"/>
                </a:solidFill>
                <a:latin typeface="Arial" charset="0"/>
                <a:ea typeface="Arial" charset="0"/>
                <a:cs typeface="Arial" charset="0"/>
              </a:defRPr>
            </a:lvl3pPr>
            <a:lvl4pPr marL="1600200" indent="-228600" defTabSz="1042988" eaLnBrk="0" hangingPunct="0">
              <a:defRPr sz="900" baseline="-25000">
                <a:solidFill>
                  <a:srgbClr val="006699"/>
                </a:solidFill>
                <a:latin typeface="Arial" charset="0"/>
                <a:ea typeface="Arial" charset="0"/>
                <a:cs typeface="Arial" charset="0"/>
              </a:defRPr>
            </a:lvl4pPr>
            <a:lvl5pPr marL="2057400" indent="-228600" defTabSz="1042988" eaLnBrk="0" hangingPunct="0">
              <a:defRPr sz="900" baseline="-25000">
                <a:solidFill>
                  <a:srgbClr val="006699"/>
                </a:solidFill>
                <a:latin typeface="Arial" charset="0"/>
                <a:ea typeface="Arial" charset="0"/>
                <a:cs typeface="Arial" charset="0"/>
              </a:defRPr>
            </a:lvl5pPr>
            <a:lvl6pPr marL="25146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6pPr>
            <a:lvl7pPr marL="29718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7pPr>
            <a:lvl8pPr marL="34290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8pPr>
            <a:lvl9pPr marL="38862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9pPr>
          </a:lstStyle>
          <a:p>
            <a:pPr algn="r" eaLnBrk="1" hangingPunct="1"/>
            <a:fld id="{6E0DC809-1827-F44D-A8AA-8C566384234E}" type="slidenum">
              <a:rPr lang="en-US" sz="900" baseline="0">
                <a:solidFill>
                  <a:srgbClr val="6D6E71"/>
                </a:solidFill>
                <a:latin typeface="+mn-lt"/>
              </a:rPr>
              <a:pPr algn="r" eaLnBrk="1" hangingPunct="1"/>
              <a:t>‹#›</a:t>
            </a:fld>
            <a:endParaRPr lang="en-US" sz="900" baseline="0">
              <a:solidFill>
                <a:srgbClr val="6D6E71"/>
              </a:solidFill>
              <a:latin typeface="+mn-lt"/>
            </a:endParaRPr>
          </a:p>
        </p:txBody>
      </p:sp>
      <p:sp>
        <p:nvSpPr>
          <p:cNvPr id="15" name="Text Box 25"/>
          <p:cNvSpPr txBox="1">
            <a:spLocks noChangeArrowheads="1"/>
          </p:cNvSpPr>
          <p:nvPr/>
        </p:nvSpPr>
        <p:spPr bwMode="auto">
          <a:xfrm>
            <a:off x="5661057" y="6471270"/>
            <a:ext cx="3473490" cy="252466"/>
          </a:xfrm>
          <a:prstGeom prst="rect">
            <a:avLst/>
          </a:prstGeom>
          <a:noFill/>
          <a:ln w="9525">
            <a:noFill/>
            <a:miter lim="800000"/>
            <a:headEnd/>
            <a:tailEnd/>
          </a:ln>
          <a:effectLst/>
        </p:spPr>
        <p:txBody>
          <a:bodyPr lIns="0" tIns="0" rIns="132630" bIns="0" anchor="ctr"/>
          <a:lstStyle/>
          <a:p>
            <a:pPr marL="562284" indent="-562284" algn="r" defTabSz="1122860">
              <a:spcBef>
                <a:spcPct val="40000"/>
              </a:spcBef>
              <a:spcAft>
                <a:spcPct val="40000"/>
              </a:spcAft>
              <a:defRPr/>
            </a:pPr>
            <a:r>
              <a:rPr lang="en-GB" sz="900" baseline="0" dirty="0">
                <a:solidFill>
                  <a:srgbClr val="6D6E71"/>
                </a:solidFill>
                <a:latin typeface="+mn-lt"/>
                <a:ea typeface="+mn-ea"/>
              </a:rPr>
              <a:t>Document Title</a:t>
            </a:r>
          </a:p>
        </p:txBody>
      </p:sp>
      <p:pic>
        <p:nvPicPr>
          <p:cNvPr id="9" name="Picture 8">
            <a:extLst>
              <a:ext uri="{FF2B5EF4-FFF2-40B4-BE49-F238E27FC236}">
                <a16:creationId xmlns:a16="http://schemas.microsoft.com/office/drawing/2014/main" id="{48FC6E1C-F72F-45A3-B159-0C9D9DB4CA03}"/>
              </a:ext>
            </a:extLst>
          </p:cNvPr>
          <p:cNvPicPr>
            <a:picLocks noChangeAspect="1"/>
          </p:cNvPicPr>
          <p:nvPr userDrawn="1"/>
        </p:nvPicPr>
        <p:blipFill>
          <a:blip r:embed="rId10"/>
          <a:stretch>
            <a:fillRect/>
          </a:stretch>
        </p:blipFill>
        <p:spPr>
          <a:xfrm>
            <a:off x="7853739" y="183759"/>
            <a:ext cx="1736100" cy="710589"/>
          </a:xfrm>
          <a:prstGeom prst="rect">
            <a:avLst/>
          </a:prstGeom>
        </p:spPr>
      </p:pic>
    </p:spTree>
    <p:extLst>
      <p:ext uri="{BB962C8B-B14F-4D97-AF65-F5344CB8AC3E}">
        <p14:creationId xmlns:p14="http://schemas.microsoft.com/office/powerpoint/2010/main" val="103315839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80" r:id="rId3"/>
    <p:sldLayoutId id="2147483701" r:id="rId4"/>
    <p:sldLayoutId id="2147483666" r:id="rId5"/>
    <p:sldLayoutId id="2147483668" r:id="rId6"/>
    <p:sldLayoutId id="2147483702" r:id="rId7"/>
  </p:sldLayoutIdLst>
  <p:txStyles>
    <p:title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CBCD-801A-49BC-A91C-B8BC9C087C5E}"/>
              </a:ext>
            </a:extLst>
          </p:cNvPr>
          <p:cNvSpPr>
            <a:spLocks noGrp="1"/>
          </p:cNvSpPr>
          <p:nvPr>
            <p:ph type="ctrTitle"/>
          </p:nvPr>
        </p:nvSpPr>
        <p:spPr/>
        <p:txBody>
          <a:bodyPr/>
          <a:lstStyle/>
          <a:p>
            <a:r>
              <a:rPr lang="en-US" dirty="0"/>
              <a:t>XML</a:t>
            </a:r>
          </a:p>
        </p:txBody>
      </p:sp>
      <p:sp>
        <p:nvSpPr>
          <p:cNvPr id="3" name="Subtitle 2">
            <a:extLst>
              <a:ext uri="{FF2B5EF4-FFF2-40B4-BE49-F238E27FC236}">
                <a16:creationId xmlns:a16="http://schemas.microsoft.com/office/drawing/2014/main" id="{0E9FF59E-1E51-4BB7-BD98-F4CD1B0F6BF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8920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5231-F8D8-42F1-B417-2028951CEF46}"/>
              </a:ext>
            </a:extLst>
          </p:cNvPr>
          <p:cNvSpPr>
            <a:spLocks noGrp="1"/>
          </p:cNvSpPr>
          <p:nvPr>
            <p:ph type="title"/>
          </p:nvPr>
        </p:nvSpPr>
        <p:spPr/>
        <p:txBody>
          <a:bodyPr/>
          <a:lstStyle/>
          <a:p>
            <a:r>
              <a:rPr lang="en-US" dirty="0"/>
              <a:t>Module design</a:t>
            </a:r>
          </a:p>
        </p:txBody>
      </p:sp>
      <p:sp>
        <p:nvSpPr>
          <p:cNvPr id="4" name="Rectangle: Rounded Corners 3">
            <a:extLst>
              <a:ext uri="{FF2B5EF4-FFF2-40B4-BE49-F238E27FC236}">
                <a16:creationId xmlns:a16="http://schemas.microsoft.com/office/drawing/2014/main" id="{80186F7D-2A5C-4831-8A17-394CDF830DE9}"/>
              </a:ext>
            </a:extLst>
          </p:cNvPr>
          <p:cNvSpPr/>
          <p:nvPr/>
        </p:nvSpPr>
        <p:spPr>
          <a:xfrm>
            <a:off x="2672267" y="1776521"/>
            <a:ext cx="1590532" cy="8382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XML Overview</a:t>
            </a:r>
          </a:p>
        </p:txBody>
      </p:sp>
      <p:sp>
        <p:nvSpPr>
          <p:cNvPr id="5" name="Rectangle: Rounded Corners 4">
            <a:extLst>
              <a:ext uri="{FF2B5EF4-FFF2-40B4-BE49-F238E27FC236}">
                <a16:creationId xmlns:a16="http://schemas.microsoft.com/office/drawing/2014/main" id="{A9D8ED8E-851B-4ED4-B70F-BF0A86370CBB}"/>
              </a:ext>
            </a:extLst>
          </p:cNvPr>
          <p:cNvSpPr/>
          <p:nvPr/>
        </p:nvSpPr>
        <p:spPr>
          <a:xfrm>
            <a:off x="7636867" y="1794229"/>
            <a:ext cx="1653023" cy="8382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XML attributes</a:t>
            </a:r>
          </a:p>
        </p:txBody>
      </p:sp>
      <p:sp>
        <p:nvSpPr>
          <p:cNvPr id="16" name="Rectangle: Rounded Corners 15">
            <a:extLst>
              <a:ext uri="{FF2B5EF4-FFF2-40B4-BE49-F238E27FC236}">
                <a16:creationId xmlns:a16="http://schemas.microsoft.com/office/drawing/2014/main" id="{932F650E-FDC7-4F04-BDA4-745D0D2D60EF}"/>
              </a:ext>
            </a:extLst>
          </p:cNvPr>
          <p:cNvSpPr/>
          <p:nvPr/>
        </p:nvSpPr>
        <p:spPr>
          <a:xfrm>
            <a:off x="5177518" y="1794229"/>
            <a:ext cx="1653022" cy="8382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XML elements</a:t>
            </a:r>
          </a:p>
        </p:txBody>
      </p:sp>
      <p:sp>
        <p:nvSpPr>
          <p:cNvPr id="17" name="Arrow: Right 16">
            <a:extLst>
              <a:ext uri="{FF2B5EF4-FFF2-40B4-BE49-F238E27FC236}">
                <a16:creationId xmlns:a16="http://schemas.microsoft.com/office/drawing/2014/main" id="{A4809A25-3E9B-4129-BCFA-CB2EF1BB22D8}"/>
              </a:ext>
            </a:extLst>
          </p:cNvPr>
          <p:cNvSpPr/>
          <p:nvPr/>
        </p:nvSpPr>
        <p:spPr>
          <a:xfrm>
            <a:off x="4262799" y="2067281"/>
            <a:ext cx="887260" cy="3305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Arrow: Right 18">
            <a:extLst>
              <a:ext uri="{FF2B5EF4-FFF2-40B4-BE49-F238E27FC236}">
                <a16:creationId xmlns:a16="http://schemas.microsoft.com/office/drawing/2014/main" id="{0658473E-939F-4546-9077-4802B09AE0B2}"/>
              </a:ext>
            </a:extLst>
          </p:cNvPr>
          <p:cNvSpPr/>
          <p:nvPr/>
        </p:nvSpPr>
        <p:spPr>
          <a:xfrm>
            <a:off x="6857999" y="2067281"/>
            <a:ext cx="778867" cy="2809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73D8921-ED46-4639-8AD9-35F34ACE5E95}"/>
              </a:ext>
            </a:extLst>
          </p:cNvPr>
          <p:cNvSpPr txBox="1"/>
          <p:nvPr/>
        </p:nvSpPr>
        <p:spPr>
          <a:xfrm>
            <a:off x="155482" y="6052461"/>
            <a:ext cx="2924947" cy="707886"/>
          </a:xfrm>
          <a:prstGeom prst="rect">
            <a:avLst/>
          </a:prstGeom>
          <a:noFill/>
          <a:ln w="3175">
            <a:solidFill>
              <a:schemeClr val="tx1"/>
            </a:solidFill>
          </a:ln>
        </p:spPr>
        <p:txBody>
          <a:bodyPr wrap="square" rtlCol="0">
            <a:spAutoFit/>
          </a:bodyPr>
          <a:lstStyle/>
          <a:p>
            <a:r>
              <a:rPr lang="en-US" sz="2000" dirty="0">
                <a:latin typeface="Calibri" panose="020F0502020204030204" pitchFamily="34" charset="0"/>
                <a:cs typeface="Calibri" panose="020F0502020204030204" pitchFamily="34" charset="0"/>
              </a:rPr>
              <a:t>IDE :Visual Studio Code</a:t>
            </a:r>
          </a:p>
          <a:p>
            <a:r>
              <a:rPr lang="en-US" sz="2000" dirty="0">
                <a:latin typeface="Calibri" panose="020F0502020204030204" pitchFamily="34" charset="0"/>
                <a:cs typeface="Calibri" panose="020F0502020204030204" pitchFamily="34" charset="0"/>
              </a:rPr>
              <a:t>Browser: Chrome</a:t>
            </a:r>
          </a:p>
        </p:txBody>
      </p:sp>
      <p:sp>
        <p:nvSpPr>
          <p:cNvPr id="25" name="Rectangle 24">
            <a:extLst>
              <a:ext uri="{FF2B5EF4-FFF2-40B4-BE49-F238E27FC236}">
                <a16:creationId xmlns:a16="http://schemas.microsoft.com/office/drawing/2014/main" id="{495F91BC-3074-40CF-B89E-11AECF044C6B}"/>
              </a:ext>
            </a:extLst>
          </p:cNvPr>
          <p:cNvSpPr/>
          <p:nvPr/>
        </p:nvSpPr>
        <p:spPr>
          <a:xfrm>
            <a:off x="155482" y="5721880"/>
            <a:ext cx="2924947" cy="330581"/>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S/W Requirements</a:t>
            </a:r>
            <a:endParaRPr lang="en-GB" b="1" dirty="0">
              <a:solidFill>
                <a:schemeClr val="tx2"/>
              </a:solidFill>
              <a:latin typeface="Calibri" panose="020F0502020204030204" pitchFamily="34" charset="0"/>
              <a:cs typeface="Calibri" panose="020F0502020204030204" pitchFamily="34" charset="0"/>
            </a:endParaRPr>
          </a:p>
        </p:txBody>
      </p:sp>
      <p:sp>
        <p:nvSpPr>
          <p:cNvPr id="11" name="Rectangle: Rounded Corners 10">
            <a:extLst>
              <a:ext uri="{FF2B5EF4-FFF2-40B4-BE49-F238E27FC236}">
                <a16:creationId xmlns:a16="http://schemas.microsoft.com/office/drawing/2014/main" id="{28D7266D-4E31-49C1-B67F-B4E883F679C5}"/>
              </a:ext>
            </a:extLst>
          </p:cNvPr>
          <p:cNvSpPr/>
          <p:nvPr/>
        </p:nvSpPr>
        <p:spPr>
          <a:xfrm>
            <a:off x="7641169" y="3414304"/>
            <a:ext cx="1653022" cy="8382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XML Syntax Rules</a:t>
            </a:r>
          </a:p>
        </p:txBody>
      </p:sp>
      <p:sp>
        <p:nvSpPr>
          <p:cNvPr id="6" name="Arrow: Down 5">
            <a:extLst>
              <a:ext uri="{FF2B5EF4-FFF2-40B4-BE49-F238E27FC236}">
                <a16:creationId xmlns:a16="http://schemas.microsoft.com/office/drawing/2014/main" id="{B1D22674-AF36-41D4-83E2-4AC47A8BD3F5}"/>
              </a:ext>
            </a:extLst>
          </p:cNvPr>
          <p:cNvSpPr/>
          <p:nvPr/>
        </p:nvSpPr>
        <p:spPr>
          <a:xfrm>
            <a:off x="8354439" y="2632429"/>
            <a:ext cx="217877" cy="7818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8C93E61-B309-4D4B-B8AC-730E644747A1}"/>
              </a:ext>
            </a:extLst>
          </p:cNvPr>
          <p:cNvSpPr/>
          <p:nvPr/>
        </p:nvSpPr>
        <p:spPr>
          <a:xfrm>
            <a:off x="4889411" y="3429000"/>
            <a:ext cx="1524000" cy="8382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XML Well Formness</a:t>
            </a:r>
          </a:p>
        </p:txBody>
      </p:sp>
      <p:sp>
        <p:nvSpPr>
          <p:cNvPr id="7" name="Arrow: Right 6">
            <a:extLst>
              <a:ext uri="{FF2B5EF4-FFF2-40B4-BE49-F238E27FC236}">
                <a16:creationId xmlns:a16="http://schemas.microsoft.com/office/drawing/2014/main" id="{62D3B92A-3B09-439A-AD17-8D239CB4A99D}"/>
              </a:ext>
            </a:extLst>
          </p:cNvPr>
          <p:cNvSpPr/>
          <p:nvPr/>
        </p:nvSpPr>
        <p:spPr>
          <a:xfrm flipH="1">
            <a:off x="6416181" y="3707648"/>
            <a:ext cx="1220685" cy="2809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5DAC595-3CAF-4D6D-9581-A8CF38070F6B}"/>
              </a:ext>
            </a:extLst>
          </p:cNvPr>
          <p:cNvSpPr/>
          <p:nvPr/>
        </p:nvSpPr>
        <p:spPr>
          <a:xfrm>
            <a:off x="1711948" y="3475643"/>
            <a:ext cx="1908982" cy="767637"/>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XML Namespace</a:t>
            </a:r>
          </a:p>
        </p:txBody>
      </p:sp>
      <p:sp>
        <p:nvSpPr>
          <p:cNvPr id="20" name="Arrow: Right 19">
            <a:extLst>
              <a:ext uri="{FF2B5EF4-FFF2-40B4-BE49-F238E27FC236}">
                <a16:creationId xmlns:a16="http://schemas.microsoft.com/office/drawing/2014/main" id="{784B40DE-A40A-444F-A071-27097E18D802}"/>
              </a:ext>
            </a:extLst>
          </p:cNvPr>
          <p:cNvSpPr/>
          <p:nvPr/>
        </p:nvSpPr>
        <p:spPr>
          <a:xfrm flipH="1">
            <a:off x="3628003" y="3737839"/>
            <a:ext cx="1220685" cy="2809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peech Bubble: Oval 7">
            <a:extLst>
              <a:ext uri="{FF2B5EF4-FFF2-40B4-BE49-F238E27FC236}">
                <a16:creationId xmlns:a16="http://schemas.microsoft.com/office/drawing/2014/main" id="{77A786EA-D466-4BEE-81A8-2FD818C7443C}"/>
              </a:ext>
            </a:extLst>
          </p:cNvPr>
          <p:cNvSpPr/>
          <p:nvPr/>
        </p:nvSpPr>
        <p:spPr>
          <a:xfrm>
            <a:off x="4502469" y="364143"/>
            <a:ext cx="1905000" cy="793852"/>
          </a:xfrm>
          <a:prstGeom prst="wedgeEllipseCallout">
            <a:avLst>
              <a:gd name="adj1" fmla="val -85414"/>
              <a:gd name="adj2" fmla="val 123234"/>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Provide the cheat sheet</a:t>
            </a:r>
          </a:p>
        </p:txBody>
      </p:sp>
      <p:sp>
        <p:nvSpPr>
          <p:cNvPr id="23" name="Rectangle: Rounded Corners 22">
            <a:extLst>
              <a:ext uri="{FF2B5EF4-FFF2-40B4-BE49-F238E27FC236}">
                <a16:creationId xmlns:a16="http://schemas.microsoft.com/office/drawing/2014/main" id="{F381729A-0F75-4009-821B-D2C99A37253B}"/>
              </a:ext>
            </a:extLst>
          </p:cNvPr>
          <p:cNvSpPr/>
          <p:nvPr/>
        </p:nvSpPr>
        <p:spPr>
          <a:xfrm>
            <a:off x="93955" y="1813471"/>
            <a:ext cx="1524000" cy="8382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Introduce the use case</a:t>
            </a:r>
          </a:p>
        </p:txBody>
      </p:sp>
      <p:sp>
        <p:nvSpPr>
          <p:cNvPr id="24" name="Arrow: Right 23">
            <a:extLst>
              <a:ext uri="{FF2B5EF4-FFF2-40B4-BE49-F238E27FC236}">
                <a16:creationId xmlns:a16="http://schemas.microsoft.com/office/drawing/2014/main" id="{F5D55FAA-872A-46DE-B66C-5CB6CD12FBF4}"/>
              </a:ext>
            </a:extLst>
          </p:cNvPr>
          <p:cNvSpPr/>
          <p:nvPr/>
        </p:nvSpPr>
        <p:spPr>
          <a:xfrm>
            <a:off x="1711948" y="2067282"/>
            <a:ext cx="932860" cy="2425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peech Bubble: Oval 2">
            <a:extLst>
              <a:ext uri="{FF2B5EF4-FFF2-40B4-BE49-F238E27FC236}">
                <a16:creationId xmlns:a16="http://schemas.microsoft.com/office/drawing/2014/main" id="{D32D6FB2-EB4E-43FC-9200-3429FD816EF9}"/>
              </a:ext>
            </a:extLst>
          </p:cNvPr>
          <p:cNvSpPr/>
          <p:nvPr/>
        </p:nvSpPr>
        <p:spPr>
          <a:xfrm>
            <a:off x="155481" y="3988551"/>
            <a:ext cx="1375191" cy="838201"/>
          </a:xfrm>
          <a:prstGeom prst="wedgeEllipseCallout">
            <a:avLst>
              <a:gd name="adj1" fmla="val -44927"/>
              <a:gd name="adj2" fmla="val -203285"/>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latin typeface="Body Level 1"/>
              </a:rPr>
              <a:t>Display use case</a:t>
            </a:r>
          </a:p>
        </p:txBody>
      </p:sp>
    </p:spTree>
    <p:extLst>
      <p:ext uri="{BB962C8B-B14F-4D97-AF65-F5344CB8AC3E}">
        <p14:creationId xmlns:p14="http://schemas.microsoft.com/office/powerpoint/2010/main" val="731376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BF15-3475-439A-B829-CD6B7E204EAE}"/>
              </a:ext>
            </a:extLst>
          </p:cNvPr>
          <p:cNvSpPr>
            <a:spLocks noGrp="1"/>
          </p:cNvSpPr>
          <p:nvPr>
            <p:ph type="ctrTitle"/>
          </p:nvPr>
        </p:nvSpPr>
        <p:spPr/>
        <p:txBody>
          <a:bodyPr/>
          <a:lstStyle/>
          <a:p>
            <a:r>
              <a:rPr lang="en-US" dirty="0"/>
              <a:t>Introduce the Use Case on XML</a:t>
            </a:r>
          </a:p>
        </p:txBody>
      </p:sp>
      <p:sp>
        <p:nvSpPr>
          <p:cNvPr id="3" name="Subtitle 2">
            <a:extLst>
              <a:ext uri="{FF2B5EF4-FFF2-40B4-BE49-F238E27FC236}">
                <a16:creationId xmlns:a16="http://schemas.microsoft.com/office/drawing/2014/main" id="{2965DC1F-DE34-41BA-8B44-FBCAFF6EC4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2070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1CB3F-D4AB-4FA6-B7D5-F9BE43FE7601}"/>
              </a:ext>
            </a:extLst>
          </p:cNvPr>
          <p:cNvSpPr>
            <a:spLocks noGrp="1"/>
          </p:cNvSpPr>
          <p:nvPr>
            <p:ph type="title"/>
          </p:nvPr>
        </p:nvSpPr>
        <p:spPr/>
        <p:txBody>
          <a:bodyPr/>
          <a:lstStyle/>
          <a:p>
            <a:r>
              <a:rPr lang="en-US" dirty="0"/>
              <a:t>Presenting the Use case on XML</a:t>
            </a:r>
          </a:p>
        </p:txBody>
      </p:sp>
      <p:sp>
        <p:nvSpPr>
          <p:cNvPr id="7" name="Content Placeholder 2">
            <a:extLst>
              <a:ext uri="{FF2B5EF4-FFF2-40B4-BE49-F238E27FC236}">
                <a16:creationId xmlns:a16="http://schemas.microsoft.com/office/drawing/2014/main" id="{74ECD953-6400-416A-9E9B-C3307C923E94}"/>
              </a:ext>
            </a:extLst>
          </p:cNvPr>
          <p:cNvSpPr txBox="1">
            <a:spLocks/>
          </p:cNvSpPr>
          <p:nvPr/>
        </p:nvSpPr>
        <p:spPr>
          <a:xfrm>
            <a:off x="322162" y="1147008"/>
            <a:ext cx="9520789" cy="910392"/>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Scenario: We have bank customers holding savings or current account and bank is providing them discounts in amazon shopping.  Finally we need to display the data in xml format which shows the customer details with shopping items.</a:t>
            </a:r>
          </a:p>
          <a:p>
            <a:pPr marL="0" indent="0">
              <a:buFont typeface="Arial" panose="020B0604020202020204" pitchFamily="34" charset="0"/>
              <a:buNone/>
            </a:pPr>
            <a:endParaRPr lang="en-US" dirty="0"/>
          </a:p>
        </p:txBody>
      </p:sp>
      <p:sp>
        <p:nvSpPr>
          <p:cNvPr id="8" name="Plus Sign 7">
            <a:extLst>
              <a:ext uri="{FF2B5EF4-FFF2-40B4-BE49-F238E27FC236}">
                <a16:creationId xmlns:a16="http://schemas.microsoft.com/office/drawing/2014/main" id="{2AEE9F5E-4A18-45FE-A026-1696382C7E19}"/>
              </a:ext>
            </a:extLst>
          </p:cNvPr>
          <p:cNvSpPr/>
          <p:nvPr/>
        </p:nvSpPr>
        <p:spPr>
          <a:xfrm>
            <a:off x="2143216" y="3914469"/>
            <a:ext cx="371384" cy="240576"/>
          </a:xfrm>
          <a:prstGeom prst="mathPl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quals 8">
            <a:extLst>
              <a:ext uri="{FF2B5EF4-FFF2-40B4-BE49-F238E27FC236}">
                <a16:creationId xmlns:a16="http://schemas.microsoft.com/office/drawing/2014/main" id="{032FCEBE-93BC-401F-B8A2-687F419C72EC}"/>
              </a:ext>
            </a:extLst>
          </p:cNvPr>
          <p:cNvSpPr/>
          <p:nvPr/>
        </p:nvSpPr>
        <p:spPr>
          <a:xfrm>
            <a:off x="4649102" y="3914469"/>
            <a:ext cx="476092" cy="292398"/>
          </a:xfrm>
          <a:prstGeom prst="mathEqual">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9890B388-B2A5-46B0-821D-B0C3546D2F5B}"/>
              </a:ext>
            </a:extLst>
          </p:cNvPr>
          <p:cNvPicPr>
            <a:picLocks noChangeAspect="1"/>
          </p:cNvPicPr>
          <p:nvPr/>
        </p:nvPicPr>
        <p:blipFill>
          <a:blip r:embed="rId2"/>
          <a:stretch>
            <a:fillRect/>
          </a:stretch>
        </p:blipFill>
        <p:spPr>
          <a:xfrm>
            <a:off x="5050218" y="2057400"/>
            <a:ext cx="4769933" cy="4419600"/>
          </a:xfrm>
          <a:prstGeom prst="rect">
            <a:avLst/>
          </a:prstGeom>
          <a:ln>
            <a:solidFill>
              <a:schemeClr val="tx1"/>
            </a:solidFill>
          </a:ln>
        </p:spPr>
      </p:pic>
      <p:pic>
        <p:nvPicPr>
          <p:cNvPr id="12" name="Picture 11">
            <a:extLst>
              <a:ext uri="{FF2B5EF4-FFF2-40B4-BE49-F238E27FC236}">
                <a16:creationId xmlns:a16="http://schemas.microsoft.com/office/drawing/2014/main" id="{95A641EA-EFED-43F8-9F05-155CC6388C57}"/>
              </a:ext>
            </a:extLst>
          </p:cNvPr>
          <p:cNvPicPr>
            <a:picLocks noChangeAspect="1"/>
          </p:cNvPicPr>
          <p:nvPr/>
        </p:nvPicPr>
        <p:blipFill>
          <a:blip r:embed="rId3"/>
          <a:stretch>
            <a:fillRect/>
          </a:stretch>
        </p:blipFill>
        <p:spPr>
          <a:xfrm>
            <a:off x="187005" y="2057401"/>
            <a:ext cx="4815737" cy="4419600"/>
          </a:xfrm>
          <a:prstGeom prst="rect">
            <a:avLst/>
          </a:prstGeom>
          <a:ln>
            <a:solidFill>
              <a:schemeClr val="tx1"/>
            </a:solidFill>
          </a:ln>
        </p:spPr>
      </p:pic>
    </p:spTree>
    <p:extLst>
      <p:ext uri="{BB962C8B-B14F-4D97-AF65-F5344CB8AC3E}">
        <p14:creationId xmlns:p14="http://schemas.microsoft.com/office/powerpoint/2010/main" val="3069878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D17BE-E68C-4C21-AAD7-9BE2D2418EC0}"/>
              </a:ext>
            </a:extLst>
          </p:cNvPr>
          <p:cNvSpPr>
            <a:spLocks noGrp="1"/>
          </p:cNvSpPr>
          <p:nvPr>
            <p:ph type="title"/>
          </p:nvPr>
        </p:nvSpPr>
        <p:spPr/>
        <p:txBody>
          <a:bodyPr/>
          <a:lstStyle/>
          <a:p>
            <a:r>
              <a:rPr lang="en-US" dirty="0"/>
              <a:t>Presenting the Use case on XML…</a:t>
            </a:r>
          </a:p>
        </p:txBody>
      </p:sp>
      <p:pic>
        <p:nvPicPr>
          <p:cNvPr id="4" name="Picture 3">
            <a:extLst>
              <a:ext uri="{FF2B5EF4-FFF2-40B4-BE49-F238E27FC236}">
                <a16:creationId xmlns:a16="http://schemas.microsoft.com/office/drawing/2014/main" id="{3FB4C95D-1485-4816-BD68-E91D856C59B4}"/>
              </a:ext>
            </a:extLst>
          </p:cNvPr>
          <p:cNvPicPr>
            <a:picLocks noChangeAspect="1"/>
          </p:cNvPicPr>
          <p:nvPr/>
        </p:nvPicPr>
        <p:blipFill>
          <a:blip r:embed="rId2"/>
          <a:stretch>
            <a:fillRect/>
          </a:stretch>
        </p:blipFill>
        <p:spPr>
          <a:xfrm>
            <a:off x="324090" y="1219200"/>
            <a:ext cx="7067309" cy="5479150"/>
          </a:xfrm>
          <a:prstGeom prst="rect">
            <a:avLst/>
          </a:prstGeom>
          <a:ln>
            <a:solidFill>
              <a:schemeClr val="tx1"/>
            </a:solidFill>
          </a:ln>
        </p:spPr>
      </p:pic>
    </p:spTree>
    <p:extLst>
      <p:ext uri="{BB962C8B-B14F-4D97-AF65-F5344CB8AC3E}">
        <p14:creationId xmlns:p14="http://schemas.microsoft.com/office/powerpoint/2010/main" val="1618049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BF15-3475-439A-B829-CD6B7E204EAE}"/>
              </a:ext>
            </a:extLst>
          </p:cNvPr>
          <p:cNvSpPr>
            <a:spLocks noGrp="1"/>
          </p:cNvSpPr>
          <p:nvPr>
            <p:ph type="ctrTitle"/>
          </p:nvPr>
        </p:nvSpPr>
        <p:spPr/>
        <p:txBody>
          <a:bodyPr/>
          <a:lstStyle/>
          <a:p>
            <a:r>
              <a:rPr lang="en-US" dirty="0"/>
              <a:t>XML</a:t>
            </a:r>
          </a:p>
        </p:txBody>
      </p:sp>
      <p:sp>
        <p:nvSpPr>
          <p:cNvPr id="3" name="Subtitle 2">
            <a:extLst>
              <a:ext uri="{FF2B5EF4-FFF2-40B4-BE49-F238E27FC236}">
                <a16:creationId xmlns:a16="http://schemas.microsoft.com/office/drawing/2014/main" id="{2965DC1F-DE34-41BA-8B44-FBCAFF6EC4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80510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6182F-9DC3-40A9-86E4-470DC99F58CA}"/>
              </a:ext>
            </a:extLst>
          </p:cNvPr>
          <p:cNvSpPr>
            <a:spLocks noGrp="1"/>
          </p:cNvSpPr>
          <p:nvPr>
            <p:ph type="title"/>
          </p:nvPr>
        </p:nvSpPr>
        <p:spPr/>
        <p:txBody>
          <a:bodyPr/>
          <a:lstStyle/>
          <a:p>
            <a:r>
              <a:rPr lang="en-US" dirty="0"/>
              <a:t>XML</a:t>
            </a:r>
          </a:p>
        </p:txBody>
      </p:sp>
      <p:sp>
        <p:nvSpPr>
          <p:cNvPr id="3" name="Content Placeholder 2">
            <a:extLst>
              <a:ext uri="{FF2B5EF4-FFF2-40B4-BE49-F238E27FC236}">
                <a16:creationId xmlns:a16="http://schemas.microsoft.com/office/drawing/2014/main" id="{CCBBB83A-CCDC-4D42-8551-FAD9CEA9A1FC}"/>
              </a:ext>
            </a:extLst>
          </p:cNvPr>
          <p:cNvSpPr>
            <a:spLocks noGrp="1"/>
          </p:cNvSpPr>
          <p:nvPr>
            <p:ph idx="1"/>
          </p:nvPr>
        </p:nvSpPr>
        <p:spPr>
          <a:xfrm>
            <a:off x="278332" y="1299960"/>
            <a:ext cx="4933709" cy="4646011"/>
          </a:xfrm>
        </p:spPr>
        <p:txBody>
          <a:bodyPr/>
          <a:lstStyle/>
          <a:p>
            <a:r>
              <a:rPr lang="en-US" dirty="0"/>
              <a:t>XML is a software- and hardware-independent tool for storing and transporting data.</a:t>
            </a:r>
          </a:p>
          <a:p>
            <a:r>
              <a:rPr lang="en-US" dirty="0"/>
              <a:t>XML is not a replacement for HTML.</a:t>
            </a:r>
          </a:p>
          <a:p>
            <a:r>
              <a:rPr lang="en-US" dirty="0"/>
              <a:t>XML is designed to be self-descriptive.</a:t>
            </a:r>
          </a:p>
          <a:p>
            <a:r>
              <a:rPr lang="en-US" dirty="0"/>
              <a:t>XML is designed to carry data, not to display data.</a:t>
            </a:r>
          </a:p>
          <a:p>
            <a:r>
              <a:rPr lang="en-US" dirty="0"/>
              <a:t>XML tags are not predefined. You must define your own tags.</a:t>
            </a:r>
          </a:p>
          <a:p>
            <a:r>
              <a:rPr lang="en-US" dirty="0"/>
              <a:t>XML is platform independent and language independent.</a:t>
            </a:r>
          </a:p>
          <a:p>
            <a:endParaRPr lang="en-US" dirty="0"/>
          </a:p>
        </p:txBody>
      </p:sp>
      <p:sp>
        <p:nvSpPr>
          <p:cNvPr id="7" name="TextBox 6">
            <a:extLst>
              <a:ext uri="{FF2B5EF4-FFF2-40B4-BE49-F238E27FC236}">
                <a16:creationId xmlns:a16="http://schemas.microsoft.com/office/drawing/2014/main" id="{DF83ABDB-B1F0-4507-9C2F-6D9316901739}"/>
              </a:ext>
            </a:extLst>
          </p:cNvPr>
          <p:cNvSpPr txBox="1"/>
          <p:nvPr/>
        </p:nvSpPr>
        <p:spPr>
          <a:xfrm>
            <a:off x="4321556" y="1952096"/>
            <a:ext cx="1780970" cy="369332"/>
          </a:xfrm>
          <a:prstGeom prst="rect">
            <a:avLst/>
          </a:prstGeom>
          <a:noFill/>
        </p:spPr>
        <p:txBody>
          <a:bodyPr wrap="square" rtlCol="0">
            <a:spAutoFit/>
          </a:bodyPr>
          <a:lstStyle/>
          <a:p>
            <a:r>
              <a:rPr lang="en-US" dirty="0">
                <a:latin typeface="Body Level 1"/>
              </a:rPr>
              <a:t>customers.xml</a:t>
            </a:r>
          </a:p>
        </p:txBody>
      </p:sp>
      <p:sp>
        <p:nvSpPr>
          <p:cNvPr id="8" name="TextBox 7">
            <a:extLst>
              <a:ext uri="{FF2B5EF4-FFF2-40B4-BE49-F238E27FC236}">
                <a16:creationId xmlns:a16="http://schemas.microsoft.com/office/drawing/2014/main" id="{057896F2-B2AD-457D-8BF7-584108EEA840}"/>
              </a:ext>
            </a:extLst>
          </p:cNvPr>
          <p:cNvSpPr txBox="1"/>
          <p:nvPr/>
        </p:nvSpPr>
        <p:spPr>
          <a:xfrm>
            <a:off x="3652601" y="5018544"/>
            <a:ext cx="2703583" cy="369332"/>
          </a:xfrm>
          <a:prstGeom prst="rect">
            <a:avLst/>
          </a:prstGeom>
          <a:noFill/>
        </p:spPr>
        <p:txBody>
          <a:bodyPr wrap="square" rtlCol="0">
            <a:spAutoFit/>
          </a:bodyPr>
          <a:lstStyle/>
          <a:p>
            <a:r>
              <a:rPr lang="en-US" dirty="0">
                <a:latin typeface="Body Level 1"/>
              </a:rPr>
              <a:t>XML document in browser</a:t>
            </a:r>
          </a:p>
        </p:txBody>
      </p:sp>
      <p:pic>
        <p:nvPicPr>
          <p:cNvPr id="15" name="Picture 14">
            <a:extLst>
              <a:ext uri="{FF2B5EF4-FFF2-40B4-BE49-F238E27FC236}">
                <a16:creationId xmlns:a16="http://schemas.microsoft.com/office/drawing/2014/main" id="{EF66C3B2-58B1-4776-B259-8308160C558B}"/>
              </a:ext>
            </a:extLst>
          </p:cNvPr>
          <p:cNvPicPr>
            <a:picLocks noChangeAspect="1"/>
          </p:cNvPicPr>
          <p:nvPr/>
        </p:nvPicPr>
        <p:blipFill>
          <a:blip r:embed="rId3"/>
          <a:stretch>
            <a:fillRect/>
          </a:stretch>
        </p:blipFill>
        <p:spPr>
          <a:xfrm>
            <a:off x="5873804" y="1142527"/>
            <a:ext cx="3963038" cy="2781080"/>
          </a:xfrm>
          <a:prstGeom prst="rect">
            <a:avLst/>
          </a:prstGeom>
          <a:ln>
            <a:solidFill>
              <a:schemeClr val="tx1"/>
            </a:solidFill>
          </a:ln>
        </p:spPr>
      </p:pic>
      <p:pic>
        <p:nvPicPr>
          <p:cNvPr id="16" name="Picture 15">
            <a:extLst>
              <a:ext uri="{FF2B5EF4-FFF2-40B4-BE49-F238E27FC236}">
                <a16:creationId xmlns:a16="http://schemas.microsoft.com/office/drawing/2014/main" id="{D2CF007C-04CE-474F-9BC6-F839CD20C87C}"/>
              </a:ext>
            </a:extLst>
          </p:cNvPr>
          <p:cNvPicPr>
            <a:picLocks noChangeAspect="1"/>
          </p:cNvPicPr>
          <p:nvPr/>
        </p:nvPicPr>
        <p:blipFill>
          <a:blip r:embed="rId4"/>
          <a:stretch>
            <a:fillRect/>
          </a:stretch>
        </p:blipFill>
        <p:spPr>
          <a:xfrm>
            <a:off x="5873804" y="3826806"/>
            <a:ext cx="3981450" cy="2705100"/>
          </a:xfrm>
          <a:prstGeom prst="rect">
            <a:avLst/>
          </a:prstGeom>
          <a:ln>
            <a:solidFill>
              <a:schemeClr val="tx1"/>
            </a:solidFill>
          </a:ln>
        </p:spPr>
      </p:pic>
    </p:spTree>
    <p:extLst>
      <p:ext uri="{BB962C8B-B14F-4D97-AF65-F5344CB8AC3E}">
        <p14:creationId xmlns:p14="http://schemas.microsoft.com/office/powerpoint/2010/main" val="2196408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FB4F3-0ECB-4263-8026-A7CB0E2DDF81}"/>
              </a:ext>
            </a:extLst>
          </p:cNvPr>
          <p:cNvSpPr>
            <a:spLocks noGrp="1"/>
          </p:cNvSpPr>
          <p:nvPr>
            <p:ph type="title"/>
          </p:nvPr>
        </p:nvSpPr>
        <p:spPr/>
        <p:txBody>
          <a:bodyPr/>
          <a:lstStyle/>
          <a:p>
            <a:r>
              <a:rPr lang="en-US" dirty="0"/>
              <a:t>XML Element</a:t>
            </a:r>
          </a:p>
        </p:txBody>
      </p:sp>
      <p:sp>
        <p:nvSpPr>
          <p:cNvPr id="3" name="Content Placeholder 2">
            <a:extLst>
              <a:ext uri="{FF2B5EF4-FFF2-40B4-BE49-F238E27FC236}">
                <a16:creationId xmlns:a16="http://schemas.microsoft.com/office/drawing/2014/main" id="{7F67D0DE-6C0B-41BE-9988-402B0725D68E}"/>
              </a:ext>
            </a:extLst>
          </p:cNvPr>
          <p:cNvSpPr>
            <a:spLocks noGrp="1"/>
          </p:cNvSpPr>
          <p:nvPr>
            <p:ph idx="1"/>
          </p:nvPr>
        </p:nvSpPr>
        <p:spPr>
          <a:xfrm>
            <a:off x="324091" y="1323000"/>
            <a:ext cx="9259747" cy="5335199"/>
          </a:xfrm>
        </p:spPr>
        <p:txBody>
          <a:bodyPr>
            <a:normAutofit/>
          </a:bodyPr>
          <a:lstStyle/>
          <a:p>
            <a:r>
              <a:rPr lang="en-US" dirty="0"/>
              <a:t>An XML doc starts at a </a:t>
            </a:r>
            <a:r>
              <a:rPr lang="en-US" b="1" dirty="0"/>
              <a:t>root element</a:t>
            </a:r>
            <a:r>
              <a:rPr lang="en-US" dirty="0"/>
              <a:t> and branches from the root to </a:t>
            </a:r>
            <a:r>
              <a:rPr lang="en-US" b="1" dirty="0"/>
              <a:t>child elements</a:t>
            </a:r>
            <a:r>
              <a:rPr lang="en-US" dirty="0"/>
              <a:t>.</a:t>
            </a:r>
          </a:p>
          <a:p>
            <a:r>
              <a:rPr lang="en-US" dirty="0"/>
              <a:t>All elements can have sub elements (child elements). The terms parent, child, and sibling are used to describe the relationships between elements.</a:t>
            </a:r>
          </a:p>
          <a:p>
            <a:r>
              <a:rPr lang="en-US" dirty="0"/>
              <a:t>An XML element is everything from (including) the element's start tag to (including) the element's end tag. In this example </a:t>
            </a:r>
            <a:r>
              <a:rPr lang="en-US" dirty="0" err="1"/>
              <a:t>custid</a:t>
            </a:r>
            <a:r>
              <a:rPr lang="en-US" dirty="0"/>
              <a:t>, </a:t>
            </a:r>
            <a:r>
              <a:rPr lang="en-US" dirty="0" err="1"/>
              <a:t>firstname</a:t>
            </a:r>
            <a:r>
              <a:rPr lang="en-US" dirty="0"/>
              <a:t>                                                                                    and </a:t>
            </a:r>
            <a:r>
              <a:rPr lang="en-US" dirty="0" err="1"/>
              <a:t>lastname</a:t>
            </a:r>
            <a:r>
              <a:rPr lang="en-US" dirty="0"/>
              <a:t> are elements.</a:t>
            </a:r>
          </a:p>
          <a:p>
            <a:r>
              <a:rPr lang="en-US" dirty="0"/>
              <a:t>Element can contain:</a:t>
            </a:r>
          </a:p>
          <a:p>
            <a:pPr lvl="1"/>
            <a:r>
              <a:rPr lang="en-US" dirty="0"/>
              <a:t>text</a:t>
            </a:r>
          </a:p>
          <a:p>
            <a:pPr lvl="1"/>
            <a:r>
              <a:rPr lang="en-US" dirty="0"/>
              <a:t>attributes</a:t>
            </a:r>
          </a:p>
          <a:p>
            <a:pPr lvl="1"/>
            <a:r>
              <a:rPr lang="en-US" dirty="0"/>
              <a:t>other elements</a:t>
            </a:r>
          </a:p>
          <a:p>
            <a:pPr lvl="1"/>
            <a:r>
              <a:rPr lang="en-US" dirty="0"/>
              <a:t>or a mix of the above</a:t>
            </a:r>
          </a:p>
          <a:p>
            <a:r>
              <a:rPr lang="en-US" dirty="0"/>
              <a:t>Element with no content is said to be empty and it can have attributes.</a:t>
            </a:r>
          </a:p>
          <a:p>
            <a:r>
              <a:rPr lang="en-US" dirty="0"/>
              <a:t>Element names are case-sensitive</a:t>
            </a:r>
          </a:p>
          <a:p>
            <a:r>
              <a:rPr lang="en-US" dirty="0"/>
              <a:t>Element names must start with a letter or underscore</a:t>
            </a:r>
          </a:p>
          <a:p>
            <a:r>
              <a:rPr lang="en-US" dirty="0"/>
              <a:t>Element names cannot contain spaces</a:t>
            </a:r>
          </a:p>
          <a:p>
            <a:pPr marL="0" indent="0">
              <a:buNone/>
            </a:pPr>
            <a:endParaRPr lang="en-US" dirty="0"/>
          </a:p>
        </p:txBody>
      </p:sp>
      <p:pic>
        <p:nvPicPr>
          <p:cNvPr id="6" name="Picture 5">
            <a:extLst>
              <a:ext uri="{FF2B5EF4-FFF2-40B4-BE49-F238E27FC236}">
                <a16:creationId xmlns:a16="http://schemas.microsoft.com/office/drawing/2014/main" id="{71EF4C81-4155-41F9-99A7-4822578FF05C}"/>
              </a:ext>
            </a:extLst>
          </p:cNvPr>
          <p:cNvPicPr>
            <a:picLocks noChangeAspect="1"/>
          </p:cNvPicPr>
          <p:nvPr/>
        </p:nvPicPr>
        <p:blipFill>
          <a:blip r:embed="rId2"/>
          <a:stretch>
            <a:fillRect/>
          </a:stretch>
        </p:blipFill>
        <p:spPr>
          <a:xfrm>
            <a:off x="6172200" y="2667000"/>
            <a:ext cx="2886075" cy="1524000"/>
          </a:xfrm>
          <a:prstGeom prst="rect">
            <a:avLst/>
          </a:prstGeom>
          <a:ln>
            <a:solidFill>
              <a:schemeClr val="tx1"/>
            </a:solidFill>
          </a:ln>
        </p:spPr>
      </p:pic>
    </p:spTree>
    <p:extLst>
      <p:ext uri="{BB962C8B-B14F-4D97-AF65-F5344CB8AC3E}">
        <p14:creationId xmlns:p14="http://schemas.microsoft.com/office/powerpoint/2010/main" val="1262295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64FBC-B8A6-4D46-8377-B7D7C30C1C7D}"/>
              </a:ext>
            </a:extLst>
          </p:cNvPr>
          <p:cNvSpPr>
            <a:spLocks noGrp="1"/>
          </p:cNvSpPr>
          <p:nvPr>
            <p:ph type="title"/>
          </p:nvPr>
        </p:nvSpPr>
        <p:spPr/>
        <p:txBody>
          <a:bodyPr/>
          <a:lstStyle/>
          <a:p>
            <a:r>
              <a:rPr lang="en-US" dirty="0"/>
              <a:t>XML Attributes</a:t>
            </a:r>
          </a:p>
        </p:txBody>
      </p:sp>
      <p:sp>
        <p:nvSpPr>
          <p:cNvPr id="3" name="Content Placeholder 2">
            <a:extLst>
              <a:ext uri="{FF2B5EF4-FFF2-40B4-BE49-F238E27FC236}">
                <a16:creationId xmlns:a16="http://schemas.microsoft.com/office/drawing/2014/main" id="{D4E93675-FB08-4F3F-A7F5-B263E59BB59D}"/>
              </a:ext>
            </a:extLst>
          </p:cNvPr>
          <p:cNvSpPr>
            <a:spLocks noGrp="1"/>
          </p:cNvSpPr>
          <p:nvPr>
            <p:ph idx="1"/>
          </p:nvPr>
        </p:nvSpPr>
        <p:spPr/>
        <p:txBody>
          <a:bodyPr/>
          <a:lstStyle/>
          <a:p>
            <a:r>
              <a:rPr lang="en-US" dirty="0"/>
              <a:t>Attributes are designed to contain data related to a specific element.</a:t>
            </a:r>
          </a:p>
          <a:p>
            <a:r>
              <a:rPr lang="en-US" dirty="0"/>
              <a:t>Attribute values must always be quoted. Either single or double quotes can be used.</a:t>
            </a:r>
          </a:p>
          <a:p>
            <a:r>
              <a:rPr lang="en-US" dirty="0"/>
              <a:t>Single element can have multiple attributes but that’s not a good practice.</a:t>
            </a:r>
          </a:p>
          <a:p>
            <a:r>
              <a:rPr lang="en-US" dirty="0"/>
              <a:t>XML elements vs attributes:  In the first example gender is an attribute. In the last, gender is an element. Both examples provide the same information.</a:t>
            </a:r>
          </a:p>
          <a:p>
            <a:r>
              <a:rPr lang="en-US" dirty="0"/>
              <a:t>There are no rules about when to use attributes or when to use elements in XML.</a:t>
            </a:r>
          </a:p>
          <a:p>
            <a:endParaRPr lang="en-US" dirty="0"/>
          </a:p>
          <a:p>
            <a:endParaRPr lang="en-US" dirty="0"/>
          </a:p>
        </p:txBody>
      </p:sp>
      <p:pic>
        <p:nvPicPr>
          <p:cNvPr id="4" name="Picture 3">
            <a:extLst>
              <a:ext uri="{FF2B5EF4-FFF2-40B4-BE49-F238E27FC236}">
                <a16:creationId xmlns:a16="http://schemas.microsoft.com/office/drawing/2014/main" id="{CC66BC19-7B8A-47F2-8FAA-D7A71BE01F26}"/>
              </a:ext>
            </a:extLst>
          </p:cNvPr>
          <p:cNvPicPr>
            <a:picLocks noChangeAspect="1"/>
          </p:cNvPicPr>
          <p:nvPr/>
        </p:nvPicPr>
        <p:blipFill>
          <a:blip r:embed="rId2"/>
          <a:stretch>
            <a:fillRect/>
          </a:stretch>
        </p:blipFill>
        <p:spPr>
          <a:xfrm>
            <a:off x="763931" y="3657600"/>
            <a:ext cx="4220889" cy="1236422"/>
          </a:xfrm>
          <a:prstGeom prst="rect">
            <a:avLst/>
          </a:prstGeom>
          <a:ln>
            <a:solidFill>
              <a:schemeClr val="tx1"/>
            </a:solidFill>
          </a:ln>
        </p:spPr>
      </p:pic>
      <p:pic>
        <p:nvPicPr>
          <p:cNvPr id="5" name="Picture 4">
            <a:extLst>
              <a:ext uri="{FF2B5EF4-FFF2-40B4-BE49-F238E27FC236}">
                <a16:creationId xmlns:a16="http://schemas.microsoft.com/office/drawing/2014/main" id="{A42602E2-E4C0-4C63-963D-D2C8D7B6CE64}"/>
              </a:ext>
            </a:extLst>
          </p:cNvPr>
          <p:cNvPicPr>
            <a:picLocks noChangeAspect="1"/>
          </p:cNvPicPr>
          <p:nvPr/>
        </p:nvPicPr>
        <p:blipFill>
          <a:blip r:embed="rId3"/>
          <a:stretch>
            <a:fillRect/>
          </a:stretch>
        </p:blipFill>
        <p:spPr>
          <a:xfrm>
            <a:off x="5562600" y="3657600"/>
            <a:ext cx="3505200" cy="1236423"/>
          </a:xfrm>
          <a:prstGeom prst="rect">
            <a:avLst/>
          </a:prstGeom>
          <a:ln>
            <a:solidFill>
              <a:schemeClr val="tx1"/>
            </a:solidFill>
          </a:ln>
        </p:spPr>
      </p:pic>
    </p:spTree>
    <p:extLst>
      <p:ext uri="{BB962C8B-B14F-4D97-AF65-F5344CB8AC3E}">
        <p14:creationId xmlns:p14="http://schemas.microsoft.com/office/powerpoint/2010/main" val="3535295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EFB57-7D9B-4F5F-A3A8-34B9B60C670E}"/>
              </a:ext>
            </a:extLst>
          </p:cNvPr>
          <p:cNvSpPr>
            <a:spLocks noGrp="1"/>
          </p:cNvSpPr>
          <p:nvPr>
            <p:ph type="title"/>
          </p:nvPr>
        </p:nvSpPr>
        <p:spPr/>
        <p:txBody>
          <a:bodyPr/>
          <a:lstStyle/>
          <a:p>
            <a:r>
              <a:rPr lang="en-US" dirty="0"/>
              <a:t>XML Syntax Rules</a:t>
            </a:r>
          </a:p>
        </p:txBody>
      </p:sp>
      <p:sp>
        <p:nvSpPr>
          <p:cNvPr id="3" name="Content Placeholder 2">
            <a:extLst>
              <a:ext uri="{FF2B5EF4-FFF2-40B4-BE49-F238E27FC236}">
                <a16:creationId xmlns:a16="http://schemas.microsoft.com/office/drawing/2014/main" id="{6D3B8689-40F6-4174-B77F-5063B165D869}"/>
              </a:ext>
            </a:extLst>
          </p:cNvPr>
          <p:cNvSpPr>
            <a:spLocks noGrp="1"/>
          </p:cNvSpPr>
          <p:nvPr>
            <p:ph idx="1"/>
          </p:nvPr>
        </p:nvSpPr>
        <p:spPr/>
        <p:txBody>
          <a:bodyPr/>
          <a:lstStyle/>
          <a:p>
            <a:r>
              <a:rPr lang="en-US" dirty="0"/>
              <a:t>XML Documents Must Have a Root Element</a:t>
            </a:r>
          </a:p>
          <a:p>
            <a:r>
              <a:rPr lang="en-US" dirty="0"/>
              <a:t>The XML prolog is optional. If it exists, it must come first                                                       </a:t>
            </a:r>
          </a:p>
          <a:p>
            <a:pPr marL="0" indent="0">
              <a:buNone/>
            </a:pPr>
            <a:r>
              <a:rPr lang="en-US" dirty="0"/>
              <a:t>     in the document.</a:t>
            </a:r>
          </a:p>
          <a:p>
            <a:r>
              <a:rPr lang="en-US" dirty="0"/>
              <a:t>XML tags are case sensitive. The tag &lt;Book&gt; is different from the tag &lt;book&gt;.</a:t>
            </a:r>
          </a:p>
          <a:p>
            <a:r>
              <a:rPr lang="en-US" dirty="0"/>
              <a:t>In XML, all elements </a:t>
            </a:r>
            <a:r>
              <a:rPr lang="en-US" b="1" dirty="0"/>
              <a:t>must</a:t>
            </a:r>
            <a:r>
              <a:rPr lang="en-US" dirty="0"/>
              <a:t> be properly nested within each other.</a:t>
            </a:r>
          </a:p>
          <a:p>
            <a:r>
              <a:rPr lang="en-US" dirty="0"/>
              <a:t>In XML, the attribute values must always be quoted.</a:t>
            </a:r>
          </a:p>
          <a:p>
            <a:r>
              <a:rPr lang="en-US" dirty="0"/>
              <a:t>XML does not truncate multiple white-spaces (HTML truncates multiple white-spaces to one single white-space).</a:t>
            </a:r>
          </a:p>
          <a:p>
            <a:endParaRPr lang="en-US" dirty="0"/>
          </a:p>
          <a:p>
            <a:endParaRPr lang="en-US" dirty="0"/>
          </a:p>
        </p:txBody>
      </p:sp>
      <p:pic>
        <p:nvPicPr>
          <p:cNvPr id="5" name="Picture 4">
            <a:extLst>
              <a:ext uri="{FF2B5EF4-FFF2-40B4-BE49-F238E27FC236}">
                <a16:creationId xmlns:a16="http://schemas.microsoft.com/office/drawing/2014/main" id="{ADE8F220-76F4-40BE-8609-3968F2EC12BC}"/>
              </a:ext>
            </a:extLst>
          </p:cNvPr>
          <p:cNvPicPr>
            <a:picLocks noChangeAspect="1"/>
          </p:cNvPicPr>
          <p:nvPr/>
        </p:nvPicPr>
        <p:blipFill>
          <a:blip r:embed="rId2"/>
          <a:stretch>
            <a:fillRect/>
          </a:stretch>
        </p:blipFill>
        <p:spPr>
          <a:xfrm>
            <a:off x="6172825" y="1676400"/>
            <a:ext cx="3381375" cy="228600"/>
          </a:xfrm>
          <a:prstGeom prst="rect">
            <a:avLst/>
          </a:prstGeom>
          <a:ln>
            <a:solidFill>
              <a:schemeClr val="tx1"/>
            </a:solidFill>
          </a:ln>
        </p:spPr>
      </p:pic>
    </p:spTree>
    <p:extLst>
      <p:ext uri="{BB962C8B-B14F-4D97-AF65-F5344CB8AC3E}">
        <p14:creationId xmlns:p14="http://schemas.microsoft.com/office/powerpoint/2010/main" val="1260935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46B0E-DCBD-4A4A-973D-885B429EB01F}"/>
              </a:ext>
            </a:extLst>
          </p:cNvPr>
          <p:cNvSpPr>
            <a:spLocks noGrp="1"/>
          </p:cNvSpPr>
          <p:nvPr>
            <p:ph type="title"/>
          </p:nvPr>
        </p:nvSpPr>
        <p:spPr/>
        <p:txBody>
          <a:bodyPr/>
          <a:lstStyle/>
          <a:p>
            <a:r>
              <a:rPr lang="en-US" dirty="0"/>
              <a:t>Well Formness of XML</a:t>
            </a:r>
          </a:p>
        </p:txBody>
      </p:sp>
      <p:sp>
        <p:nvSpPr>
          <p:cNvPr id="3" name="Content Placeholder 2">
            <a:extLst>
              <a:ext uri="{FF2B5EF4-FFF2-40B4-BE49-F238E27FC236}">
                <a16:creationId xmlns:a16="http://schemas.microsoft.com/office/drawing/2014/main" id="{C147187C-3A24-4F14-B78D-AEED43CF76B7}"/>
              </a:ext>
            </a:extLst>
          </p:cNvPr>
          <p:cNvSpPr>
            <a:spLocks noGrp="1"/>
          </p:cNvSpPr>
          <p:nvPr>
            <p:ph idx="1"/>
          </p:nvPr>
        </p:nvSpPr>
        <p:spPr/>
        <p:txBody>
          <a:bodyPr/>
          <a:lstStyle/>
          <a:p>
            <a:r>
              <a:rPr lang="en-US" dirty="0"/>
              <a:t>Well Formness of XML is something if XML follows the syntax rules. </a:t>
            </a:r>
          </a:p>
          <a:p>
            <a:r>
              <a:rPr lang="en-US" dirty="0"/>
              <a:t>To check whether XML is well formed or not, please open XML in the browser. If you are able to open successfully XML is well formed else you will get the error.</a:t>
            </a:r>
          </a:p>
          <a:p>
            <a:endParaRPr lang="en-US" dirty="0"/>
          </a:p>
        </p:txBody>
      </p:sp>
      <p:sp>
        <p:nvSpPr>
          <p:cNvPr id="10" name="TextBox 9">
            <a:extLst>
              <a:ext uri="{FF2B5EF4-FFF2-40B4-BE49-F238E27FC236}">
                <a16:creationId xmlns:a16="http://schemas.microsoft.com/office/drawing/2014/main" id="{F2B264C9-C59C-446A-A439-4049CAE714A4}"/>
              </a:ext>
            </a:extLst>
          </p:cNvPr>
          <p:cNvSpPr txBox="1"/>
          <p:nvPr/>
        </p:nvSpPr>
        <p:spPr>
          <a:xfrm>
            <a:off x="6096000" y="4335157"/>
            <a:ext cx="1981200" cy="369332"/>
          </a:xfrm>
          <a:prstGeom prst="rect">
            <a:avLst/>
          </a:prstGeom>
          <a:noFill/>
        </p:spPr>
        <p:txBody>
          <a:bodyPr wrap="square" rtlCol="0">
            <a:spAutoFit/>
          </a:bodyPr>
          <a:lstStyle/>
          <a:p>
            <a:r>
              <a:rPr lang="en-US" dirty="0">
                <a:latin typeface="Body Level 1"/>
              </a:rPr>
              <a:t>Output in browser</a:t>
            </a:r>
          </a:p>
        </p:txBody>
      </p:sp>
      <p:pic>
        <p:nvPicPr>
          <p:cNvPr id="11" name="Picture 10">
            <a:extLst>
              <a:ext uri="{FF2B5EF4-FFF2-40B4-BE49-F238E27FC236}">
                <a16:creationId xmlns:a16="http://schemas.microsoft.com/office/drawing/2014/main" id="{11CA9CA1-A3FB-4697-908A-23A5AD20576F}"/>
              </a:ext>
            </a:extLst>
          </p:cNvPr>
          <p:cNvPicPr>
            <a:picLocks noChangeAspect="1"/>
          </p:cNvPicPr>
          <p:nvPr/>
        </p:nvPicPr>
        <p:blipFill>
          <a:blip r:embed="rId2"/>
          <a:stretch>
            <a:fillRect/>
          </a:stretch>
        </p:blipFill>
        <p:spPr>
          <a:xfrm>
            <a:off x="89708" y="2535952"/>
            <a:ext cx="3855244" cy="3102847"/>
          </a:xfrm>
          <a:prstGeom prst="rect">
            <a:avLst/>
          </a:prstGeom>
          <a:ln>
            <a:solidFill>
              <a:schemeClr val="tx1"/>
            </a:solidFill>
          </a:ln>
        </p:spPr>
      </p:pic>
      <p:sp>
        <p:nvSpPr>
          <p:cNvPr id="9" name="Speech Bubble: Oval 8">
            <a:extLst>
              <a:ext uri="{FF2B5EF4-FFF2-40B4-BE49-F238E27FC236}">
                <a16:creationId xmlns:a16="http://schemas.microsoft.com/office/drawing/2014/main" id="{4484D0D9-959C-4347-8D8F-74D1A14BEC53}"/>
              </a:ext>
            </a:extLst>
          </p:cNvPr>
          <p:cNvSpPr/>
          <p:nvPr/>
        </p:nvSpPr>
        <p:spPr>
          <a:xfrm>
            <a:off x="1600200" y="5534999"/>
            <a:ext cx="2895600" cy="1056213"/>
          </a:xfrm>
          <a:prstGeom prst="wedgeEllipseCallout">
            <a:avLst>
              <a:gd name="adj1" fmla="val -68775"/>
              <a:gd name="adj2" fmla="val -74098"/>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balance is mis-spelled </a:t>
            </a:r>
          </a:p>
        </p:txBody>
      </p:sp>
      <p:pic>
        <p:nvPicPr>
          <p:cNvPr id="12" name="Picture 11">
            <a:extLst>
              <a:ext uri="{FF2B5EF4-FFF2-40B4-BE49-F238E27FC236}">
                <a16:creationId xmlns:a16="http://schemas.microsoft.com/office/drawing/2014/main" id="{27EBF860-38C7-4839-A06A-BB62F088AA17}"/>
              </a:ext>
            </a:extLst>
          </p:cNvPr>
          <p:cNvPicPr>
            <a:picLocks noChangeAspect="1"/>
          </p:cNvPicPr>
          <p:nvPr/>
        </p:nvPicPr>
        <p:blipFill>
          <a:blip r:embed="rId3"/>
          <a:stretch>
            <a:fillRect/>
          </a:stretch>
        </p:blipFill>
        <p:spPr>
          <a:xfrm>
            <a:off x="4088953" y="2535953"/>
            <a:ext cx="5712099" cy="1747335"/>
          </a:xfrm>
          <a:prstGeom prst="rect">
            <a:avLst/>
          </a:prstGeom>
          <a:ln>
            <a:solidFill>
              <a:schemeClr val="tx1"/>
            </a:solidFill>
          </a:ln>
        </p:spPr>
      </p:pic>
    </p:spTree>
    <p:extLst>
      <p:ext uri="{BB962C8B-B14F-4D97-AF65-F5344CB8AC3E}">
        <p14:creationId xmlns:p14="http://schemas.microsoft.com/office/powerpoint/2010/main" val="3132657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A698-64EC-4B9E-ADFB-73B5CE418AE1}"/>
              </a:ext>
            </a:extLst>
          </p:cNvPr>
          <p:cNvSpPr>
            <a:spLocks noGrp="1"/>
          </p:cNvSpPr>
          <p:nvPr>
            <p:ph type="title"/>
          </p:nvPr>
        </p:nvSpPr>
        <p:spPr/>
        <p:txBody>
          <a:bodyPr/>
          <a:lstStyle/>
          <a:p>
            <a:r>
              <a:rPr lang="en-US" dirty="0"/>
              <a:t>XML Namespace</a:t>
            </a:r>
          </a:p>
        </p:txBody>
      </p:sp>
      <p:sp>
        <p:nvSpPr>
          <p:cNvPr id="3" name="Content Placeholder 2">
            <a:extLst>
              <a:ext uri="{FF2B5EF4-FFF2-40B4-BE49-F238E27FC236}">
                <a16:creationId xmlns:a16="http://schemas.microsoft.com/office/drawing/2014/main" id="{706953DA-C9AD-4CC1-85D7-8A622E4C4EAE}"/>
              </a:ext>
            </a:extLst>
          </p:cNvPr>
          <p:cNvSpPr>
            <a:spLocks noGrp="1"/>
          </p:cNvSpPr>
          <p:nvPr>
            <p:ph idx="1"/>
          </p:nvPr>
        </p:nvSpPr>
        <p:spPr>
          <a:xfrm>
            <a:off x="324091" y="1323001"/>
            <a:ext cx="9259747" cy="4847010"/>
          </a:xfrm>
        </p:spPr>
        <p:txBody>
          <a:bodyPr/>
          <a:lstStyle/>
          <a:p>
            <a:r>
              <a:rPr lang="en-US" dirty="0"/>
              <a:t>XML Namespaces provide a method to avoid element name conflicts.</a:t>
            </a:r>
          </a:p>
          <a:p>
            <a:r>
              <a:rPr lang="en-US" dirty="0"/>
              <a:t>In XML, element names are defined by the developer. This often results in a conflict when trying to mix XML documents from different XML applications.</a:t>
            </a:r>
          </a:p>
          <a:p>
            <a:r>
              <a:rPr lang="en-US" dirty="0"/>
              <a:t>Suppose we are getting customer data in </a:t>
            </a:r>
            <a:r>
              <a:rPr lang="en-US" dirty="0" err="1"/>
              <a:t>xmls</a:t>
            </a:r>
            <a:r>
              <a:rPr lang="en-US" dirty="0"/>
              <a:t> from different places like bank customers and shopping customers then both XML’s will be having the common set of elements like: </a:t>
            </a:r>
            <a:r>
              <a:rPr lang="en-US" dirty="0" err="1"/>
              <a:t>firstname</a:t>
            </a:r>
            <a:r>
              <a:rPr lang="en-US" dirty="0"/>
              <a:t>, </a:t>
            </a:r>
            <a:r>
              <a:rPr lang="en-US" dirty="0" err="1"/>
              <a:t>lastname</a:t>
            </a:r>
            <a:r>
              <a:rPr lang="en-US" dirty="0"/>
              <a:t>. To differentiate both XML data we do need </a:t>
            </a:r>
            <a:r>
              <a:rPr lang="en-US" dirty="0" err="1"/>
              <a:t>namepspace</a:t>
            </a:r>
            <a:r>
              <a:rPr lang="en-US" dirty="0"/>
              <a:t>.</a:t>
            </a:r>
          </a:p>
          <a:p>
            <a:r>
              <a:rPr lang="en-US" dirty="0"/>
              <a:t>Syntax:</a:t>
            </a:r>
          </a:p>
          <a:p>
            <a:pPr marL="0" indent="0">
              <a:buNone/>
            </a:pPr>
            <a:r>
              <a:rPr lang="en-US" dirty="0"/>
              <a:t>&lt;element </a:t>
            </a:r>
            <a:r>
              <a:rPr lang="en-US" dirty="0" err="1"/>
              <a:t>xmlns:prefix</a:t>
            </a:r>
            <a:r>
              <a:rPr lang="en-US" dirty="0"/>
              <a:t>=“</a:t>
            </a:r>
            <a:r>
              <a:rPr lang="en-US" dirty="0" err="1"/>
              <a:t>namespaceidentifier</a:t>
            </a:r>
            <a:r>
              <a:rPr lang="en-US" dirty="0"/>
              <a:t>”</a:t>
            </a:r>
          </a:p>
          <a:p>
            <a:pPr marL="0" indent="0">
              <a:buNone/>
            </a:pPr>
            <a:r>
              <a:rPr lang="en-US" dirty="0"/>
              <a:t>	</a:t>
            </a:r>
          </a:p>
          <a:p>
            <a:endParaRPr lang="en-US" dirty="0"/>
          </a:p>
          <a:p>
            <a:endParaRPr lang="en-US" dirty="0"/>
          </a:p>
          <a:p>
            <a:endParaRPr lang="en-US" dirty="0"/>
          </a:p>
          <a:p>
            <a:r>
              <a:rPr lang="en-US" dirty="0"/>
              <a:t>A </a:t>
            </a:r>
            <a:r>
              <a:rPr lang="en-US" b="1" dirty="0"/>
              <a:t>Uniform Resource Identifier</a:t>
            </a:r>
            <a:r>
              <a:rPr lang="en-US" dirty="0"/>
              <a:t> (URI) is a                                                                                                       string of characters which identifies an                                                                                               Internet Resource.</a:t>
            </a:r>
          </a:p>
        </p:txBody>
      </p:sp>
      <p:pic>
        <p:nvPicPr>
          <p:cNvPr id="4" name="Picture 3">
            <a:extLst>
              <a:ext uri="{FF2B5EF4-FFF2-40B4-BE49-F238E27FC236}">
                <a16:creationId xmlns:a16="http://schemas.microsoft.com/office/drawing/2014/main" id="{A876FD3A-CD0D-439A-9689-880C94453680}"/>
              </a:ext>
            </a:extLst>
          </p:cNvPr>
          <p:cNvPicPr>
            <a:picLocks noChangeAspect="1"/>
          </p:cNvPicPr>
          <p:nvPr/>
        </p:nvPicPr>
        <p:blipFill>
          <a:blip r:embed="rId2"/>
          <a:stretch>
            <a:fillRect/>
          </a:stretch>
        </p:blipFill>
        <p:spPr>
          <a:xfrm>
            <a:off x="4953000" y="3133638"/>
            <a:ext cx="4810125" cy="3351392"/>
          </a:xfrm>
          <a:prstGeom prst="rect">
            <a:avLst/>
          </a:prstGeom>
          <a:ln>
            <a:solidFill>
              <a:schemeClr val="tx1"/>
            </a:solidFill>
          </a:ln>
        </p:spPr>
      </p:pic>
      <p:cxnSp>
        <p:nvCxnSpPr>
          <p:cNvPr id="7" name="Straight Arrow Connector 6">
            <a:extLst>
              <a:ext uri="{FF2B5EF4-FFF2-40B4-BE49-F238E27FC236}">
                <a16:creationId xmlns:a16="http://schemas.microsoft.com/office/drawing/2014/main" id="{2D809634-CBF5-404F-897C-9BE29F72AA5A}"/>
              </a:ext>
            </a:extLst>
          </p:cNvPr>
          <p:cNvCxnSpPr/>
          <p:nvPr/>
        </p:nvCxnSpPr>
        <p:spPr>
          <a:xfrm flipV="1">
            <a:off x="1828800" y="3746506"/>
            <a:ext cx="304800" cy="1062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9F4FB34-D085-4C83-B73B-FA0EAAFCBA28}"/>
              </a:ext>
            </a:extLst>
          </p:cNvPr>
          <p:cNvSpPr txBox="1"/>
          <p:nvPr/>
        </p:nvSpPr>
        <p:spPr>
          <a:xfrm>
            <a:off x="142875" y="4809334"/>
            <a:ext cx="1990725" cy="369332"/>
          </a:xfrm>
          <a:prstGeom prst="rect">
            <a:avLst/>
          </a:prstGeom>
          <a:noFill/>
        </p:spPr>
        <p:txBody>
          <a:bodyPr wrap="square" rtlCol="0">
            <a:spAutoFit/>
          </a:bodyPr>
          <a:lstStyle/>
          <a:p>
            <a:r>
              <a:rPr lang="en-US" dirty="0">
                <a:latin typeface="Body Level 1"/>
              </a:rPr>
              <a:t>Any arbitrary string</a:t>
            </a:r>
          </a:p>
        </p:txBody>
      </p:sp>
      <p:sp>
        <p:nvSpPr>
          <p:cNvPr id="9" name="TextBox 8">
            <a:extLst>
              <a:ext uri="{FF2B5EF4-FFF2-40B4-BE49-F238E27FC236}">
                <a16:creationId xmlns:a16="http://schemas.microsoft.com/office/drawing/2014/main" id="{4A0653A0-D832-4C47-9580-9D56892A914F}"/>
              </a:ext>
            </a:extLst>
          </p:cNvPr>
          <p:cNvSpPr txBox="1"/>
          <p:nvPr/>
        </p:nvSpPr>
        <p:spPr>
          <a:xfrm>
            <a:off x="3285562" y="4856631"/>
            <a:ext cx="1990725" cy="369332"/>
          </a:xfrm>
          <a:prstGeom prst="rect">
            <a:avLst/>
          </a:prstGeom>
          <a:noFill/>
        </p:spPr>
        <p:txBody>
          <a:bodyPr wrap="square" rtlCol="0">
            <a:spAutoFit/>
          </a:bodyPr>
          <a:lstStyle/>
          <a:p>
            <a:r>
              <a:rPr lang="en-US" dirty="0">
                <a:latin typeface="Body Level 1"/>
              </a:rPr>
              <a:t>URI</a:t>
            </a:r>
          </a:p>
        </p:txBody>
      </p:sp>
      <p:cxnSp>
        <p:nvCxnSpPr>
          <p:cNvPr id="10" name="Straight Arrow Connector 9">
            <a:extLst>
              <a:ext uri="{FF2B5EF4-FFF2-40B4-BE49-F238E27FC236}">
                <a16:creationId xmlns:a16="http://schemas.microsoft.com/office/drawing/2014/main" id="{31B8DA91-B5B8-4061-8B9B-F2BA61782187}"/>
              </a:ext>
            </a:extLst>
          </p:cNvPr>
          <p:cNvCxnSpPr>
            <a:cxnSpLocks/>
          </p:cNvCxnSpPr>
          <p:nvPr/>
        </p:nvCxnSpPr>
        <p:spPr>
          <a:xfrm flipH="1" flipV="1">
            <a:off x="3200400" y="3817989"/>
            <a:ext cx="190500" cy="986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2941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BF15-3475-439A-B829-CD6B7E204EAE}"/>
              </a:ext>
            </a:extLst>
          </p:cNvPr>
          <p:cNvSpPr>
            <a:spLocks noGrp="1"/>
          </p:cNvSpPr>
          <p:nvPr>
            <p:ph type="ctrTitle"/>
          </p:nvPr>
        </p:nvSpPr>
        <p:spPr/>
        <p:txBody>
          <a:bodyPr/>
          <a:lstStyle/>
          <a:p>
            <a:r>
              <a:rPr lang="en-US" dirty="0"/>
              <a:t>Let us work on XML use case</a:t>
            </a:r>
          </a:p>
        </p:txBody>
      </p:sp>
      <p:sp>
        <p:nvSpPr>
          <p:cNvPr id="3" name="Subtitle 2">
            <a:extLst>
              <a:ext uri="{FF2B5EF4-FFF2-40B4-BE49-F238E27FC236}">
                <a16:creationId xmlns:a16="http://schemas.microsoft.com/office/drawing/2014/main" id="{2965DC1F-DE34-41BA-8B44-FBCAFF6EC4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49280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1CB3F-D4AB-4FA6-B7D5-F9BE43FE7601}"/>
              </a:ext>
            </a:extLst>
          </p:cNvPr>
          <p:cNvSpPr>
            <a:spLocks noGrp="1"/>
          </p:cNvSpPr>
          <p:nvPr>
            <p:ph type="title"/>
          </p:nvPr>
        </p:nvSpPr>
        <p:spPr/>
        <p:txBody>
          <a:bodyPr/>
          <a:lstStyle/>
          <a:p>
            <a:r>
              <a:rPr lang="en-US" dirty="0"/>
              <a:t>Presenting the Use case on XML</a:t>
            </a:r>
          </a:p>
        </p:txBody>
      </p:sp>
      <p:sp>
        <p:nvSpPr>
          <p:cNvPr id="7" name="Content Placeholder 2">
            <a:extLst>
              <a:ext uri="{FF2B5EF4-FFF2-40B4-BE49-F238E27FC236}">
                <a16:creationId xmlns:a16="http://schemas.microsoft.com/office/drawing/2014/main" id="{74ECD953-6400-416A-9E9B-C3307C923E94}"/>
              </a:ext>
            </a:extLst>
          </p:cNvPr>
          <p:cNvSpPr txBox="1">
            <a:spLocks/>
          </p:cNvSpPr>
          <p:nvPr/>
        </p:nvSpPr>
        <p:spPr>
          <a:xfrm>
            <a:off x="322162" y="1147008"/>
            <a:ext cx="9520789" cy="910392"/>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Scenario: We have bank customers holding savings or current account and bank is providing them discounts in amazon shopping.  Finally we need to display the data in xml format which shows the customer details with shopping items.</a:t>
            </a:r>
          </a:p>
          <a:p>
            <a:pPr marL="0" indent="0">
              <a:buFont typeface="Arial" panose="020B0604020202020204" pitchFamily="34" charset="0"/>
              <a:buNone/>
            </a:pPr>
            <a:endParaRPr lang="en-US" dirty="0"/>
          </a:p>
        </p:txBody>
      </p:sp>
      <p:sp>
        <p:nvSpPr>
          <p:cNvPr id="8" name="Plus Sign 7">
            <a:extLst>
              <a:ext uri="{FF2B5EF4-FFF2-40B4-BE49-F238E27FC236}">
                <a16:creationId xmlns:a16="http://schemas.microsoft.com/office/drawing/2014/main" id="{2AEE9F5E-4A18-45FE-A026-1696382C7E19}"/>
              </a:ext>
            </a:extLst>
          </p:cNvPr>
          <p:cNvSpPr/>
          <p:nvPr/>
        </p:nvSpPr>
        <p:spPr>
          <a:xfrm>
            <a:off x="2143216" y="3914469"/>
            <a:ext cx="371384" cy="240576"/>
          </a:xfrm>
          <a:prstGeom prst="mathPl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quals 8">
            <a:extLst>
              <a:ext uri="{FF2B5EF4-FFF2-40B4-BE49-F238E27FC236}">
                <a16:creationId xmlns:a16="http://schemas.microsoft.com/office/drawing/2014/main" id="{032FCEBE-93BC-401F-B8A2-687F419C72EC}"/>
              </a:ext>
            </a:extLst>
          </p:cNvPr>
          <p:cNvSpPr/>
          <p:nvPr/>
        </p:nvSpPr>
        <p:spPr>
          <a:xfrm>
            <a:off x="4649102" y="3914469"/>
            <a:ext cx="476092" cy="292398"/>
          </a:xfrm>
          <a:prstGeom prst="mathEqual">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9890B388-B2A5-46B0-821D-B0C3546D2F5B}"/>
              </a:ext>
            </a:extLst>
          </p:cNvPr>
          <p:cNvPicPr>
            <a:picLocks noChangeAspect="1"/>
          </p:cNvPicPr>
          <p:nvPr/>
        </p:nvPicPr>
        <p:blipFill>
          <a:blip r:embed="rId2"/>
          <a:stretch>
            <a:fillRect/>
          </a:stretch>
        </p:blipFill>
        <p:spPr>
          <a:xfrm>
            <a:off x="5050218" y="2057400"/>
            <a:ext cx="4769933" cy="4419600"/>
          </a:xfrm>
          <a:prstGeom prst="rect">
            <a:avLst/>
          </a:prstGeom>
          <a:ln>
            <a:solidFill>
              <a:schemeClr val="tx1"/>
            </a:solidFill>
          </a:ln>
        </p:spPr>
      </p:pic>
      <p:pic>
        <p:nvPicPr>
          <p:cNvPr id="12" name="Picture 11">
            <a:extLst>
              <a:ext uri="{FF2B5EF4-FFF2-40B4-BE49-F238E27FC236}">
                <a16:creationId xmlns:a16="http://schemas.microsoft.com/office/drawing/2014/main" id="{95A641EA-EFED-43F8-9F05-155CC6388C57}"/>
              </a:ext>
            </a:extLst>
          </p:cNvPr>
          <p:cNvPicPr>
            <a:picLocks noChangeAspect="1"/>
          </p:cNvPicPr>
          <p:nvPr/>
        </p:nvPicPr>
        <p:blipFill>
          <a:blip r:embed="rId3"/>
          <a:stretch>
            <a:fillRect/>
          </a:stretch>
        </p:blipFill>
        <p:spPr>
          <a:xfrm>
            <a:off x="187005" y="2057401"/>
            <a:ext cx="4815737" cy="4419600"/>
          </a:xfrm>
          <a:prstGeom prst="rect">
            <a:avLst/>
          </a:prstGeom>
          <a:ln>
            <a:solidFill>
              <a:schemeClr val="tx1"/>
            </a:solidFill>
          </a:ln>
        </p:spPr>
      </p:pic>
    </p:spTree>
    <p:extLst>
      <p:ext uri="{BB962C8B-B14F-4D97-AF65-F5344CB8AC3E}">
        <p14:creationId xmlns:p14="http://schemas.microsoft.com/office/powerpoint/2010/main" val="3394581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D17BE-E68C-4C21-AAD7-9BE2D2418EC0}"/>
              </a:ext>
            </a:extLst>
          </p:cNvPr>
          <p:cNvSpPr>
            <a:spLocks noGrp="1"/>
          </p:cNvSpPr>
          <p:nvPr>
            <p:ph type="title"/>
          </p:nvPr>
        </p:nvSpPr>
        <p:spPr/>
        <p:txBody>
          <a:bodyPr/>
          <a:lstStyle/>
          <a:p>
            <a:r>
              <a:rPr lang="en-US" dirty="0"/>
              <a:t>Presenting the Use case on XML…</a:t>
            </a:r>
          </a:p>
        </p:txBody>
      </p:sp>
      <p:pic>
        <p:nvPicPr>
          <p:cNvPr id="4" name="Picture 3">
            <a:extLst>
              <a:ext uri="{FF2B5EF4-FFF2-40B4-BE49-F238E27FC236}">
                <a16:creationId xmlns:a16="http://schemas.microsoft.com/office/drawing/2014/main" id="{3FB4C95D-1485-4816-BD68-E91D856C59B4}"/>
              </a:ext>
            </a:extLst>
          </p:cNvPr>
          <p:cNvPicPr>
            <a:picLocks noChangeAspect="1"/>
          </p:cNvPicPr>
          <p:nvPr/>
        </p:nvPicPr>
        <p:blipFill>
          <a:blip r:embed="rId2"/>
          <a:stretch>
            <a:fillRect/>
          </a:stretch>
        </p:blipFill>
        <p:spPr>
          <a:xfrm>
            <a:off x="324090" y="1219200"/>
            <a:ext cx="7067309" cy="5479150"/>
          </a:xfrm>
          <a:prstGeom prst="rect">
            <a:avLst/>
          </a:prstGeom>
          <a:ln>
            <a:solidFill>
              <a:schemeClr val="tx1"/>
            </a:solidFill>
          </a:ln>
        </p:spPr>
      </p:pic>
    </p:spTree>
    <p:extLst>
      <p:ext uri="{BB962C8B-B14F-4D97-AF65-F5344CB8AC3E}">
        <p14:creationId xmlns:p14="http://schemas.microsoft.com/office/powerpoint/2010/main" val="1876322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BF57-E0D1-4CAD-919D-A0A5C0FCD358}"/>
              </a:ext>
            </a:extLst>
          </p:cNvPr>
          <p:cNvSpPr>
            <a:spLocks noGrp="1"/>
          </p:cNvSpPr>
          <p:nvPr>
            <p:ph type="title"/>
          </p:nvPr>
        </p:nvSpPr>
        <p:spPr/>
        <p:txBody>
          <a:bodyPr/>
          <a:lstStyle/>
          <a:p>
            <a:r>
              <a:rPr lang="en-US" dirty="0"/>
              <a:t>Cheat Sheet references</a:t>
            </a:r>
          </a:p>
        </p:txBody>
      </p:sp>
      <p:sp>
        <p:nvSpPr>
          <p:cNvPr id="3" name="Content Placeholder 2">
            <a:extLst>
              <a:ext uri="{FF2B5EF4-FFF2-40B4-BE49-F238E27FC236}">
                <a16:creationId xmlns:a16="http://schemas.microsoft.com/office/drawing/2014/main" id="{9A5980D6-1B1C-4DEB-80E9-629D5947B514}"/>
              </a:ext>
            </a:extLst>
          </p:cNvPr>
          <p:cNvSpPr>
            <a:spLocks noGrp="1"/>
          </p:cNvSpPr>
          <p:nvPr>
            <p:ph idx="1"/>
          </p:nvPr>
        </p:nvSpPr>
        <p:spPr>
          <a:xfrm>
            <a:off x="265725" y="1430771"/>
            <a:ext cx="9259747" cy="1998229"/>
          </a:xfrm>
        </p:spPr>
        <p:txBody>
          <a:bodyPr>
            <a:normAutofit/>
          </a:bodyPr>
          <a:lstStyle/>
          <a:p>
            <a:pPr marL="0" indent="0">
              <a:buNone/>
            </a:pPr>
            <a:r>
              <a:rPr lang="en-US" sz="2000" dirty="0"/>
              <a:t>Cheat Sheet for XML : XML Cheat Sheet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194204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CBCD-801A-49BC-A91C-B8BC9C087C5E}"/>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0E9FF59E-1E51-4BB7-BD98-F4CD1B0F6BF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78316253"/>
      </p:ext>
    </p:extLst>
  </p:cSld>
  <p:clrMapOvr>
    <a:masterClrMapping/>
  </p:clrMapOvr>
</p:sld>
</file>

<file path=ppt/theme/theme1.xml><?xml version="1.0" encoding="utf-8"?>
<a:theme xmlns:a="http://schemas.openxmlformats.org/drawingml/2006/main" name="Blank">
  <a:themeElements>
    <a:clrScheme name="Standard Chartered Template">
      <a:dk1>
        <a:srgbClr val="005C84"/>
      </a:dk1>
      <a:lt1>
        <a:sysClr val="window" lastClr="FFFFFF"/>
      </a:lt1>
      <a:dk2>
        <a:srgbClr val="000F46"/>
      </a:dk2>
      <a:lt2>
        <a:srgbClr val="E6E7E8"/>
      </a:lt2>
      <a:accent1>
        <a:srgbClr val="0075B0"/>
      </a:accent1>
      <a:accent2>
        <a:srgbClr val="009FDA"/>
      </a:accent2>
      <a:accent3>
        <a:srgbClr val="3F9C35"/>
      </a:accent3>
      <a:accent4>
        <a:srgbClr val="69BE28"/>
      </a:accent4>
      <a:accent5>
        <a:srgbClr val="6D6E71"/>
      </a:accent5>
      <a:accent6>
        <a:srgbClr val="939598"/>
      </a:accent6>
      <a:hlink>
        <a:srgbClr val="6D6E71"/>
      </a:hlink>
      <a:folHlink>
        <a:srgbClr val="2890C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ndardChartered_GlobalTemplate_Edit" id="{F6B87342-6B81-4D6D-A50D-E2D2D73676CB}" vid="{2987BD1D-0BCF-44F0-BC5D-89E75A8139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552</Words>
  <Application>Microsoft Office PowerPoint</Application>
  <PresentationFormat>A4 Paper (210x297 mm)</PresentationFormat>
  <Paragraphs>90</Paragraphs>
  <Slides>17</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Arial</vt:lpstr>
      <vt:lpstr>Body Level 1</vt:lpstr>
      <vt:lpstr>Body Level 2</vt:lpstr>
      <vt:lpstr>Body Level 3</vt:lpstr>
      <vt:lpstr>Body Level 4</vt:lpstr>
      <vt:lpstr>Body Level 5</vt:lpstr>
      <vt:lpstr>Calibri</vt:lpstr>
      <vt:lpstr>Courier New</vt:lpstr>
      <vt:lpstr>Cover Description</vt:lpstr>
      <vt:lpstr>Cover Title</vt:lpstr>
      <vt:lpstr>Slide Heading</vt:lpstr>
      <vt:lpstr>Wingdings</vt:lpstr>
      <vt:lpstr>Blank</vt:lpstr>
      <vt:lpstr>XML</vt:lpstr>
      <vt:lpstr>Module design</vt:lpstr>
      <vt:lpstr>Introduce the Use Case on XML</vt:lpstr>
      <vt:lpstr>Presenting the Use case on XML</vt:lpstr>
      <vt:lpstr>Presenting the Use case on XML…</vt:lpstr>
      <vt:lpstr>XML</vt:lpstr>
      <vt:lpstr>XML</vt:lpstr>
      <vt:lpstr>XML Element</vt:lpstr>
      <vt:lpstr>XML Attributes</vt:lpstr>
      <vt:lpstr>XML Syntax Rules</vt:lpstr>
      <vt:lpstr>Well Formness of XML</vt:lpstr>
      <vt:lpstr>XML Namespace</vt:lpstr>
      <vt:lpstr>Let us work on XML use case</vt:lpstr>
      <vt:lpstr>Presenting the Use case on XML</vt:lpstr>
      <vt:lpstr>Presenting the Use case on XML…</vt:lpstr>
      <vt:lpstr>Cheat Sheet references</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2019-02-13T05:36:40Z</dcterms:created>
  <dcterms:modified xsi:type="dcterms:W3CDTF">2019-06-19T12:27:13Z</dcterms:modified>
</cp:coreProperties>
</file>