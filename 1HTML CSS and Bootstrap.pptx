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60" r:id="rId1"/>
  </p:sldMasterIdLst>
  <p:notesMasterIdLst>
    <p:notesMasterId r:id="rId61"/>
  </p:notesMasterIdLst>
  <p:sldIdLst>
    <p:sldId id="256" r:id="rId2"/>
    <p:sldId id="529" r:id="rId3"/>
    <p:sldId id="543" r:id="rId4"/>
    <p:sldId id="267" r:id="rId5"/>
    <p:sldId id="313" r:id="rId6"/>
    <p:sldId id="269" r:id="rId7"/>
    <p:sldId id="533" r:id="rId8"/>
    <p:sldId id="544" r:id="rId9"/>
    <p:sldId id="487" r:id="rId10"/>
    <p:sldId id="541" r:id="rId11"/>
    <p:sldId id="545" r:id="rId12"/>
    <p:sldId id="372" r:id="rId13"/>
    <p:sldId id="381" r:id="rId14"/>
    <p:sldId id="373" r:id="rId15"/>
    <p:sldId id="525" r:id="rId16"/>
    <p:sldId id="379" r:id="rId17"/>
    <p:sldId id="503" r:id="rId18"/>
    <p:sldId id="504" r:id="rId19"/>
    <p:sldId id="505" r:id="rId20"/>
    <p:sldId id="387" r:id="rId21"/>
    <p:sldId id="388" r:id="rId22"/>
    <p:sldId id="403" r:id="rId23"/>
    <p:sldId id="395" r:id="rId24"/>
    <p:sldId id="394" r:id="rId25"/>
    <p:sldId id="401" r:id="rId26"/>
    <p:sldId id="546" r:id="rId27"/>
    <p:sldId id="528" r:id="rId28"/>
    <p:sldId id="542" r:id="rId29"/>
    <p:sldId id="548" r:id="rId30"/>
    <p:sldId id="547" r:id="rId31"/>
    <p:sldId id="497" r:id="rId32"/>
    <p:sldId id="495" r:id="rId33"/>
    <p:sldId id="329" r:id="rId34"/>
    <p:sldId id="510" r:id="rId35"/>
    <p:sldId id="291" r:id="rId36"/>
    <p:sldId id="511" r:id="rId37"/>
    <p:sldId id="330" r:id="rId38"/>
    <p:sldId id="331" r:id="rId39"/>
    <p:sldId id="332" r:id="rId40"/>
    <p:sldId id="333" r:id="rId41"/>
    <p:sldId id="335" r:id="rId42"/>
    <p:sldId id="339" r:id="rId43"/>
    <p:sldId id="338" r:id="rId44"/>
    <p:sldId id="340" r:id="rId45"/>
    <p:sldId id="341" r:id="rId46"/>
    <p:sldId id="494" r:id="rId47"/>
    <p:sldId id="342" r:id="rId48"/>
    <p:sldId id="343" r:id="rId49"/>
    <p:sldId id="513" r:id="rId50"/>
    <p:sldId id="496" r:id="rId51"/>
    <p:sldId id="489" r:id="rId52"/>
    <p:sldId id="297" r:id="rId53"/>
    <p:sldId id="488" r:id="rId54"/>
    <p:sldId id="298" r:id="rId55"/>
    <p:sldId id="409" r:id="rId56"/>
    <p:sldId id="320" r:id="rId57"/>
    <p:sldId id="300" r:id="rId58"/>
    <p:sldId id="301" r:id="rId59"/>
    <p:sldId id="303" r:id="rId60"/>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C8E"/>
    <a:srgbClr val="A1C5E0"/>
    <a:srgbClr val="C3E2C1"/>
    <a:srgbClr val="EADC52"/>
    <a:srgbClr val="FF9900"/>
    <a:srgbClr val="6BA8D0"/>
    <a:srgbClr val="09ADFF"/>
    <a:srgbClr val="BCBEC0"/>
    <a:srgbClr val="9FD18B"/>
    <a:srgbClr val="DBE8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6667" autoAdjust="0"/>
  </p:normalViewPr>
  <p:slideViewPr>
    <p:cSldViewPr showGuides="1">
      <p:cViewPr varScale="1">
        <p:scale>
          <a:sx n="63" d="100"/>
          <a:sy n="63" d="100"/>
        </p:scale>
        <p:origin x="1452" y="66"/>
      </p:cViewPr>
      <p:guideLst>
        <p:guide orient="horz" pos="2160"/>
        <p:guide pos="3120"/>
      </p:guideLst>
    </p:cSldViewPr>
  </p:slideViewPr>
  <p:notesTextViewPr>
    <p:cViewPr>
      <p:scale>
        <a:sx n="1" d="1"/>
        <a:sy n="1" d="1"/>
      </p:scale>
      <p:origin x="0" y="0"/>
    </p:cViewPr>
  </p:notesTextViewPr>
  <p:sorterViewPr>
    <p:cViewPr varScale="1">
      <p:scale>
        <a:sx n="100" d="100"/>
        <a:sy n="100" d="100"/>
      </p:scale>
      <p:origin x="0" y="-538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4F01A-3E91-4831-92AD-6D4AF38A1953}" type="datetimeFigureOut">
              <a:rPr lang="en-GB" smtClean="0"/>
              <a:t>28/06/2019</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3102E-6C56-4F81-B30B-581BE2EC6691}" type="slidenum">
              <a:rPr lang="en-GB" smtClean="0"/>
              <a:t>‹#›</a:t>
            </a:fld>
            <a:endParaRPr lang="en-GB"/>
          </a:p>
        </p:txBody>
      </p:sp>
    </p:spTree>
    <p:extLst>
      <p:ext uri="{BB962C8B-B14F-4D97-AF65-F5344CB8AC3E}">
        <p14:creationId xmlns:p14="http://schemas.microsoft.com/office/powerpoint/2010/main" val="10279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enest.net/blog/web-designer-vs-web-programmer-vs-web-develope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teaching.shu.ac.uk/aces/rh1/de/web_based_systems_architectures_1_tutorial.ht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5F3102E-6C56-4F81-B30B-581BE2EC6691}" type="slidenum">
              <a:rPr lang="en-GB" smtClean="0"/>
              <a:t>1</a:t>
            </a:fld>
            <a:endParaRPr lang="en-GB"/>
          </a:p>
        </p:txBody>
      </p:sp>
    </p:spTree>
    <p:extLst>
      <p:ext uri="{BB962C8B-B14F-4D97-AF65-F5344CB8AC3E}">
        <p14:creationId xmlns:p14="http://schemas.microsoft.com/office/powerpoint/2010/main" val="4057172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go through </a:t>
            </a:r>
            <a:r>
              <a:rPr lang="en-US" dirty="0">
                <a:hlinkClick r:id="rId3"/>
              </a:rPr>
              <a:t>http://www.enest.net/blog/web-designer-vs-web-programmer-vs-web-developer/</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a:t>
            </a:fld>
            <a:endParaRPr lang="en-GB"/>
          </a:p>
        </p:txBody>
      </p:sp>
    </p:spTree>
    <p:extLst>
      <p:ext uri="{BB962C8B-B14F-4D97-AF65-F5344CB8AC3E}">
        <p14:creationId xmlns:p14="http://schemas.microsoft.com/office/powerpoint/2010/main" val="3308410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br>
              <a:rPr lang="en-US" dirty="0"/>
            </a:br>
            <a:endParaRPr lang="en-US" dirty="0"/>
          </a:p>
        </p:txBody>
      </p:sp>
      <p:sp>
        <p:nvSpPr>
          <p:cNvPr id="4" name="Slide Number Placeholder 3"/>
          <p:cNvSpPr>
            <a:spLocks noGrp="1"/>
          </p:cNvSpPr>
          <p:nvPr>
            <p:ph type="sldNum" idx="10"/>
          </p:nvPr>
        </p:nvSpPr>
        <p:spPr/>
        <p:txBody>
          <a:bodyPr/>
          <a:lstStyle/>
          <a:p>
            <a:pPr algn="r"/>
            <a:fld id="{EC36CC13-99C4-4C9A-8689-FCCAFD198DC5}" type="slidenum">
              <a:rPr lang="en-IN" sz="1400" smtClean="0">
                <a:latin typeface="Times New Roman"/>
              </a:rPr>
              <a:pPr algn="r"/>
              <a:t>5</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t>
            </a:r>
            <a:r>
              <a:rPr lang="en-US" dirty="0">
                <a:hlinkClick r:id="rId3"/>
              </a:rPr>
              <a:t>https://teaching.shu.ac.uk/aces/rh1/de/web_based_systems_architectures_1_tutorial.htm</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6</a:t>
            </a:fld>
            <a:endParaRPr lang="en-GB"/>
          </a:p>
        </p:txBody>
      </p:sp>
    </p:spTree>
    <p:extLst>
      <p:ext uri="{BB962C8B-B14F-4D97-AF65-F5344CB8AC3E}">
        <p14:creationId xmlns:p14="http://schemas.microsoft.com/office/powerpoint/2010/main" val="669572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this we should have knowledge of HTML, CSS, JS and Bootstrap</a:t>
            </a:r>
          </a:p>
        </p:txBody>
      </p:sp>
      <p:sp>
        <p:nvSpPr>
          <p:cNvPr id="4" name="Slide Number Placeholder 3"/>
          <p:cNvSpPr>
            <a:spLocks noGrp="1"/>
          </p:cNvSpPr>
          <p:nvPr>
            <p:ph type="sldNum" sz="quarter" idx="5"/>
          </p:nvPr>
        </p:nvSpPr>
        <p:spPr/>
        <p:txBody>
          <a:bodyPr/>
          <a:lstStyle/>
          <a:p>
            <a:fld id="{C884C1B3-7BF4-4D5F-BF22-7F4C6F4FAC97}" type="slidenum">
              <a:rPr lang="en-US" smtClean="0"/>
              <a:pPr/>
              <a:t>8</a:t>
            </a:fld>
            <a:endParaRPr lang="en-US"/>
          </a:p>
        </p:txBody>
      </p:sp>
    </p:spTree>
    <p:extLst>
      <p:ext uri="{BB962C8B-B14F-4D97-AF65-F5344CB8AC3E}">
        <p14:creationId xmlns:p14="http://schemas.microsoft.com/office/powerpoint/2010/main" val="2440049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11</a:t>
            </a:fld>
            <a:endParaRPr lang="en-GB"/>
          </a:p>
        </p:txBody>
      </p:sp>
    </p:spTree>
    <p:extLst>
      <p:ext uri="{BB962C8B-B14F-4D97-AF65-F5344CB8AC3E}">
        <p14:creationId xmlns:p14="http://schemas.microsoft.com/office/powerpoint/2010/main" val="2463922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12</a:t>
            </a:fld>
            <a:endParaRPr lang="en-GB"/>
          </a:p>
        </p:txBody>
      </p:sp>
    </p:spTree>
    <p:extLst>
      <p:ext uri="{BB962C8B-B14F-4D97-AF65-F5344CB8AC3E}">
        <p14:creationId xmlns:p14="http://schemas.microsoft.com/office/powerpoint/2010/main" val="1240489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13</a:t>
            </a:fld>
            <a:endParaRPr lang="en-GB"/>
          </a:p>
        </p:txBody>
      </p:sp>
    </p:spTree>
    <p:extLst>
      <p:ext uri="{BB962C8B-B14F-4D97-AF65-F5344CB8AC3E}">
        <p14:creationId xmlns:p14="http://schemas.microsoft.com/office/powerpoint/2010/main" val="2361804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1200" dirty="0">
                <a:latin typeface="Body Level 1"/>
              </a:rPr>
              <a:t>Bootstrap's grid system allows up to 12 columns across the page.</a:t>
            </a:r>
          </a:p>
          <a:p>
            <a:pPr marL="342900" indent="-342900">
              <a:buFont typeface="Arial" panose="020B0604020202020204" pitchFamily="34" charset="0"/>
              <a:buChar char="•"/>
            </a:pPr>
            <a:r>
              <a:rPr lang="en-US" sz="1200" dirty="0">
                <a:latin typeface="Body Level 1"/>
              </a:rPr>
              <a:t>Bootstrap's grid system is responsive, and the columns will re-arrange depending on the screen size: On a big screen it might look better with the content organized in three columns, but on a small screen it would be better if the content items were stacked on top of each other.</a:t>
            </a:r>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16</a:t>
            </a:fld>
            <a:endParaRPr lang="en-GB"/>
          </a:p>
        </p:txBody>
      </p:sp>
    </p:spTree>
    <p:extLst>
      <p:ext uri="{BB962C8B-B14F-4D97-AF65-F5344CB8AC3E}">
        <p14:creationId xmlns:p14="http://schemas.microsoft.com/office/powerpoint/2010/main" val="1121219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this we should have knowledge of HTML, CSS, JS and Bootstrap</a:t>
            </a:r>
          </a:p>
        </p:txBody>
      </p:sp>
      <p:sp>
        <p:nvSpPr>
          <p:cNvPr id="4" name="Slide Number Placeholder 3"/>
          <p:cNvSpPr>
            <a:spLocks noGrp="1"/>
          </p:cNvSpPr>
          <p:nvPr>
            <p:ph type="sldNum" sz="quarter" idx="5"/>
          </p:nvPr>
        </p:nvSpPr>
        <p:spPr/>
        <p:txBody>
          <a:bodyPr/>
          <a:lstStyle/>
          <a:p>
            <a:fld id="{C884C1B3-7BF4-4D5F-BF22-7F4C6F4FAC97}" type="slidenum">
              <a:rPr lang="en-US" smtClean="0"/>
              <a:pPr/>
              <a:t>26</a:t>
            </a:fld>
            <a:endParaRPr lang="en-US"/>
          </a:p>
        </p:txBody>
      </p:sp>
    </p:spTree>
    <p:extLst>
      <p:ext uri="{BB962C8B-B14F-4D97-AF65-F5344CB8AC3E}">
        <p14:creationId xmlns:p14="http://schemas.microsoft.com/office/powerpoint/2010/main" val="194171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lvl="1">
              <a:buNone/>
            </a:pPr>
            <a:r>
              <a:rPr lang="en-US" sz="2800" dirty="0"/>
              <a:t>Block level-A block-level element always starts on a new line and takes up the full width available (stretches out to the left and right as far as it can). Ex: &lt;div&gt;, &lt;p&gt;,all headings, &lt;form&gt;, &lt;table&gt; etc.</a:t>
            </a:r>
          </a:p>
          <a:p>
            <a:pPr lvl="1">
              <a:buNone/>
            </a:pPr>
            <a:r>
              <a:rPr lang="en-US" sz="2800" dirty="0"/>
              <a:t>Inline elements: An inline element does not start on a new line and only takes up as much width as necessary.. Ex: &lt;</a:t>
            </a:r>
            <a:r>
              <a:rPr lang="en-US" sz="2800" dirty="0" err="1"/>
              <a:t>img</a:t>
            </a:r>
            <a:r>
              <a:rPr lang="en-US" sz="2800" dirty="0"/>
              <a:t>&gt;, &lt;a&gt;, &lt;span&gt;, &lt;input&gt; etc.</a:t>
            </a:r>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32</a:t>
            </a:fld>
            <a:endParaRPr lang="en-US"/>
          </a:p>
        </p:txBody>
      </p:sp>
    </p:spTree>
    <p:extLst>
      <p:ext uri="{BB962C8B-B14F-4D97-AF65-F5344CB8AC3E}">
        <p14:creationId xmlns:p14="http://schemas.microsoft.com/office/powerpoint/2010/main" val="395753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37</a:t>
            </a:fld>
            <a:endParaRPr lang="en-US"/>
          </a:p>
        </p:txBody>
      </p:sp>
    </p:spTree>
    <p:extLst>
      <p:ext uri="{BB962C8B-B14F-4D97-AF65-F5344CB8AC3E}">
        <p14:creationId xmlns:p14="http://schemas.microsoft.com/office/powerpoint/2010/main" val="169987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38</a:t>
            </a:fld>
            <a:endParaRPr lang="en-GB"/>
          </a:p>
        </p:txBody>
      </p:sp>
    </p:spTree>
    <p:extLst>
      <p:ext uri="{BB962C8B-B14F-4D97-AF65-F5344CB8AC3E}">
        <p14:creationId xmlns:p14="http://schemas.microsoft.com/office/powerpoint/2010/main" val="2054355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41</a:t>
            </a:fld>
            <a:endParaRPr lang="en-GB"/>
          </a:p>
        </p:txBody>
      </p:sp>
    </p:spTree>
    <p:extLst>
      <p:ext uri="{BB962C8B-B14F-4D97-AF65-F5344CB8AC3E}">
        <p14:creationId xmlns:p14="http://schemas.microsoft.com/office/powerpoint/2010/main" val="1206961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50</a:t>
            </a:fld>
            <a:endParaRPr lang="en-US"/>
          </a:p>
        </p:txBody>
      </p:sp>
    </p:spTree>
    <p:extLst>
      <p:ext uri="{BB962C8B-B14F-4D97-AF65-F5344CB8AC3E}">
        <p14:creationId xmlns:p14="http://schemas.microsoft.com/office/powerpoint/2010/main" val="1070293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52</a:t>
            </a:fld>
            <a:endParaRPr lang="en-US"/>
          </a:p>
        </p:txBody>
      </p:sp>
    </p:spTree>
    <p:extLst>
      <p:ext uri="{BB962C8B-B14F-4D97-AF65-F5344CB8AC3E}">
        <p14:creationId xmlns:p14="http://schemas.microsoft.com/office/powerpoint/2010/main" val="3485324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CSS box model is essentially a box that wraps around every HTML element. It consists of: margins, borders, padding, and the actual content. The image below illustrates the box model:</a:t>
            </a:r>
          </a:p>
          <a:p>
            <a:endParaRPr lang="en-US" sz="1200" dirty="0"/>
          </a:p>
          <a:p>
            <a:r>
              <a:rPr lang="en-US" sz="1200" dirty="0"/>
              <a:t>Explanation of the different parts:</a:t>
            </a:r>
          </a:p>
          <a:p>
            <a:endParaRPr lang="en-US" sz="1200" dirty="0"/>
          </a:p>
          <a:p>
            <a:r>
              <a:rPr lang="en-US" sz="1200" b="1" dirty="0"/>
              <a:t>Content</a:t>
            </a:r>
            <a:r>
              <a:rPr lang="en-US" sz="1200" dirty="0"/>
              <a:t> - The content of the box, where text and images appear</a:t>
            </a:r>
          </a:p>
          <a:p>
            <a:r>
              <a:rPr lang="en-US" sz="1200" b="1" dirty="0"/>
              <a:t>Padding</a:t>
            </a:r>
            <a:r>
              <a:rPr lang="en-US" sz="1200" dirty="0"/>
              <a:t> - Clears an area around the content. The padding is transparent</a:t>
            </a:r>
          </a:p>
          <a:p>
            <a:r>
              <a:rPr lang="en-US" sz="1200" b="1" dirty="0"/>
              <a:t>Border</a:t>
            </a:r>
            <a:r>
              <a:rPr lang="en-US" sz="1200" dirty="0"/>
              <a:t> - A border that goes around the padding and content</a:t>
            </a:r>
          </a:p>
          <a:p>
            <a:r>
              <a:rPr lang="en-US" sz="1200" b="1" dirty="0"/>
              <a:t>Margin</a:t>
            </a:r>
            <a:r>
              <a:rPr lang="en-US" sz="1200" dirty="0"/>
              <a:t> - Clears an area outside the border. The margin is transparent</a:t>
            </a:r>
          </a:p>
          <a:p>
            <a:endParaRPr lang="en-US" sz="1200" dirty="0"/>
          </a:p>
          <a:p>
            <a:endParaRPr lang="en-US" sz="1200" dirty="0"/>
          </a:p>
          <a:p>
            <a:r>
              <a:rPr lang="en-US" sz="1200" b="1" dirty="0"/>
              <a:t>Important:</a:t>
            </a:r>
            <a:r>
              <a:rPr lang="en-US" sz="1200" dirty="0"/>
              <a:t> When you set the width and height properties of an element with CSS, you just set the width and height of the </a:t>
            </a:r>
            <a:r>
              <a:rPr lang="en-US" sz="1200" b="1" dirty="0"/>
              <a:t>content area</a:t>
            </a:r>
            <a:r>
              <a:rPr lang="en-US" sz="1200" dirty="0"/>
              <a:t>. To calculate the full size of an element, you must also add padding, borders and margins.</a:t>
            </a:r>
          </a:p>
          <a:p>
            <a:endParaRPr lang="en-US" sz="1200" dirty="0"/>
          </a:p>
          <a:p>
            <a:r>
              <a:rPr lang="en-US" sz="1200" dirty="0"/>
              <a:t>The total width of an element should be calculated like this:</a:t>
            </a:r>
          </a:p>
          <a:p>
            <a:r>
              <a:rPr lang="en-US" sz="1200" dirty="0"/>
              <a:t>Total element width = width + left padding + right padding + left border + right border + left margin + right margin</a:t>
            </a:r>
          </a:p>
          <a:p>
            <a:r>
              <a:rPr lang="en-US" sz="1200" dirty="0"/>
              <a:t>The total height of an element should be calculated like this:</a:t>
            </a:r>
          </a:p>
          <a:p>
            <a:r>
              <a:rPr lang="en-US" sz="1200" dirty="0"/>
              <a:t>Total element height = height + top padding + bottom padding + top border + bottom border + top margin + bottom margin</a:t>
            </a:r>
          </a:p>
          <a:p>
            <a:endParaRPr lang="en-US" dirty="0"/>
          </a:p>
          <a:p>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53</a:t>
            </a:fld>
            <a:endParaRPr lang="en-US"/>
          </a:p>
        </p:txBody>
      </p:sp>
    </p:spTree>
    <p:extLst>
      <p:ext uri="{BB962C8B-B14F-4D97-AF65-F5344CB8AC3E}">
        <p14:creationId xmlns:p14="http://schemas.microsoft.com/office/powerpoint/2010/main" val="1099230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a:p>
            <a:r>
              <a:rPr lang="en-US" sz="1200" dirty="0"/>
              <a:t>The width can be set as a specific size (in px, </a:t>
            </a:r>
            <a:r>
              <a:rPr lang="en-US" sz="1200" dirty="0" err="1"/>
              <a:t>pt</a:t>
            </a:r>
            <a:r>
              <a:rPr lang="en-US" sz="1200" dirty="0"/>
              <a:t>, cm, </a:t>
            </a:r>
            <a:r>
              <a:rPr lang="en-US" sz="1200" dirty="0" err="1"/>
              <a:t>em</a:t>
            </a:r>
            <a:r>
              <a:rPr lang="en-US" sz="1200" dirty="0"/>
              <a:t>, </a:t>
            </a:r>
            <a:r>
              <a:rPr lang="en-US" sz="1200" dirty="0" err="1"/>
              <a:t>etc</a:t>
            </a:r>
            <a:r>
              <a:rPr lang="en-US" sz="1200" dirty="0"/>
              <a:t>) or by using one of the three pre-defined values: thin, medium, or thick</a:t>
            </a:r>
          </a:p>
          <a:p>
            <a:r>
              <a:rPr lang="en-US" sz="1200" dirty="0"/>
              <a:t>The color can be set by:</a:t>
            </a:r>
          </a:p>
          <a:p>
            <a:r>
              <a:rPr lang="en-US" sz="1200" dirty="0"/>
              <a:t>name - specify a color name, like "red"</a:t>
            </a:r>
          </a:p>
          <a:p>
            <a:r>
              <a:rPr lang="en-US" sz="1200" dirty="0"/>
              <a:t>Hex - specify a hex value, like "#ff0000"</a:t>
            </a:r>
          </a:p>
          <a:p>
            <a:r>
              <a:rPr lang="en-US" sz="1200" dirty="0"/>
              <a:t>RGB - specify a RGB value, like "</a:t>
            </a:r>
            <a:r>
              <a:rPr lang="en-US" sz="1200" dirty="0" err="1"/>
              <a:t>rgb</a:t>
            </a:r>
            <a:r>
              <a:rPr lang="en-US" sz="1200" dirty="0"/>
              <a:t>(255,0,0)"</a:t>
            </a:r>
          </a:p>
          <a:p>
            <a:r>
              <a:rPr lang="en-US" sz="1200" dirty="0"/>
              <a:t>Transparent</a:t>
            </a:r>
          </a:p>
          <a:p>
            <a:endParaRPr lang="en-US" sz="1200" dirty="0"/>
          </a:p>
          <a:p>
            <a:r>
              <a:rPr lang="en-US" sz="1200" dirty="0"/>
              <a:t>The border-style property specifies what kind of border to display.</a:t>
            </a:r>
          </a:p>
          <a:p>
            <a:r>
              <a:rPr lang="en-US" sz="1200" dirty="0"/>
              <a:t>dotted - Defines a dotted border</a:t>
            </a:r>
          </a:p>
          <a:p>
            <a:r>
              <a:rPr lang="en-US" sz="1200" dirty="0"/>
              <a:t>dashed - Defines a dashed border</a:t>
            </a:r>
          </a:p>
          <a:p>
            <a:r>
              <a:rPr lang="en-US" sz="1200" dirty="0"/>
              <a:t>solid - Defines a solid border</a:t>
            </a:r>
          </a:p>
          <a:p>
            <a:r>
              <a:rPr lang="en-US" sz="1200" dirty="0"/>
              <a:t>double - Defines a double border</a:t>
            </a:r>
          </a:p>
          <a:p>
            <a:r>
              <a:rPr lang="en-US" sz="1200" dirty="0"/>
              <a:t>groove - Defines a 3D grooved border. The effect depends on the border-color value</a:t>
            </a:r>
          </a:p>
          <a:p>
            <a:r>
              <a:rPr lang="en-US" sz="1200" dirty="0"/>
              <a:t>ridge - Defines a 3D ridged border. The effect depends on the border-color value</a:t>
            </a:r>
          </a:p>
          <a:p>
            <a:r>
              <a:rPr lang="en-US" sz="1200" dirty="0"/>
              <a:t>inset - Defines a 3D inset border. The effect depends on the border-color value</a:t>
            </a:r>
          </a:p>
          <a:p>
            <a:r>
              <a:rPr lang="en-US" sz="1200" dirty="0"/>
              <a:t>outset - Defines a 3D outset border. The effect depends on the border-color value</a:t>
            </a:r>
          </a:p>
          <a:p>
            <a:r>
              <a:rPr lang="en-US" sz="1200" dirty="0"/>
              <a:t>none - Defines no border</a:t>
            </a:r>
          </a:p>
          <a:p>
            <a:r>
              <a:rPr lang="en-US" sz="1200" dirty="0"/>
              <a:t>hidden - Defines a hidden border</a:t>
            </a:r>
          </a:p>
          <a:p>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55</a:t>
            </a:fld>
            <a:endParaRPr lang="en-US"/>
          </a:p>
        </p:txBody>
      </p:sp>
    </p:spTree>
    <p:extLst>
      <p:ext uri="{BB962C8B-B14F-4D97-AF65-F5344CB8AC3E}">
        <p14:creationId xmlns:p14="http://schemas.microsoft.com/office/powerpoint/2010/main" val="910631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US" sz="1200" dirty="0"/>
              <a:t> Inline - Displays an element as an inline element (like &lt;span&gt;). Any height and width properties will have no effect</a:t>
            </a:r>
          </a:p>
          <a:p>
            <a:pPr>
              <a:buFont typeface="Arial" pitchFamily="34" charset="0"/>
              <a:buChar char="•"/>
            </a:pPr>
            <a:r>
              <a:rPr lang="en-US" sz="1200" dirty="0"/>
              <a:t> block- Displays an element as a block element (like &lt;p&gt;). It starts on a new line, and takes up the whole width</a:t>
            </a:r>
          </a:p>
          <a:p>
            <a:pPr>
              <a:buFont typeface="Arial" pitchFamily="34" charset="0"/>
              <a:buChar char="•"/>
            </a:pPr>
            <a:r>
              <a:rPr lang="en-US" sz="1200" dirty="0"/>
              <a:t> none - The element is completely removed</a:t>
            </a:r>
          </a:p>
          <a:p>
            <a:pPr>
              <a:buFont typeface="Arial" pitchFamily="34" charset="0"/>
              <a:buChar char="•"/>
            </a:pPr>
            <a:r>
              <a:rPr lang="en-US" sz="1200" dirty="0"/>
              <a:t> inline-block - Displays an element as an inline-level block container. The element itself is formatted as an inline element, but you can apply height and width values.</a:t>
            </a:r>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56</a:t>
            </a:fld>
            <a:endParaRPr lang="en-US"/>
          </a:p>
        </p:txBody>
      </p:sp>
    </p:spTree>
    <p:extLst>
      <p:ext uri="{BB962C8B-B14F-4D97-AF65-F5344CB8AC3E}">
        <p14:creationId xmlns:p14="http://schemas.microsoft.com/office/powerpoint/2010/main" val="264279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Static- HTML elements are positioned static by default . Static positioned elements are not affected by the top, bottom, left, and right properties. It is always positioned according to the normal flow of the page.</a:t>
            </a:r>
          </a:p>
          <a:p>
            <a:pPr>
              <a:buFont typeface="Arial" pitchFamily="34" charset="0"/>
              <a:buChar char="•"/>
            </a:pPr>
            <a:r>
              <a:rPr lang="en-US" sz="1200" dirty="0"/>
              <a:t>Relative :  is positioned relative to its normal position.</a:t>
            </a:r>
          </a:p>
          <a:p>
            <a:r>
              <a:rPr lang="en-US" sz="1200" dirty="0"/>
              <a:t>Setting the top, right, bottom, and left properties of a relatively-positioned element will cause it to be adjusted away from its normal position. Other content will not be adjusted to fit into any gap left by the element.</a:t>
            </a:r>
          </a:p>
          <a:p>
            <a:pPr>
              <a:buFont typeface="Arial" pitchFamily="34" charset="0"/>
              <a:buChar char="•"/>
            </a:pPr>
            <a:r>
              <a:rPr lang="en-US" sz="1200" dirty="0"/>
              <a:t>Fixed : is positioned relative to the viewport, which means it always stays in the same place even if the page is scrolled. The top, right, bottom, and left properties are used to position the element.</a:t>
            </a:r>
          </a:p>
          <a:p>
            <a:pPr>
              <a:buFont typeface="Arial" pitchFamily="34" charset="0"/>
              <a:buChar char="•"/>
            </a:pPr>
            <a:r>
              <a:rPr lang="en-US" sz="1200" dirty="0"/>
              <a:t>Absolute: is positioned relative to the nearest positioned ancestor (instead of positioned relative to the viewport, like fixed).</a:t>
            </a:r>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57</a:t>
            </a:fld>
            <a:endParaRPr lang="en-US"/>
          </a:p>
        </p:txBody>
      </p:sp>
    </p:spTree>
    <p:extLst>
      <p:ext uri="{BB962C8B-B14F-4D97-AF65-F5344CB8AC3E}">
        <p14:creationId xmlns:p14="http://schemas.microsoft.com/office/powerpoint/2010/main" val="4093863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US" sz="1200" dirty="0"/>
              <a:t>descendant selector (space) : The descendant selector matches all elements that are descendants of a specified element.</a:t>
            </a:r>
          </a:p>
          <a:p>
            <a:r>
              <a:rPr lang="en-US" sz="1200" dirty="0"/>
              <a:t>The following example selects all &lt;p&gt; elements inside &lt;div&gt; elements:  div p {}</a:t>
            </a:r>
          </a:p>
          <a:p>
            <a:pPr>
              <a:buFont typeface="Arial" pitchFamily="34" charset="0"/>
              <a:buChar char="•"/>
            </a:pPr>
            <a:r>
              <a:rPr lang="en-US" sz="1200" dirty="0"/>
              <a:t>child selector (&gt;): The child selector selects all elements that are the immediate children of a specified element.</a:t>
            </a:r>
          </a:p>
          <a:p>
            <a:r>
              <a:rPr lang="en-US" sz="1200" dirty="0"/>
              <a:t>The following example selects all &lt;p&gt; elements that are immediate children of a &lt;div&gt; element : div &gt;p {  }</a:t>
            </a:r>
          </a:p>
          <a:p>
            <a:pPr>
              <a:buFont typeface="Arial" pitchFamily="34" charset="0"/>
              <a:buChar char="•"/>
            </a:pPr>
            <a:r>
              <a:rPr lang="en-US" sz="1200" dirty="0"/>
              <a:t>adjacent sibling selector (+): The adjacent sibling selector selects all elements that are the adjacent siblings of a specified element.</a:t>
            </a:r>
          </a:p>
          <a:p>
            <a:r>
              <a:rPr lang="en-US" sz="1200" dirty="0"/>
              <a:t>Sibling elements must have the same parent element, and "adjacent" means "immediately following".</a:t>
            </a:r>
          </a:p>
          <a:p>
            <a:r>
              <a:rPr lang="en-US" sz="1200" dirty="0"/>
              <a:t>The following example selects all &lt;p&gt; elements that are placed immediately after &lt;div&gt; elements:  </a:t>
            </a:r>
            <a:r>
              <a:rPr lang="en-US" sz="1200" dirty="0" err="1"/>
              <a:t>div+p</a:t>
            </a:r>
            <a:r>
              <a:rPr lang="en-US" sz="1200" dirty="0"/>
              <a:t> {} </a:t>
            </a:r>
          </a:p>
          <a:p>
            <a:pPr>
              <a:buFont typeface="Arial" pitchFamily="34" charset="0"/>
              <a:buChar char="•"/>
            </a:pPr>
            <a:r>
              <a:rPr lang="en-US" sz="1200" dirty="0"/>
              <a:t>general sibling selector (~): The general sibling selector selects all elements that are siblings of a specified element.</a:t>
            </a:r>
          </a:p>
          <a:p>
            <a:r>
              <a:rPr lang="en-US" sz="1200" dirty="0"/>
              <a:t>The following example selects all &lt;p&gt; elements that are siblings of &lt;div&gt; elements:  </a:t>
            </a:r>
            <a:r>
              <a:rPr lang="en-US" sz="1200" dirty="0" err="1"/>
              <a:t>div~p</a:t>
            </a:r>
            <a:r>
              <a:rPr lang="en-US" sz="1200" dirty="0"/>
              <a:t> {}</a:t>
            </a:r>
            <a:endParaRPr lang="en-US" dirty="0"/>
          </a:p>
        </p:txBody>
      </p:sp>
      <p:sp>
        <p:nvSpPr>
          <p:cNvPr id="4" name="Slide Number Placeholder 3"/>
          <p:cNvSpPr>
            <a:spLocks noGrp="1"/>
          </p:cNvSpPr>
          <p:nvPr>
            <p:ph type="sldNum" sz="quarter" idx="5"/>
          </p:nvPr>
        </p:nvSpPr>
        <p:spPr/>
        <p:txBody>
          <a:bodyPr/>
          <a:lstStyle/>
          <a:p>
            <a:fld id="{C884C1B3-7BF4-4D5F-BF22-7F4C6F4FAC97}" type="slidenum">
              <a:rPr lang="en-US" smtClean="0"/>
              <a:pPr/>
              <a:t>58</a:t>
            </a:fld>
            <a:endParaRPr lang="en-US"/>
          </a:p>
        </p:txBody>
      </p:sp>
    </p:spTree>
    <p:extLst>
      <p:ext uri="{BB962C8B-B14F-4D97-AF65-F5344CB8AC3E}">
        <p14:creationId xmlns:p14="http://schemas.microsoft.com/office/powerpoint/2010/main" val="259305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599"/>
            <a:ext cx="9905998" cy="6832801"/>
          </a:xfrm>
          <a:prstGeom prst="rect">
            <a:avLst/>
          </a:prstGeom>
        </p:spPr>
      </p:pic>
      <p:pic>
        <p:nvPicPr>
          <p:cNvPr id="9" name="Picture 8"/>
          <p:cNvPicPr>
            <a:picLocks noChangeAspect="1"/>
          </p:cNvPicPr>
          <p:nvPr userDrawn="1"/>
        </p:nvPicPr>
        <p:blipFill>
          <a:blip r:embed="rId3" cstate="print"/>
          <a:stretch>
            <a:fillRect/>
          </a:stretch>
        </p:blipFill>
        <p:spPr>
          <a:xfrm>
            <a:off x="8134132" y="6283800"/>
            <a:ext cx="1449706" cy="226951"/>
          </a:xfrm>
          <a:prstGeom prst="rect">
            <a:avLst/>
          </a:prstGeom>
        </p:spPr>
      </p:pic>
      <p:sp>
        <p:nvSpPr>
          <p:cNvPr id="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F29D4B84-79FB-4BAB-BA3E-79EA71FBEF28}"/>
              </a:ext>
            </a:extLst>
          </p:cNvPr>
          <p:cNvPicPr>
            <a:picLocks noChangeAspect="1"/>
          </p:cNvPicPr>
          <p:nvPr userDrawn="1"/>
        </p:nvPicPr>
        <p:blipFill>
          <a:blip r:embed="rId5"/>
          <a:stretch>
            <a:fillRect/>
          </a:stretch>
        </p:blipFill>
        <p:spPr>
          <a:xfrm>
            <a:off x="8060700" y="115759"/>
            <a:ext cx="1828800" cy="748531"/>
          </a:xfrm>
          <a:prstGeom prst="rect">
            <a:avLst/>
          </a:prstGeom>
        </p:spPr>
      </p:pic>
    </p:spTree>
    <p:extLst>
      <p:ext uri="{BB962C8B-B14F-4D97-AF65-F5344CB8AC3E}">
        <p14:creationId xmlns:p14="http://schemas.microsoft.com/office/powerpoint/2010/main" val="4066818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3" y="12600"/>
            <a:ext cx="9908664" cy="6832800"/>
          </a:xfrm>
          <a:prstGeom prst="rect">
            <a:avLst/>
          </a:prstGeom>
        </p:spPr>
      </p:pic>
      <p:pic>
        <p:nvPicPr>
          <p:cNvPr id="8" name="Picture 7"/>
          <p:cNvPicPr>
            <a:picLocks noChangeAspect="1"/>
          </p:cNvPicPr>
          <p:nvPr userDrawn="1"/>
        </p:nvPicPr>
        <p:blipFill>
          <a:blip r:embed="rId3" cstate="print"/>
          <a:stretch>
            <a:fillRect/>
          </a:stretch>
        </p:blipFill>
        <p:spPr>
          <a:xfrm>
            <a:off x="8134137" y="245287"/>
            <a:ext cx="1449701" cy="554026"/>
          </a:xfrm>
          <a:prstGeom prst="rect">
            <a:avLst/>
          </a:prstGeom>
        </p:spPr>
      </p:pic>
      <p:pic>
        <p:nvPicPr>
          <p:cNvPr id="9" name="Picture 8"/>
          <p:cNvPicPr>
            <a:picLocks noChangeAspect="1"/>
          </p:cNvPicPr>
          <p:nvPr userDrawn="1"/>
        </p:nvPicPr>
        <p:blipFill>
          <a:blip r:embed="rId4" cstate="print"/>
          <a:stretch>
            <a:fillRect/>
          </a:stretch>
        </p:blipFill>
        <p:spPr>
          <a:xfrm>
            <a:off x="8134132" y="6283800"/>
            <a:ext cx="1449706" cy="226951"/>
          </a:xfrm>
          <a:prstGeom prst="rect">
            <a:avLst/>
          </a:prstGeom>
        </p:spPr>
      </p:pic>
      <p:pic>
        <p:nvPicPr>
          <p:cNvPr id="10" name="Picture 26" descr="Visual Identitiy Band"/>
          <p:cNvPicPr preferRelativeResize="0">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068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atermark">
    <p:spTree>
      <p:nvGrpSpPr>
        <p:cNvPr id="1" name=""/>
        <p:cNvGrpSpPr/>
        <p:nvPr/>
      </p:nvGrpSpPr>
      <p:grpSpPr>
        <a:xfrm>
          <a:off x="0" y="0"/>
          <a:ext cx="0" cy="0"/>
          <a:chOff x="0" y="0"/>
          <a:chExt cx="0" cy="0"/>
        </a:xfrm>
      </p:grpSpPr>
      <p:pic>
        <p:nvPicPr>
          <p:cNvPr id="3" name="Picture 2" descr="SCWB_PPT_Divider.jpg"/>
          <p:cNvPicPr>
            <a:picLocks noChangeAspect="1"/>
          </p:cNvPicPr>
          <p:nvPr userDrawn="1"/>
        </p:nvPicPr>
        <p:blipFill rotWithShape="1">
          <a:blip r:embed="rId2" cstate="print">
            <a:extLst>
              <a:ext uri="{28A0092B-C50C-407E-A947-70E740481C1C}">
                <a14:useLocalDpi xmlns:a14="http://schemas.microsoft.com/office/drawing/2010/main" val="0"/>
              </a:ext>
            </a:extLst>
          </a:blip>
          <a:srcRect t="15121" b="2696"/>
          <a:stretch/>
        </p:blipFill>
        <p:spPr>
          <a:xfrm>
            <a:off x="2350" y="1088141"/>
            <a:ext cx="9903650" cy="5757259"/>
          </a:xfrm>
          <a:prstGeom prst="rect">
            <a:avLst/>
          </a:prstGeom>
        </p:spPr>
      </p:pic>
      <p:sp>
        <p:nvSpPr>
          <p:cNvPr id="4" name="Title 1"/>
          <p:cNvSpPr>
            <a:spLocks noGrp="1"/>
          </p:cNvSpPr>
          <p:nvPr>
            <p:ph type="ctrTitle"/>
          </p:nvPr>
        </p:nvSpPr>
        <p:spPr>
          <a:xfrm>
            <a:off x="340234" y="4833001"/>
            <a:ext cx="9259747" cy="1029600"/>
          </a:xfrm>
        </p:spPr>
        <p:txBody>
          <a:bodyPr anchor="t">
            <a:normAutofit/>
          </a:bodyPr>
          <a:lstStyle>
            <a:lvl1pPr algn="l">
              <a:defRPr sz="3500" baseline="0">
                <a:solidFill>
                  <a:schemeClr val="accent5"/>
                </a:solidFill>
                <a:latin typeface="Cover Title"/>
              </a:defRPr>
            </a:lvl1pPr>
          </a:lstStyle>
          <a:p>
            <a:r>
              <a:rPr lang="en-US"/>
              <a:t>Click to edit Master title style</a:t>
            </a:r>
            <a:endParaRPr lang="en-US" dirty="0"/>
          </a:p>
        </p:txBody>
      </p:sp>
      <p:sp>
        <p:nvSpPr>
          <p:cNvPr id="5" name="Subtitle 2"/>
          <p:cNvSpPr>
            <a:spLocks noGrp="1"/>
          </p:cNvSpPr>
          <p:nvPr>
            <p:ph type="subTitle" idx="1"/>
          </p:nvPr>
        </p:nvSpPr>
        <p:spPr>
          <a:xfrm>
            <a:off x="340234" y="3709800"/>
            <a:ext cx="9243814" cy="966040"/>
          </a:xfrm>
        </p:spPr>
        <p:txBody>
          <a:bodyPr anchor="b">
            <a:normAutofit/>
          </a:bodyPr>
          <a:lstStyle>
            <a:lvl1pPr marL="0" indent="0" algn="l">
              <a:buNone/>
              <a:defRPr sz="2000" baseline="0">
                <a:solidFill>
                  <a:schemeClr val="tx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07908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24091" y="132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3316229516"/>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876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324091" y="1323001"/>
            <a:ext cx="4488509"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idx="12"/>
          </p:nvPr>
        </p:nvSpPr>
        <p:spPr>
          <a:xfrm>
            <a:off x="5093400" y="1323001"/>
            <a:ext cx="4490438"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38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AABF3E-EF9B-47F8-BC27-8C04233D4794}" type="datetimeFigureOut">
              <a:rPr lang="en-US" smtClean="0"/>
              <a:pPr/>
              <a:t>6/28/2019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96F9C-7FEE-48F2-A86C-DCFACBAB2156}" type="slidenum">
              <a:rPr lang="en-US" smtClean="0"/>
              <a:pPr/>
              <a:t>‹#›</a:t>
            </a:fld>
            <a:endParaRPr lang="en-US"/>
          </a:p>
        </p:txBody>
      </p:sp>
    </p:spTree>
    <p:extLst>
      <p:ext uri="{BB962C8B-B14F-4D97-AF65-F5344CB8AC3E}">
        <p14:creationId xmlns:p14="http://schemas.microsoft.com/office/powerpoint/2010/main" val="3416229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Midle title ">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442590" y="2600420"/>
            <a:ext cx="4510412" cy="769275"/>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442590" y="3429000"/>
            <a:ext cx="4510412" cy="29580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2947826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91" y="199800"/>
            <a:ext cx="9259747" cy="70200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p:cNvSpPr>
            <a:spLocks noGrp="1" noChangeAspect="1"/>
          </p:cNvSpPr>
          <p:nvPr>
            <p:ph type="body"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26" descr="Visual Identitiy Band"/>
          <p:cNvPicPr preferRelativeResize="0">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 name="Text Box 6"/>
          <p:cNvSpPr txBox="1">
            <a:spLocks noChangeArrowheads="1"/>
          </p:cNvSpPr>
          <p:nvPr/>
        </p:nvSpPr>
        <p:spPr bwMode="auto">
          <a:xfrm>
            <a:off x="9223410" y="6447452"/>
            <a:ext cx="357028" cy="298513"/>
          </a:xfrm>
          <a:prstGeom prst="rect">
            <a:avLst/>
          </a:prstGeom>
          <a:noFill/>
          <a:ln w="9525">
            <a:noFill/>
            <a:miter lim="800000"/>
            <a:headEnd/>
            <a:tailEnd/>
          </a:ln>
        </p:spPr>
        <p:txBody>
          <a:bodyPr lIns="0" tIns="0" rIns="0" bIns="0" anchor="ctr"/>
          <a:lstStyle>
            <a:lvl1pPr defTabSz="1042988" eaLnBrk="0" hangingPunct="0">
              <a:defRPr sz="900" baseline="-25000">
                <a:solidFill>
                  <a:srgbClr val="006699"/>
                </a:solidFill>
                <a:latin typeface="Arial" charset="0"/>
                <a:ea typeface="ＭＳ Ｐゴシック" charset="0"/>
                <a:cs typeface="Arial" charset="0"/>
              </a:defRPr>
            </a:lvl1pPr>
            <a:lvl2pPr marL="742950" indent="-285750" defTabSz="1042988" eaLnBrk="0" hangingPunct="0">
              <a:defRPr sz="900" baseline="-25000">
                <a:solidFill>
                  <a:srgbClr val="006699"/>
                </a:solidFill>
                <a:latin typeface="Arial" charset="0"/>
                <a:ea typeface="Arial" charset="0"/>
                <a:cs typeface="Arial" charset="0"/>
              </a:defRPr>
            </a:lvl2pPr>
            <a:lvl3pPr marL="1143000" indent="-228600" defTabSz="1042988" eaLnBrk="0" hangingPunct="0">
              <a:defRPr sz="900" baseline="-25000">
                <a:solidFill>
                  <a:srgbClr val="006699"/>
                </a:solidFill>
                <a:latin typeface="Arial" charset="0"/>
                <a:ea typeface="Arial" charset="0"/>
                <a:cs typeface="Arial" charset="0"/>
              </a:defRPr>
            </a:lvl3pPr>
            <a:lvl4pPr marL="1600200" indent="-228600" defTabSz="1042988" eaLnBrk="0" hangingPunct="0">
              <a:defRPr sz="900" baseline="-25000">
                <a:solidFill>
                  <a:srgbClr val="006699"/>
                </a:solidFill>
                <a:latin typeface="Arial" charset="0"/>
                <a:ea typeface="Arial" charset="0"/>
                <a:cs typeface="Arial" charset="0"/>
              </a:defRPr>
            </a:lvl4pPr>
            <a:lvl5pPr marL="2057400" indent="-228600" defTabSz="1042988" eaLnBrk="0" hangingPunct="0">
              <a:defRPr sz="900" baseline="-25000">
                <a:solidFill>
                  <a:srgbClr val="006699"/>
                </a:solidFill>
                <a:latin typeface="Arial" charset="0"/>
                <a:ea typeface="Arial" charset="0"/>
                <a:cs typeface="Arial" charset="0"/>
              </a:defRPr>
            </a:lvl5pPr>
            <a:lvl6pPr marL="25146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6pPr>
            <a:lvl7pPr marL="29718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7pPr>
            <a:lvl8pPr marL="34290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8pPr>
            <a:lvl9pPr marL="38862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9pPr>
          </a:lstStyle>
          <a:p>
            <a:pPr algn="r" eaLnBrk="1" hangingPunct="1"/>
            <a:fld id="{6E0DC809-1827-F44D-A8AA-8C566384234E}" type="slidenum">
              <a:rPr lang="en-US" sz="900" baseline="0">
                <a:solidFill>
                  <a:srgbClr val="6D6E71"/>
                </a:solidFill>
                <a:latin typeface="+mn-lt"/>
              </a:rPr>
              <a:pPr algn="r" eaLnBrk="1" hangingPunct="1"/>
              <a:t>‹#›</a:t>
            </a:fld>
            <a:endParaRPr lang="en-US" sz="900" baseline="0">
              <a:solidFill>
                <a:srgbClr val="6D6E71"/>
              </a:solidFill>
              <a:latin typeface="+mn-lt"/>
            </a:endParaRPr>
          </a:p>
        </p:txBody>
      </p:sp>
      <p:sp>
        <p:nvSpPr>
          <p:cNvPr id="15" name="Text Box 25"/>
          <p:cNvSpPr txBox="1">
            <a:spLocks noChangeArrowheads="1"/>
          </p:cNvSpPr>
          <p:nvPr/>
        </p:nvSpPr>
        <p:spPr bwMode="auto">
          <a:xfrm>
            <a:off x="5661057" y="6471270"/>
            <a:ext cx="3473490" cy="252466"/>
          </a:xfrm>
          <a:prstGeom prst="rect">
            <a:avLst/>
          </a:prstGeom>
          <a:noFill/>
          <a:ln w="9525">
            <a:noFill/>
            <a:miter lim="800000"/>
            <a:headEnd/>
            <a:tailEnd/>
          </a:ln>
          <a:effectLst/>
        </p:spPr>
        <p:txBody>
          <a:bodyPr lIns="0" tIns="0" rIns="132630" bIns="0" anchor="ctr"/>
          <a:lstStyle/>
          <a:p>
            <a:pPr marL="562284" indent="-562284" algn="r" defTabSz="1122860">
              <a:spcBef>
                <a:spcPct val="40000"/>
              </a:spcBef>
              <a:spcAft>
                <a:spcPct val="40000"/>
              </a:spcAft>
              <a:defRPr/>
            </a:pPr>
            <a:r>
              <a:rPr lang="en-GB" sz="900" baseline="0" dirty="0">
                <a:solidFill>
                  <a:srgbClr val="6D6E71"/>
                </a:solidFill>
                <a:latin typeface="+mn-lt"/>
                <a:ea typeface="+mn-ea"/>
              </a:rPr>
              <a:t>Document Title</a:t>
            </a:r>
          </a:p>
        </p:txBody>
      </p:sp>
      <p:pic>
        <p:nvPicPr>
          <p:cNvPr id="9" name="Picture 8">
            <a:extLst>
              <a:ext uri="{FF2B5EF4-FFF2-40B4-BE49-F238E27FC236}">
                <a16:creationId xmlns:a16="http://schemas.microsoft.com/office/drawing/2014/main" id="{48FC6E1C-F72F-45A3-B159-0C9D9DB4CA03}"/>
              </a:ext>
            </a:extLst>
          </p:cNvPr>
          <p:cNvPicPr>
            <a:picLocks noChangeAspect="1"/>
          </p:cNvPicPr>
          <p:nvPr userDrawn="1"/>
        </p:nvPicPr>
        <p:blipFill>
          <a:blip r:embed="rId11"/>
          <a:stretch>
            <a:fillRect/>
          </a:stretch>
        </p:blipFill>
        <p:spPr>
          <a:xfrm>
            <a:off x="7853739" y="183759"/>
            <a:ext cx="1736100" cy="710589"/>
          </a:xfrm>
          <a:prstGeom prst="rect">
            <a:avLst/>
          </a:prstGeom>
        </p:spPr>
      </p:pic>
    </p:spTree>
    <p:extLst>
      <p:ext uri="{BB962C8B-B14F-4D97-AF65-F5344CB8AC3E}">
        <p14:creationId xmlns:p14="http://schemas.microsoft.com/office/powerpoint/2010/main" val="103315839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0" r:id="rId3"/>
    <p:sldLayoutId id="2147483701" r:id="rId4"/>
    <p:sldLayoutId id="2147483666" r:id="rId5"/>
    <p:sldLayoutId id="2147483668" r:id="rId6"/>
    <p:sldLayoutId id="2147483702" r:id="rId7"/>
    <p:sldLayoutId id="2147483704" r:id="rId8"/>
  </p:sldLayoutIdLst>
  <p:txStyles>
    <p:title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getbootstrap.com/"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HTML,CSS and Bootstrap</a:t>
            </a:r>
            <a:endParaRPr lang="en-GB" dirty="0"/>
          </a:p>
        </p:txBody>
      </p:sp>
    </p:spTree>
    <p:extLst>
      <p:ext uri="{BB962C8B-B14F-4D97-AF65-F5344CB8AC3E}">
        <p14:creationId xmlns:p14="http://schemas.microsoft.com/office/powerpoint/2010/main" val="3399373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08CE-D734-4365-84DA-6E43F9805E5A}"/>
              </a:ext>
            </a:extLst>
          </p:cNvPr>
          <p:cNvSpPr>
            <a:spLocks noGrp="1"/>
          </p:cNvSpPr>
          <p:nvPr>
            <p:ph type="title"/>
          </p:nvPr>
        </p:nvSpPr>
        <p:spPr/>
        <p:txBody>
          <a:bodyPr/>
          <a:lstStyle/>
          <a:p>
            <a:r>
              <a:rPr lang="en-US" dirty="0"/>
              <a:t>Module Design</a:t>
            </a:r>
          </a:p>
        </p:txBody>
      </p:sp>
      <p:sp>
        <p:nvSpPr>
          <p:cNvPr id="113" name="TextBox 112">
            <a:extLst>
              <a:ext uri="{FF2B5EF4-FFF2-40B4-BE49-F238E27FC236}">
                <a16:creationId xmlns:a16="http://schemas.microsoft.com/office/drawing/2014/main" id="{C37CE2DB-C1BC-4E74-8788-D1CCCFC271F9}"/>
              </a:ext>
            </a:extLst>
          </p:cNvPr>
          <p:cNvSpPr txBox="1"/>
          <p:nvPr/>
        </p:nvSpPr>
        <p:spPr>
          <a:xfrm>
            <a:off x="123053" y="6023682"/>
            <a:ext cx="2924947" cy="702001"/>
          </a:xfrm>
          <a:prstGeom prst="rect">
            <a:avLst/>
          </a:prstGeom>
          <a:noFill/>
          <a:ln w="3175">
            <a:solidFill>
              <a:schemeClr val="tx1"/>
            </a:solidFill>
          </a:ln>
        </p:spPr>
        <p:txBody>
          <a:bodyPr wrap="square" rtlCol="0">
            <a:spAutoFit/>
          </a:bodyPr>
          <a:lstStyle/>
          <a:p>
            <a:r>
              <a:rPr lang="en-US" sz="2000" b="1" dirty="0">
                <a:latin typeface="Calibri" panose="020F0502020204030204" pitchFamily="34" charset="0"/>
                <a:cs typeface="Calibri" panose="020F0502020204030204" pitchFamily="34" charset="0"/>
              </a:rPr>
              <a:t>IDE</a:t>
            </a:r>
            <a:r>
              <a:rPr lang="en-US" sz="2000" dirty="0">
                <a:latin typeface="Calibri" panose="020F0502020204030204" pitchFamily="34" charset="0"/>
                <a:cs typeface="Calibri" panose="020F0502020204030204" pitchFamily="34" charset="0"/>
              </a:rPr>
              <a:t> : Visual Studio</a:t>
            </a:r>
          </a:p>
          <a:p>
            <a:r>
              <a:rPr lang="en-US" sz="2000" b="1" dirty="0">
                <a:latin typeface="Calibri" panose="020F0502020204030204" pitchFamily="34" charset="0"/>
                <a:cs typeface="Calibri" panose="020F0502020204030204" pitchFamily="34" charset="0"/>
              </a:rPr>
              <a:t>Browser</a:t>
            </a:r>
            <a:r>
              <a:rPr lang="en-US" sz="2000" dirty="0">
                <a:latin typeface="Calibri" panose="020F0502020204030204" pitchFamily="34" charset="0"/>
                <a:cs typeface="Calibri" panose="020F0502020204030204" pitchFamily="34" charset="0"/>
              </a:rPr>
              <a:t>: Google Chrome</a:t>
            </a:r>
          </a:p>
        </p:txBody>
      </p:sp>
      <p:grpSp>
        <p:nvGrpSpPr>
          <p:cNvPr id="119" name="Group 118">
            <a:extLst>
              <a:ext uri="{FF2B5EF4-FFF2-40B4-BE49-F238E27FC236}">
                <a16:creationId xmlns:a16="http://schemas.microsoft.com/office/drawing/2014/main" id="{A5034EE6-FB51-4180-B84C-EEC506E8F4C9}"/>
              </a:ext>
            </a:extLst>
          </p:cNvPr>
          <p:cNvGrpSpPr/>
          <p:nvPr/>
        </p:nvGrpSpPr>
        <p:grpSpPr>
          <a:xfrm>
            <a:off x="324091" y="1551333"/>
            <a:ext cx="7200872" cy="4289970"/>
            <a:chOff x="324091" y="1631219"/>
            <a:chExt cx="7212014" cy="4220513"/>
          </a:xfrm>
        </p:grpSpPr>
        <p:sp>
          <p:nvSpPr>
            <p:cNvPr id="78" name="Rectangle: Rounded Corners 77">
              <a:extLst>
                <a:ext uri="{FF2B5EF4-FFF2-40B4-BE49-F238E27FC236}">
                  <a16:creationId xmlns:a16="http://schemas.microsoft.com/office/drawing/2014/main" id="{86D9A961-186F-425E-A1C2-C475C431DE37}"/>
                </a:ext>
              </a:extLst>
            </p:cNvPr>
            <p:cNvSpPr/>
            <p:nvPr/>
          </p:nvSpPr>
          <p:spPr>
            <a:xfrm>
              <a:off x="3213370" y="3217573"/>
              <a:ext cx="1809509" cy="990600"/>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Introduce the Use Case to be completed</a:t>
              </a:r>
            </a:p>
          </p:txBody>
        </p:sp>
        <p:grpSp>
          <p:nvGrpSpPr>
            <p:cNvPr id="114" name="Group 113">
              <a:extLst>
                <a:ext uri="{FF2B5EF4-FFF2-40B4-BE49-F238E27FC236}">
                  <a16:creationId xmlns:a16="http://schemas.microsoft.com/office/drawing/2014/main" id="{4A5E4DBF-F6EB-4D34-AF73-1EB2E2A35E80}"/>
                </a:ext>
              </a:extLst>
            </p:cNvPr>
            <p:cNvGrpSpPr/>
            <p:nvPr/>
          </p:nvGrpSpPr>
          <p:grpSpPr>
            <a:xfrm>
              <a:off x="324091" y="1631219"/>
              <a:ext cx="7212014" cy="4220513"/>
              <a:chOff x="165042" y="1220678"/>
              <a:chExt cx="7212014" cy="4220513"/>
            </a:xfrm>
          </p:grpSpPr>
          <p:sp>
            <p:nvSpPr>
              <p:cNvPr id="77" name="Rectangle: Rounded Corners 76">
                <a:extLst>
                  <a:ext uri="{FF2B5EF4-FFF2-40B4-BE49-F238E27FC236}">
                    <a16:creationId xmlns:a16="http://schemas.microsoft.com/office/drawing/2014/main" id="{0FAD2F6E-8D24-4A84-BFF0-62184D6225BF}"/>
                  </a:ext>
                </a:extLst>
              </p:cNvPr>
              <p:cNvSpPr/>
              <p:nvPr/>
            </p:nvSpPr>
            <p:spPr>
              <a:xfrm>
                <a:off x="165042" y="2809182"/>
                <a:ext cx="1809509"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Web development</a:t>
                </a:r>
              </a:p>
              <a:p>
                <a:pPr algn="ctr"/>
                <a:r>
                  <a:rPr lang="en-US" dirty="0">
                    <a:solidFill>
                      <a:schemeClr val="bg1"/>
                    </a:solidFill>
                    <a:latin typeface="Calibri" panose="020F0502020204030204" pitchFamily="34" charset="0"/>
                    <a:cs typeface="Calibri" panose="020F0502020204030204" pitchFamily="34" charset="0"/>
                  </a:rPr>
                  <a:t>fundamentals</a:t>
                </a:r>
              </a:p>
            </p:txBody>
          </p:sp>
          <p:sp>
            <p:nvSpPr>
              <p:cNvPr id="79" name="Rectangle: Rounded Corners 78">
                <a:extLst>
                  <a:ext uri="{FF2B5EF4-FFF2-40B4-BE49-F238E27FC236}">
                    <a16:creationId xmlns:a16="http://schemas.microsoft.com/office/drawing/2014/main" id="{8B46692F-6EC9-481A-8F7D-782F8A50C95E}"/>
                  </a:ext>
                </a:extLst>
              </p:cNvPr>
              <p:cNvSpPr/>
              <p:nvPr/>
            </p:nvSpPr>
            <p:spPr>
              <a:xfrm>
                <a:off x="5567545" y="1220678"/>
                <a:ext cx="1809511" cy="1158551"/>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Stage 1 : Apply HTML and CSS to create basic page</a:t>
                </a:r>
              </a:p>
            </p:txBody>
          </p:sp>
          <p:sp>
            <p:nvSpPr>
              <p:cNvPr id="80" name="Rectangle: Rounded Corners 79">
                <a:extLst>
                  <a:ext uri="{FF2B5EF4-FFF2-40B4-BE49-F238E27FC236}">
                    <a16:creationId xmlns:a16="http://schemas.microsoft.com/office/drawing/2014/main" id="{8BEB2B59-4B17-4735-A76F-4733A4B77225}"/>
                  </a:ext>
                </a:extLst>
              </p:cNvPr>
              <p:cNvSpPr/>
              <p:nvPr/>
            </p:nvSpPr>
            <p:spPr>
              <a:xfrm>
                <a:off x="5567547" y="4292123"/>
                <a:ext cx="1809508" cy="1149068"/>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Stage 2 : Add bootstrap layer to enhance experience</a:t>
                </a:r>
              </a:p>
            </p:txBody>
          </p:sp>
          <p:sp>
            <p:nvSpPr>
              <p:cNvPr id="85" name="TextBox 84">
                <a:extLst>
                  <a:ext uri="{FF2B5EF4-FFF2-40B4-BE49-F238E27FC236}">
                    <a16:creationId xmlns:a16="http://schemas.microsoft.com/office/drawing/2014/main" id="{77A88D5F-8DC8-43F6-B64C-5C0A483D97B5}"/>
                  </a:ext>
                </a:extLst>
              </p:cNvPr>
              <p:cNvSpPr txBox="1"/>
              <p:nvPr/>
            </p:nvSpPr>
            <p:spPr>
              <a:xfrm>
                <a:off x="2328800" y="2935150"/>
                <a:ext cx="312906" cy="369332"/>
              </a:xfrm>
              <a:prstGeom prst="rect">
                <a:avLst/>
              </a:prstGeom>
              <a:noFill/>
            </p:spPr>
            <p:txBody>
              <a:bodyPr wrap="none" rtlCol="0">
                <a:spAutoFit/>
              </a:bodyPr>
              <a:lstStyle/>
              <a:p>
                <a:r>
                  <a:rPr lang="en-US" dirty="0">
                    <a:solidFill>
                      <a:schemeClr val="bg1"/>
                    </a:solidFill>
                    <a:latin typeface="Calibri" panose="020F0502020204030204" pitchFamily="34" charset="0"/>
                    <a:cs typeface="Calibri" panose="020F0502020204030204" pitchFamily="34" charset="0"/>
                  </a:rPr>
                  <a:t>1</a:t>
                </a:r>
              </a:p>
            </p:txBody>
          </p:sp>
          <p:sp>
            <p:nvSpPr>
              <p:cNvPr id="106" name="Arrow: Left-Up 105">
                <a:extLst>
                  <a:ext uri="{FF2B5EF4-FFF2-40B4-BE49-F238E27FC236}">
                    <a16:creationId xmlns:a16="http://schemas.microsoft.com/office/drawing/2014/main" id="{FEC7A88B-4AA4-4D6E-959A-82417F9A96F3}"/>
                  </a:ext>
                </a:extLst>
              </p:cNvPr>
              <p:cNvSpPr/>
              <p:nvPr/>
            </p:nvSpPr>
            <p:spPr>
              <a:xfrm flipH="1" flipV="1">
                <a:off x="4417976" y="1898473"/>
                <a:ext cx="1149569" cy="908481"/>
              </a:xfrm>
              <a:prstGeom prst="leftUpArrow">
                <a:avLst>
                  <a:gd name="adj1" fmla="val 29712"/>
                  <a:gd name="adj2" fmla="val 25000"/>
                  <a:gd name="adj3" fmla="val 2500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Calibri" panose="020F0502020204030204" pitchFamily="34" charset="0"/>
                  <a:cs typeface="Calibri" panose="020F0502020204030204" pitchFamily="34" charset="0"/>
                </a:endParaRPr>
              </a:p>
            </p:txBody>
          </p:sp>
          <p:sp>
            <p:nvSpPr>
              <p:cNvPr id="107" name="Arrow: Left-Up 106">
                <a:extLst>
                  <a:ext uri="{FF2B5EF4-FFF2-40B4-BE49-F238E27FC236}">
                    <a16:creationId xmlns:a16="http://schemas.microsoft.com/office/drawing/2014/main" id="{5BC47679-5354-4B9A-A068-324B6837D7D3}"/>
                  </a:ext>
                </a:extLst>
              </p:cNvPr>
              <p:cNvSpPr/>
              <p:nvPr/>
            </p:nvSpPr>
            <p:spPr>
              <a:xfrm flipH="1">
                <a:off x="4417977" y="3804970"/>
                <a:ext cx="1149570" cy="1153218"/>
              </a:xfrm>
              <a:prstGeom prst="leftUpArrow">
                <a:avLst>
                  <a:gd name="adj1" fmla="val 21626"/>
                  <a:gd name="adj2" fmla="val 25000"/>
                  <a:gd name="adj3" fmla="val 33435"/>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libri" panose="020F0502020204030204" pitchFamily="34" charset="0"/>
                  <a:cs typeface="Calibri" panose="020F0502020204030204" pitchFamily="34" charset="0"/>
                </a:endParaRPr>
              </a:p>
            </p:txBody>
          </p:sp>
          <p:sp>
            <p:nvSpPr>
              <p:cNvPr id="110" name="Arrow: Right 109">
                <a:extLst>
                  <a:ext uri="{FF2B5EF4-FFF2-40B4-BE49-F238E27FC236}">
                    <a16:creationId xmlns:a16="http://schemas.microsoft.com/office/drawing/2014/main" id="{2A5D483E-FAD6-469B-8C4D-919F6B5D7DAC}"/>
                  </a:ext>
                </a:extLst>
              </p:cNvPr>
              <p:cNvSpPr/>
              <p:nvPr/>
            </p:nvSpPr>
            <p:spPr>
              <a:xfrm>
                <a:off x="1974551" y="3119816"/>
                <a:ext cx="1079770" cy="528212"/>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libri" panose="020F0502020204030204" pitchFamily="34" charset="0"/>
                  <a:cs typeface="Calibri" panose="020F0502020204030204" pitchFamily="34" charset="0"/>
                </a:endParaRPr>
              </a:p>
            </p:txBody>
          </p:sp>
          <p:sp>
            <p:nvSpPr>
              <p:cNvPr id="111" name="TextBox 110">
                <a:extLst>
                  <a:ext uri="{FF2B5EF4-FFF2-40B4-BE49-F238E27FC236}">
                    <a16:creationId xmlns:a16="http://schemas.microsoft.com/office/drawing/2014/main" id="{12405B6A-1CCB-4BB7-B586-8C87579D14F7}"/>
                  </a:ext>
                </a:extLst>
              </p:cNvPr>
              <p:cNvSpPr txBox="1"/>
              <p:nvPr/>
            </p:nvSpPr>
            <p:spPr>
              <a:xfrm>
                <a:off x="5029240" y="1521805"/>
                <a:ext cx="312906" cy="369332"/>
              </a:xfrm>
              <a:prstGeom prst="rect">
                <a:avLst/>
              </a:prstGeom>
              <a:noFill/>
            </p:spPr>
            <p:txBody>
              <a:bodyPr wrap="none" rtlCol="0">
                <a:spAutoFit/>
              </a:bodyPr>
              <a:lstStyle/>
              <a:p>
                <a:r>
                  <a:rPr lang="en-US" dirty="0">
                    <a:solidFill>
                      <a:schemeClr val="bg1"/>
                    </a:solidFill>
                    <a:latin typeface="Calibri" panose="020F0502020204030204" pitchFamily="34" charset="0"/>
                    <a:cs typeface="Calibri" panose="020F0502020204030204" pitchFamily="34" charset="0"/>
                  </a:rPr>
                  <a:t>2</a:t>
                </a:r>
              </a:p>
            </p:txBody>
          </p:sp>
          <p:sp>
            <p:nvSpPr>
              <p:cNvPr id="112" name="TextBox 111">
                <a:extLst>
                  <a:ext uri="{FF2B5EF4-FFF2-40B4-BE49-F238E27FC236}">
                    <a16:creationId xmlns:a16="http://schemas.microsoft.com/office/drawing/2014/main" id="{83B97370-0D2F-454B-B6F0-2D8D29343A70}"/>
                  </a:ext>
                </a:extLst>
              </p:cNvPr>
              <p:cNvSpPr txBox="1"/>
              <p:nvPr/>
            </p:nvSpPr>
            <p:spPr>
              <a:xfrm>
                <a:off x="5029240" y="4923328"/>
                <a:ext cx="313390" cy="363352"/>
              </a:xfrm>
              <a:prstGeom prst="rect">
                <a:avLst/>
              </a:prstGeom>
              <a:noFill/>
            </p:spPr>
            <p:txBody>
              <a:bodyPr wrap="none" rtlCol="0">
                <a:spAutoFit/>
              </a:bodyPr>
              <a:lstStyle/>
              <a:p>
                <a:r>
                  <a:rPr lang="en-US" dirty="0">
                    <a:solidFill>
                      <a:schemeClr val="bg1"/>
                    </a:solidFill>
                    <a:latin typeface="Calibri" panose="020F0502020204030204" pitchFamily="34" charset="0"/>
                    <a:cs typeface="Calibri" panose="020F0502020204030204" pitchFamily="34" charset="0"/>
                  </a:rPr>
                  <a:t>5</a:t>
                </a:r>
              </a:p>
            </p:txBody>
          </p:sp>
        </p:grpSp>
      </p:grpSp>
      <p:sp>
        <p:nvSpPr>
          <p:cNvPr id="120" name="Rectangle: Rounded Corners 119">
            <a:extLst>
              <a:ext uri="{FF2B5EF4-FFF2-40B4-BE49-F238E27FC236}">
                <a16:creationId xmlns:a16="http://schemas.microsoft.com/office/drawing/2014/main" id="{49BDDFF6-7C0E-40A3-A3D0-ECE0C14BDE1B}"/>
              </a:ext>
            </a:extLst>
          </p:cNvPr>
          <p:cNvSpPr/>
          <p:nvPr/>
        </p:nvSpPr>
        <p:spPr>
          <a:xfrm>
            <a:off x="5718250" y="3325171"/>
            <a:ext cx="1806712" cy="7422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Learn Bootstrap fundamentals</a:t>
            </a:r>
          </a:p>
        </p:txBody>
      </p:sp>
      <p:sp>
        <p:nvSpPr>
          <p:cNvPr id="121" name="Speech Bubble: Oval 120">
            <a:extLst>
              <a:ext uri="{FF2B5EF4-FFF2-40B4-BE49-F238E27FC236}">
                <a16:creationId xmlns:a16="http://schemas.microsoft.com/office/drawing/2014/main" id="{E6954A6E-E52B-4261-AF00-22F5C19FA39A}"/>
              </a:ext>
            </a:extLst>
          </p:cNvPr>
          <p:cNvSpPr/>
          <p:nvPr/>
        </p:nvSpPr>
        <p:spPr>
          <a:xfrm>
            <a:off x="8119794" y="1122150"/>
            <a:ext cx="1678407" cy="1167979"/>
          </a:xfrm>
          <a:prstGeom prst="wedgeEllipseCallout">
            <a:avLst>
              <a:gd name="adj1" fmla="val -82860"/>
              <a:gd name="adj2" fmla="val 47821"/>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Cheat Sheet for HTML and CSS</a:t>
            </a:r>
          </a:p>
        </p:txBody>
      </p:sp>
      <p:sp>
        <p:nvSpPr>
          <p:cNvPr id="122" name="Speech Bubble: Oval 121">
            <a:extLst>
              <a:ext uri="{FF2B5EF4-FFF2-40B4-BE49-F238E27FC236}">
                <a16:creationId xmlns:a16="http://schemas.microsoft.com/office/drawing/2014/main" id="{9A6F9E29-30C0-4220-9384-8AAE0D58E283}"/>
              </a:ext>
            </a:extLst>
          </p:cNvPr>
          <p:cNvSpPr/>
          <p:nvPr/>
        </p:nvSpPr>
        <p:spPr>
          <a:xfrm>
            <a:off x="8119794" y="3969718"/>
            <a:ext cx="1678407" cy="1167979"/>
          </a:xfrm>
          <a:prstGeom prst="wedgeEllipseCallout">
            <a:avLst>
              <a:gd name="adj1" fmla="val -85130"/>
              <a:gd name="adj2" fmla="val 59238"/>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Cheat Sheet for Bootstrap</a:t>
            </a:r>
          </a:p>
        </p:txBody>
      </p:sp>
      <p:sp>
        <p:nvSpPr>
          <p:cNvPr id="123" name="Arrow: Down 122">
            <a:extLst>
              <a:ext uri="{FF2B5EF4-FFF2-40B4-BE49-F238E27FC236}">
                <a16:creationId xmlns:a16="http://schemas.microsoft.com/office/drawing/2014/main" id="{EB0E633F-32C5-49FF-A1FA-EC41C20B125F}"/>
              </a:ext>
            </a:extLst>
          </p:cNvPr>
          <p:cNvSpPr/>
          <p:nvPr/>
        </p:nvSpPr>
        <p:spPr>
          <a:xfrm>
            <a:off x="6420879" y="2741824"/>
            <a:ext cx="437121" cy="618732"/>
          </a:xfrm>
          <a:prstGeom prst="down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Arrow: Down 123">
            <a:extLst>
              <a:ext uri="{FF2B5EF4-FFF2-40B4-BE49-F238E27FC236}">
                <a16:creationId xmlns:a16="http://schemas.microsoft.com/office/drawing/2014/main" id="{93B5CAD5-3789-4F32-8F8F-756598CE467F}"/>
              </a:ext>
            </a:extLst>
          </p:cNvPr>
          <p:cNvSpPr/>
          <p:nvPr/>
        </p:nvSpPr>
        <p:spPr>
          <a:xfrm>
            <a:off x="6428923" y="4067466"/>
            <a:ext cx="437121" cy="618732"/>
          </a:xfrm>
          <a:prstGeom prst="down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Speech Bubble: Oval 127">
            <a:extLst>
              <a:ext uri="{FF2B5EF4-FFF2-40B4-BE49-F238E27FC236}">
                <a16:creationId xmlns:a16="http://schemas.microsoft.com/office/drawing/2014/main" id="{50D60514-6883-4DD0-8962-F06BF93870D9}"/>
              </a:ext>
            </a:extLst>
          </p:cNvPr>
          <p:cNvSpPr/>
          <p:nvPr/>
        </p:nvSpPr>
        <p:spPr>
          <a:xfrm>
            <a:off x="1600200" y="1502421"/>
            <a:ext cx="2459245" cy="811326"/>
          </a:xfrm>
          <a:prstGeom prst="wedgeEllipseCallout">
            <a:avLst>
              <a:gd name="adj1" fmla="val 24358"/>
              <a:gd name="adj2" fmla="val 121166"/>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Target web page</a:t>
            </a:r>
          </a:p>
        </p:txBody>
      </p:sp>
      <p:sp>
        <p:nvSpPr>
          <p:cNvPr id="3" name="Rectangle 2">
            <a:extLst>
              <a:ext uri="{FF2B5EF4-FFF2-40B4-BE49-F238E27FC236}">
                <a16:creationId xmlns:a16="http://schemas.microsoft.com/office/drawing/2014/main" id="{A3AD5077-C76D-4E07-A324-630E2A6046F3}"/>
              </a:ext>
            </a:extLst>
          </p:cNvPr>
          <p:cNvSpPr/>
          <p:nvPr/>
        </p:nvSpPr>
        <p:spPr>
          <a:xfrm>
            <a:off x="123053" y="5693101"/>
            <a:ext cx="2924947" cy="33058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S/W Requirements</a:t>
            </a:r>
            <a:endParaRPr lang="en-GB"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0246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B86D-8C19-4835-8AF4-06D9DDC981B0}"/>
              </a:ext>
            </a:extLst>
          </p:cNvPr>
          <p:cNvSpPr>
            <a:spLocks noGrp="1"/>
          </p:cNvSpPr>
          <p:nvPr>
            <p:ph type="ctrTitle"/>
          </p:nvPr>
        </p:nvSpPr>
        <p:spPr/>
        <p:txBody>
          <a:bodyPr/>
          <a:lstStyle/>
          <a:p>
            <a:r>
              <a:rPr lang="en-GB" sz="3600" dirty="0"/>
              <a:t>Web development fundamentals</a:t>
            </a:r>
            <a:endParaRPr lang="en-US" dirty="0"/>
          </a:p>
        </p:txBody>
      </p:sp>
      <p:sp>
        <p:nvSpPr>
          <p:cNvPr id="3" name="Subtitle 2">
            <a:extLst>
              <a:ext uri="{FF2B5EF4-FFF2-40B4-BE49-F238E27FC236}">
                <a16:creationId xmlns:a16="http://schemas.microsoft.com/office/drawing/2014/main" id="{050FB85D-F1A2-4CC7-B6B0-697D58F9CE3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9736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324091" y="1371600"/>
            <a:ext cx="4819651" cy="3733800"/>
          </a:xfrm>
          <a:ln>
            <a:solidFill>
              <a:schemeClr val="bg1"/>
            </a:solidFill>
          </a:ln>
        </p:spPr>
        <p:txBody>
          <a:bodyPr>
            <a:normAutofit/>
          </a:bodyPr>
          <a:lstStyle/>
          <a:p>
            <a:pPr>
              <a:buFont typeface="Arial" pitchFamily="34" charset="0"/>
              <a:buChar char="•"/>
            </a:pPr>
            <a:endParaRPr lang="en-US" sz="2000" dirty="0"/>
          </a:p>
          <a:p>
            <a:pPr>
              <a:buFont typeface="Arial" pitchFamily="34" charset="0"/>
              <a:buChar char="•"/>
            </a:pPr>
            <a:r>
              <a:rPr lang="en-US" sz="2000" dirty="0"/>
              <a:t>Design the look and feel of a website (creative side of website)</a:t>
            </a:r>
          </a:p>
          <a:p>
            <a:pPr>
              <a:buFont typeface="Arial" pitchFamily="34" charset="0"/>
              <a:buChar char="•"/>
            </a:pPr>
            <a:r>
              <a:rPr lang="en-US" sz="2000" dirty="0"/>
              <a:t>Decides the layouts, fonts, colors, images etc.</a:t>
            </a:r>
          </a:p>
          <a:p>
            <a:pPr>
              <a:buFont typeface="Arial" pitchFamily="34" charset="0"/>
              <a:buChar char="•"/>
            </a:pPr>
            <a:r>
              <a:rPr lang="en-US" sz="2000" dirty="0"/>
              <a:t>Creates the visual mock-up of website</a:t>
            </a:r>
          </a:p>
          <a:p>
            <a:pPr>
              <a:buFont typeface="Arial" pitchFamily="34" charset="0"/>
              <a:buChar char="•"/>
            </a:pPr>
            <a:r>
              <a:rPr lang="en-US" sz="2000" dirty="0"/>
              <a:t>Rarely does the development of website</a:t>
            </a:r>
          </a:p>
          <a:p>
            <a:pPr marL="0" indent="0">
              <a:buNone/>
            </a:pPr>
            <a:endParaRPr lang="en-US" sz="2000" dirty="0"/>
          </a:p>
        </p:txBody>
      </p:sp>
      <p:sp>
        <p:nvSpPr>
          <p:cNvPr id="7" name="Title 1">
            <a:extLst>
              <a:ext uri="{FF2B5EF4-FFF2-40B4-BE49-F238E27FC236}">
                <a16:creationId xmlns:a16="http://schemas.microsoft.com/office/drawing/2014/main" id="{5D216462-CB6B-4D26-A4E7-FCCC80770AD3}"/>
              </a:ext>
            </a:extLst>
          </p:cNvPr>
          <p:cNvSpPr>
            <a:spLocks noGrp="1"/>
          </p:cNvSpPr>
          <p:nvPr>
            <p:ph type="title"/>
          </p:nvPr>
        </p:nvSpPr>
        <p:spPr>
          <a:xfrm>
            <a:off x="324091" y="199800"/>
            <a:ext cx="9259747" cy="702000"/>
          </a:xfrm>
        </p:spPr>
        <p:txBody>
          <a:bodyPr/>
          <a:lstStyle/>
          <a:p>
            <a:r>
              <a:rPr lang="en-US" dirty="0"/>
              <a:t>Web Designer</a:t>
            </a:r>
            <a:endParaRPr lang="en-GB" dirty="0"/>
          </a:p>
        </p:txBody>
      </p:sp>
      <p:pic>
        <p:nvPicPr>
          <p:cNvPr id="4" name="Picture 3">
            <a:extLst>
              <a:ext uri="{FF2B5EF4-FFF2-40B4-BE49-F238E27FC236}">
                <a16:creationId xmlns:a16="http://schemas.microsoft.com/office/drawing/2014/main" id="{CDC7BD13-6BFD-4634-A648-0AEA95DE8D2E}"/>
              </a:ext>
            </a:extLst>
          </p:cNvPr>
          <p:cNvPicPr>
            <a:picLocks noChangeAspect="1"/>
          </p:cNvPicPr>
          <p:nvPr/>
        </p:nvPicPr>
        <p:blipFill>
          <a:blip r:embed="rId2"/>
          <a:stretch>
            <a:fillRect/>
          </a:stretch>
        </p:blipFill>
        <p:spPr>
          <a:xfrm>
            <a:off x="4941061" y="1600200"/>
            <a:ext cx="4640847" cy="3028950"/>
          </a:xfrm>
          <a:prstGeom prst="rect">
            <a:avLst/>
          </a:prstGeom>
          <a:ln>
            <a:solidFill>
              <a:schemeClr val="tx1"/>
            </a:solid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324091" y="1752600"/>
            <a:ext cx="4828871" cy="3991356"/>
          </a:xfrm>
          <a:ln>
            <a:solidFill>
              <a:schemeClr val="bg1"/>
            </a:solidFill>
          </a:ln>
        </p:spPr>
        <p:txBody>
          <a:bodyPr>
            <a:normAutofit/>
          </a:bodyPr>
          <a:lstStyle/>
          <a:p>
            <a:pPr marL="0" indent="0">
              <a:buNone/>
            </a:pPr>
            <a:endParaRPr lang="en-US" sz="2000" dirty="0"/>
          </a:p>
          <a:p>
            <a:pPr>
              <a:buFont typeface="Arial" pitchFamily="34" charset="0"/>
              <a:buChar char="•"/>
            </a:pPr>
            <a:r>
              <a:rPr lang="en-US" sz="2000" dirty="0"/>
              <a:t>Brings the website mock-up to life on internet (development side of website)</a:t>
            </a:r>
          </a:p>
          <a:p>
            <a:pPr>
              <a:buFont typeface="Arial" pitchFamily="34" charset="0"/>
              <a:buChar char="•"/>
            </a:pPr>
            <a:r>
              <a:rPr lang="en-US" sz="2000" dirty="0"/>
              <a:t>Develops the website and host onto server.</a:t>
            </a:r>
          </a:p>
          <a:p>
            <a:pPr>
              <a:buFont typeface="Arial" pitchFamily="34" charset="0"/>
              <a:buChar char="•"/>
            </a:pPr>
            <a:r>
              <a:rPr lang="en-US" sz="2000" dirty="0"/>
              <a:t>Has web development skills: HTML ,CSS ,JavaScript ,Java , NodeJS , ReactJS etc.</a:t>
            </a:r>
          </a:p>
          <a:p>
            <a:pPr marL="0" indent="0">
              <a:buNone/>
            </a:pPr>
            <a:endParaRPr lang="en-US" sz="2000" dirty="0"/>
          </a:p>
        </p:txBody>
      </p:sp>
      <p:sp>
        <p:nvSpPr>
          <p:cNvPr id="6" name="Title 1">
            <a:extLst>
              <a:ext uri="{FF2B5EF4-FFF2-40B4-BE49-F238E27FC236}">
                <a16:creationId xmlns:a16="http://schemas.microsoft.com/office/drawing/2014/main" id="{9E85D3EA-49CD-4E83-80E9-0ABD3BEAE079}"/>
              </a:ext>
            </a:extLst>
          </p:cNvPr>
          <p:cNvSpPr>
            <a:spLocks noGrp="1"/>
          </p:cNvSpPr>
          <p:nvPr>
            <p:ph type="title"/>
          </p:nvPr>
        </p:nvSpPr>
        <p:spPr>
          <a:xfrm>
            <a:off x="324091" y="199800"/>
            <a:ext cx="9259747" cy="702000"/>
          </a:xfrm>
        </p:spPr>
        <p:txBody>
          <a:bodyPr/>
          <a:lstStyle/>
          <a:p>
            <a:r>
              <a:rPr lang="en-US" dirty="0"/>
              <a:t>Web Programmer</a:t>
            </a:r>
            <a:endParaRPr lang="en-GB" dirty="0"/>
          </a:p>
        </p:txBody>
      </p:sp>
      <p:pic>
        <p:nvPicPr>
          <p:cNvPr id="4" name="Picture 3">
            <a:extLst>
              <a:ext uri="{FF2B5EF4-FFF2-40B4-BE49-F238E27FC236}">
                <a16:creationId xmlns:a16="http://schemas.microsoft.com/office/drawing/2014/main" id="{30BB7CFC-D8C2-48B6-BDEA-3C0BCBEA4196}"/>
              </a:ext>
            </a:extLst>
          </p:cNvPr>
          <p:cNvPicPr>
            <a:picLocks noChangeAspect="1"/>
          </p:cNvPicPr>
          <p:nvPr/>
        </p:nvPicPr>
        <p:blipFill>
          <a:blip r:embed="rId3"/>
          <a:stretch>
            <a:fillRect/>
          </a:stretch>
        </p:blipFill>
        <p:spPr>
          <a:xfrm>
            <a:off x="5152962" y="1752600"/>
            <a:ext cx="4124325" cy="3343275"/>
          </a:xfrm>
          <a:prstGeom prst="rect">
            <a:avLst/>
          </a:prstGeom>
          <a:ln>
            <a:solidFill>
              <a:schemeClr val="tx1"/>
            </a:solid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228600" y="1342869"/>
            <a:ext cx="5257800" cy="3410262"/>
          </a:xfrm>
          <a:ln>
            <a:solidFill>
              <a:schemeClr val="bg1"/>
            </a:solidFill>
          </a:ln>
        </p:spPr>
        <p:txBody>
          <a:bodyPr>
            <a:normAutofit/>
          </a:bodyPr>
          <a:lstStyle/>
          <a:p>
            <a:pPr>
              <a:buNone/>
            </a:pPr>
            <a:r>
              <a:rPr lang="en-US" sz="2000" dirty="0"/>
              <a:t>   A collection of web pages which are grouped together and usually connected together in various ways like hyperlinks, buttons etc .</a:t>
            </a:r>
          </a:p>
          <a:p>
            <a:pPr>
              <a:buNone/>
            </a:pPr>
            <a:endParaRPr lang="en-US" sz="2000" dirty="0"/>
          </a:p>
          <a:p>
            <a:pPr>
              <a:buFont typeface="Arial" pitchFamily="34" charset="0"/>
              <a:buChar char="•"/>
            </a:pPr>
            <a:r>
              <a:rPr lang="en-US" sz="2000" dirty="0"/>
              <a:t>  It creates first impression of your business</a:t>
            </a:r>
          </a:p>
          <a:p>
            <a:pPr>
              <a:buFont typeface="Arial" pitchFamily="34" charset="0"/>
              <a:buChar char="•"/>
            </a:pPr>
            <a:r>
              <a:rPr lang="en-US" sz="2000" dirty="0"/>
              <a:t>  It can bring business from any part of the world</a:t>
            </a:r>
          </a:p>
          <a:p>
            <a:pPr>
              <a:buFont typeface="Arial" pitchFamily="34" charset="0"/>
              <a:buChar char="•"/>
            </a:pPr>
            <a:r>
              <a:rPr lang="en-US" sz="2000" dirty="0"/>
              <a:t>  It reflects your expertise and reputation.</a:t>
            </a:r>
          </a:p>
          <a:p>
            <a:pPr>
              <a:buNone/>
            </a:pPr>
            <a:endParaRPr lang="en-US" sz="2000" dirty="0"/>
          </a:p>
        </p:txBody>
      </p:sp>
      <p:sp>
        <p:nvSpPr>
          <p:cNvPr id="4" name="Title 1">
            <a:extLst>
              <a:ext uri="{FF2B5EF4-FFF2-40B4-BE49-F238E27FC236}">
                <a16:creationId xmlns:a16="http://schemas.microsoft.com/office/drawing/2014/main" id="{CBCAFF31-CB3C-42F3-9FE1-F41A10EF4894}"/>
              </a:ext>
            </a:extLst>
          </p:cNvPr>
          <p:cNvSpPr>
            <a:spLocks noGrp="1"/>
          </p:cNvSpPr>
          <p:nvPr>
            <p:ph type="title"/>
          </p:nvPr>
        </p:nvSpPr>
        <p:spPr>
          <a:xfrm>
            <a:off x="324091" y="199800"/>
            <a:ext cx="9259747" cy="702000"/>
          </a:xfrm>
        </p:spPr>
        <p:txBody>
          <a:bodyPr/>
          <a:lstStyle/>
          <a:p>
            <a:r>
              <a:rPr lang="en-US" dirty="0"/>
              <a:t>Web Site</a:t>
            </a:r>
            <a:endParaRPr lang="en-GB" dirty="0"/>
          </a:p>
        </p:txBody>
      </p:sp>
      <p:pic>
        <p:nvPicPr>
          <p:cNvPr id="6" name="Picture 5">
            <a:extLst>
              <a:ext uri="{FF2B5EF4-FFF2-40B4-BE49-F238E27FC236}">
                <a16:creationId xmlns:a16="http://schemas.microsoft.com/office/drawing/2014/main" id="{3C885F2B-B31F-4807-A288-F300CE36CAED}"/>
              </a:ext>
            </a:extLst>
          </p:cNvPr>
          <p:cNvPicPr>
            <a:picLocks noChangeAspect="1"/>
          </p:cNvPicPr>
          <p:nvPr/>
        </p:nvPicPr>
        <p:blipFill>
          <a:blip r:embed="rId3"/>
          <a:stretch>
            <a:fillRect/>
          </a:stretch>
        </p:blipFill>
        <p:spPr>
          <a:xfrm>
            <a:off x="5486400" y="1342869"/>
            <a:ext cx="3914284" cy="2895600"/>
          </a:xfrm>
          <a:prstGeom prst="rect">
            <a:avLst/>
          </a:prstGeom>
          <a:ln>
            <a:solidFill>
              <a:schemeClr val="tx1"/>
            </a:solid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AB5D-E761-4D3B-88C3-191B5C792424}"/>
              </a:ext>
            </a:extLst>
          </p:cNvPr>
          <p:cNvSpPr>
            <a:spLocks noGrp="1"/>
          </p:cNvSpPr>
          <p:nvPr>
            <p:ph type="title"/>
          </p:nvPr>
        </p:nvSpPr>
        <p:spPr/>
        <p:txBody>
          <a:bodyPr/>
          <a:lstStyle/>
          <a:p>
            <a:r>
              <a:rPr lang="en-US" dirty="0"/>
              <a:t>Client Server 2 tier Web Architecture</a:t>
            </a:r>
          </a:p>
        </p:txBody>
      </p:sp>
      <p:sp>
        <p:nvSpPr>
          <p:cNvPr id="8" name="Rectangle 7">
            <a:extLst>
              <a:ext uri="{FF2B5EF4-FFF2-40B4-BE49-F238E27FC236}">
                <a16:creationId xmlns:a16="http://schemas.microsoft.com/office/drawing/2014/main" id="{AE42A245-EB1F-4775-AB3B-8F981337649D}"/>
              </a:ext>
            </a:extLst>
          </p:cNvPr>
          <p:cNvSpPr/>
          <p:nvPr/>
        </p:nvSpPr>
        <p:spPr>
          <a:xfrm>
            <a:off x="125521" y="1130622"/>
            <a:ext cx="9259747" cy="1015663"/>
          </a:xfrm>
          <a:prstGeom prst="rect">
            <a:avLst/>
          </a:prstGeom>
        </p:spPr>
        <p:txBody>
          <a:bodyPr wrap="square">
            <a:spAutoFit/>
          </a:bodyPr>
          <a:lstStyle/>
          <a:p>
            <a:r>
              <a:rPr lang="en-US" sz="2000" dirty="0">
                <a:latin typeface="Body Level 1"/>
              </a:rPr>
              <a:t>Typically, when you are browsing the Internet, you will be using </a:t>
            </a:r>
            <a:r>
              <a:rPr lang="en-US" sz="2000" i="1" dirty="0">
                <a:latin typeface="Body Level 1"/>
              </a:rPr>
              <a:t>Web Browser</a:t>
            </a:r>
            <a:r>
              <a:rPr lang="en-US" sz="2000" dirty="0">
                <a:latin typeface="Body Level 1"/>
              </a:rPr>
              <a:t> software such as Chrome, IE, Firefox etc. so computer which is running a browser is called a </a:t>
            </a:r>
            <a:r>
              <a:rPr lang="en-US" sz="2000" i="1" dirty="0">
                <a:latin typeface="Body Level 1"/>
              </a:rPr>
              <a:t>client</a:t>
            </a:r>
            <a:r>
              <a:rPr lang="en-US" sz="2000" dirty="0">
                <a:latin typeface="Body Level 1"/>
              </a:rPr>
              <a:t>, while the machine which is providing Web pages is called a </a:t>
            </a:r>
            <a:r>
              <a:rPr lang="en-US" sz="2000" i="1" dirty="0">
                <a:latin typeface="Body Level 1"/>
              </a:rPr>
              <a:t>server</a:t>
            </a:r>
            <a:r>
              <a:rPr lang="en-US" sz="2000" dirty="0">
                <a:latin typeface="Body Level 1"/>
              </a:rPr>
              <a:t>.</a:t>
            </a:r>
          </a:p>
        </p:txBody>
      </p:sp>
      <p:grpSp>
        <p:nvGrpSpPr>
          <p:cNvPr id="5" name="Group 4">
            <a:extLst>
              <a:ext uri="{FF2B5EF4-FFF2-40B4-BE49-F238E27FC236}">
                <a16:creationId xmlns:a16="http://schemas.microsoft.com/office/drawing/2014/main" id="{F52CD6FC-6FD7-4945-83C1-1F331FE78602}"/>
              </a:ext>
            </a:extLst>
          </p:cNvPr>
          <p:cNvGrpSpPr/>
          <p:nvPr/>
        </p:nvGrpSpPr>
        <p:grpSpPr>
          <a:xfrm>
            <a:off x="678694" y="2250080"/>
            <a:ext cx="8879527" cy="4107202"/>
            <a:chOff x="59871" y="944715"/>
            <a:chExt cx="11612147" cy="6105418"/>
          </a:xfrm>
        </p:grpSpPr>
        <p:sp>
          <p:nvSpPr>
            <p:cNvPr id="6" name="TextBox 5">
              <a:extLst>
                <a:ext uri="{FF2B5EF4-FFF2-40B4-BE49-F238E27FC236}">
                  <a16:creationId xmlns:a16="http://schemas.microsoft.com/office/drawing/2014/main" id="{8F2E5EAD-C802-445A-8979-770A61F1EAA6}"/>
                </a:ext>
              </a:extLst>
            </p:cNvPr>
            <p:cNvSpPr txBox="1"/>
            <p:nvPr/>
          </p:nvSpPr>
          <p:spPr>
            <a:xfrm>
              <a:off x="1133570" y="1941378"/>
              <a:ext cx="2329175" cy="777774"/>
            </a:xfrm>
            <a:prstGeom prst="rect">
              <a:avLst/>
            </a:prstGeom>
            <a:noFill/>
          </p:spPr>
          <p:txBody>
            <a:bodyPr wrap="square" rtlCol="0">
              <a:spAutoFit/>
            </a:bodyPr>
            <a:lstStyle/>
            <a:p>
              <a:r>
                <a:rPr lang="en-US" sz="1400" dirty="0">
                  <a:latin typeface="Body Level 1"/>
                </a:rPr>
                <a:t>User enters URL in the browser</a:t>
              </a:r>
            </a:p>
          </p:txBody>
        </p:sp>
        <p:sp>
          <p:nvSpPr>
            <p:cNvPr id="9" name="TextBox 8">
              <a:extLst>
                <a:ext uri="{FF2B5EF4-FFF2-40B4-BE49-F238E27FC236}">
                  <a16:creationId xmlns:a16="http://schemas.microsoft.com/office/drawing/2014/main" id="{6B463D69-F89A-46BB-AF40-919E22704C01}"/>
                </a:ext>
              </a:extLst>
            </p:cNvPr>
            <p:cNvSpPr txBox="1"/>
            <p:nvPr/>
          </p:nvSpPr>
          <p:spPr>
            <a:xfrm>
              <a:off x="59871" y="3301005"/>
              <a:ext cx="1752600" cy="369332"/>
            </a:xfrm>
            <a:prstGeom prst="rect">
              <a:avLst/>
            </a:prstGeom>
            <a:noFill/>
          </p:spPr>
          <p:txBody>
            <a:bodyPr wrap="square" rtlCol="0">
              <a:spAutoFit/>
            </a:bodyPr>
            <a:lstStyle/>
            <a:p>
              <a:r>
                <a:rPr lang="en-US" dirty="0">
                  <a:latin typeface="Body Level 1"/>
                </a:rPr>
                <a:t>Client</a:t>
              </a:r>
            </a:p>
          </p:txBody>
        </p:sp>
        <p:pic>
          <p:nvPicPr>
            <p:cNvPr id="10" name="Picture 9">
              <a:extLst>
                <a:ext uri="{FF2B5EF4-FFF2-40B4-BE49-F238E27FC236}">
                  <a16:creationId xmlns:a16="http://schemas.microsoft.com/office/drawing/2014/main" id="{FECF603B-3ECF-4AC5-BE4D-053004BF448D}"/>
                </a:ext>
              </a:extLst>
            </p:cNvPr>
            <p:cNvPicPr>
              <a:picLocks noChangeAspect="1"/>
            </p:cNvPicPr>
            <p:nvPr/>
          </p:nvPicPr>
          <p:blipFill>
            <a:blip r:embed="rId3"/>
            <a:stretch>
              <a:fillRect/>
            </a:stretch>
          </p:blipFill>
          <p:spPr>
            <a:xfrm>
              <a:off x="864394" y="2634871"/>
              <a:ext cx="2276475" cy="2381250"/>
            </a:xfrm>
            <a:prstGeom prst="rect">
              <a:avLst/>
            </a:prstGeom>
          </p:spPr>
        </p:pic>
        <p:pic>
          <p:nvPicPr>
            <p:cNvPr id="11" name="Picture 10">
              <a:extLst>
                <a:ext uri="{FF2B5EF4-FFF2-40B4-BE49-F238E27FC236}">
                  <a16:creationId xmlns:a16="http://schemas.microsoft.com/office/drawing/2014/main" id="{EC10FF1A-6908-4933-B092-D67B8F38782C}"/>
                </a:ext>
              </a:extLst>
            </p:cNvPr>
            <p:cNvPicPr>
              <a:picLocks noChangeAspect="1"/>
            </p:cNvPicPr>
            <p:nvPr/>
          </p:nvPicPr>
          <p:blipFill>
            <a:blip r:embed="rId4"/>
            <a:stretch>
              <a:fillRect/>
            </a:stretch>
          </p:blipFill>
          <p:spPr>
            <a:xfrm>
              <a:off x="7090438" y="2577763"/>
              <a:ext cx="2143125" cy="2571750"/>
            </a:xfrm>
            <a:prstGeom prst="rect">
              <a:avLst/>
            </a:prstGeom>
          </p:spPr>
        </p:pic>
        <p:sp>
          <p:nvSpPr>
            <p:cNvPr id="12" name="Arrow: Right 11">
              <a:extLst>
                <a:ext uri="{FF2B5EF4-FFF2-40B4-BE49-F238E27FC236}">
                  <a16:creationId xmlns:a16="http://schemas.microsoft.com/office/drawing/2014/main" id="{91EFC6CE-35F2-409F-B6A5-8ADEE323DAEE}"/>
                </a:ext>
              </a:extLst>
            </p:cNvPr>
            <p:cNvSpPr/>
            <p:nvPr/>
          </p:nvSpPr>
          <p:spPr>
            <a:xfrm>
              <a:off x="3247501" y="3035198"/>
              <a:ext cx="3624263" cy="2417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476BF50E-C88F-43D3-B3B2-41C752C937DF}"/>
                </a:ext>
              </a:extLst>
            </p:cNvPr>
            <p:cNvSpPr/>
            <p:nvPr/>
          </p:nvSpPr>
          <p:spPr>
            <a:xfrm>
              <a:off x="3199328" y="4063665"/>
              <a:ext cx="3743328" cy="2417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51DDA6D-89B9-4012-B05A-7AC0516908C4}"/>
                </a:ext>
              </a:extLst>
            </p:cNvPr>
            <p:cNvSpPr txBox="1"/>
            <p:nvPr/>
          </p:nvSpPr>
          <p:spPr>
            <a:xfrm>
              <a:off x="3681170" y="1818578"/>
              <a:ext cx="2858755" cy="1235289"/>
            </a:xfrm>
            <a:prstGeom prst="rect">
              <a:avLst/>
            </a:prstGeom>
            <a:noFill/>
          </p:spPr>
          <p:txBody>
            <a:bodyPr wrap="square" rtlCol="0">
              <a:spAutoFit/>
            </a:bodyPr>
            <a:lstStyle/>
            <a:p>
              <a:r>
                <a:rPr lang="en-US" sz="1600" dirty="0">
                  <a:latin typeface="Body Level 1"/>
                </a:rPr>
                <a:t>HTTP request is submitted to that URL’s corresponding server </a:t>
              </a:r>
            </a:p>
          </p:txBody>
        </p:sp>
        <p:sp>
          <p:nvSpPr>
            <p:cNvPr id="15" name="Oval 14">
              <a:extLst>
                <a:ext uri="{FF2B5EF4-FFF2-40B4-BE49-F238E27FC236}">
                  <a16:creationId xmlns:a16="http://schemas.microsoft.com/office/drawing/2014/main" id="{9593510D-2EFE-457A-86EC-F6487D9AF53D}"/>
                </a:ext>
              </a:extLst>
            </p:cNvPr>
            <p:cNvSpPr/>
            <p:nvPr/>
          </p:nvSpPr>
          <p:spPr>
            <a:xfrm>
              <a:off x="1600200" y="1576669"/>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6" name="Oval 15">
              <a:extLst>
                <a:ext uri="{FF2B5EF4-FFF2-40B4-BE49-F238E27FC236}">
                  <a16:creationId xmlns:a16="http://schemas.microsoft.com/office/drawing/2014/main" id="{F0694731-E1ED-4DF9-8979-C09E6B8F520B}"/>
                </a:ext>
              </a:extLst>
            </p:cNvPr>
            <p:cNvSpPr/>
            <p:nvPr/>
          </p:nvSpPr>
          <p:spPr>
            <a:xfrm>
              <a:off x="4695557" y="1452683"/>
              <a:ext cx="471519"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7" name="Oval 16">
              <a:extLst>
                <a:ext uri="{FF2B5EF4-FFF2-40B4-BE49-F238E27FC236}">
                  <a16:creationId xmlns:a16="http://schemas.microsoft.com/office/drawing/2014/main" id="{17B86475-CC6A-4388-9561-ABB609D8E6AF}"/>
                </a:ext>
              </a:extLst>
            </p:cNvPr>
            <p:cNvSpPr/>
            <p:nvPr/>
          </p:nvSpPr>
          <p:spPr>
            <a:xfrm>
              <a:off x="4792088" y="5480406"/>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9" name="TextBox 18">
              <a:extLst>
                <a:ext uri="{FF2B5EF4-FFF2-40B4-BE49-F238E27FC236}">
                  <a16:creationId xmlns:a16="http://schemas.microsoft.com/office/drawing/2014/main" id="{19B4E7D3-85B0-40A2-9E7D-685B7D17BAC4}"/>
                </a:ext>
              </a:extLst>
            </p:cNvPr>
            <p:cNvSpPr txBox="1"/>
            <p:nvPr/>
          </p:nvSpPr>
          <p:spPr>
            <a:xfrm>
              <a:off x="6746070" y="1226537"/>
              <a:ext cx="4925948" cy="1372544"/>
            </a:xfrm>
            <a:prstGeom prst="rect">
              <a:avLst/>
            </a:prstGeom>
            <a:noFill/>
          </p:spPr>
          <p:txBody>
            <a:bodyPr wrap="square" rtlCol="0">
              <a:spAutoFit/>
            </a:bodyPr>
            <a:lstStyle/>
            <a:p>
              <a:r>
                <a:rPr lang="en-US" dirty="0">
                  <a:latin typeface="Body Level 1"/>
                </a:rPr>
                <a:t>A physical machine operates server logic on the user’s request to determine what to send back</a:t>
              </a:r>
            </a:p>
          </p:txBody>
        </p:sp>
        <p:sp>
          <p:nvSpPr>
            <p:cNvPr id="20" name="TextBox 19">
              <a:extLst>
                <a:ext uri="{FF2B5EF4-FFF2-40B4-BE49-F238E27FC236}">
                  <a16:creationId xmlns:a16="http://schemas.microsoft.com/office/drawing/2014/main" id="{4E3619C9-54B6-4904-8AA4-01FE4F92B49B}"/>
                </a:ext>
              </a:extLst>
            </p:cNvPr>
            <p:cNvSpPr txBox="1"/>
            <p:nvPr/>
          </p:nvSpPr>
          <p:spPr>
            <a:xfrm>
              <a:off x="7651942" y="5187049"/>
              <a:ext cx="1752600" cy="503266"/>
            </a:xfrm>
            <a:prstGeom prst="rect">
              <a:avLst/>
            </a:prstGeom>
            <a:noFill/>
          </p:spPr>
          <p:txBody>
            <a:bodyPr wrap="square" rtlCol="0">
              <a:spAutoFit/>
            </a:bodyPr>
            <a:lstStyle/>
            <a:p>
              <a:r>
                <a:rPr lang="en-US" sz="1600" dirty="0">
                  <a:latin typeface="Body Level 1"/>
                </a:rPr>
                <a:t>Server</a:t>
              </a:r>
            </a:p>
          </p:txBody>
        </p:sp>
        <p:sp>
          <p:nvSpPr>
            <p:cNvPr id="21" name="Oval 20">
              <a:extLst>
                <a:ext uri="{FF2B5EF4-FFF2-40B4-BE49-F238E27FC236}">
                  <a16:creationId xmlns:a16="http://schemas.microsoft.com/office/drawing/2014/main" id="{D782FDC8-1186-47FE-985D-AEA6489544DF}"/>
                </a:ext>
              </a:extLst>
            </p:cNvPr>
            <p:cNvSpPr/>
            <p:nvPr/>
          </p:nvSpPr>
          <p:spPr>
            <a:xfrm>
              <a:off x="7994842" y="944715"/>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TextBox 21">
              <a:extLst>
                <a:ext uri="{FF2B5EF4-FFF2-40B4-BE49-F238E27FC236}">
                  <a16:creationId xmlns:a16="http://schemas.microsoft.com/office/drawing/2014/main" id="{94DE2BD4-182F-4CBE-A737-44DF0A04792C}"/>
                </a:ext>
              </a:extLst>
            </p:cNvPr>
            <p:cNvSpPr txBox="1"/>
            <p:nvPr/>
          </p:nvSpPr>
          <p:spPr>
            <a:xfrm>
              <a:off x="324091" y="5014052"/>
              <a:ext cx="3127646" cy="1967312"/>
            </a:xfrm>
            <a:prstGeom prst="rect">
              <a:avLst/>
            </a:prstGeom>
            <a:noFill/>
          </p:spPr>
          <p:txBody>
            <a:bodyPr wrap="square" rtlCol="0">
              <a:spAutoFit/>
            </a:bodyPr>
            <a:lstStyle/>
            <a:p>
              <a:r>
                <a:rPr lang="en-US" sz="1600" dirty="0">
                  <a:latin typeface="Body Level 1"/>
                </a:rPr>
                <a:t>User receives the response in the form of HTML pager which renders in the browser window</a:t>
              </a:r>
            </a:p>
          </p:txBody>
        </p:sp>
        <p:sp>
          <p:nvSpPr>
            <p:cNvPr id="23" name="Oval 22">
              <a:extLst>
                <a:ext uri="{FF2B5EF4-FFF2-40B4-BE49-F238E27FC236}">
                  <a16:creationId xmlns:a16="http://schemas.microsoft.com/office/drawing/2014/main" id="{4C1BC719-CDD9-430F-8B64-0EF431282DCD}"/>
                </a:ext>
              </a:extLst>
            </p:cNvPr>
            <p:cNvSpPr/>
            <p:nvPr/>
          </p:nvSpPr>
          <p:spPr>
            <a:xfrm>
              <a:off x="1600198" y="6671006"/>
              <a:ext cx="533401" cy="3791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grpSp>
      <p:sp>
        <p:nvSpPr>
          <p:cNvPr id="41" name="TextBox 40">
            <a:extLst>
              <a:ext uri="{FF2B5EF4-FFF2-40B4-BE49-F238E27FC236}">
                <a16:creationId xmlns:a16="http://schemas.microsoft.com/office/drawing/2014/main" id="{036325E7-68AD-4389-A9FA-4DBDABE60291}"/>
              </a:ext>
            </a:extLst>
          </p:cNvPr>
          <p:cNvSpPr txBox="1"/>
          <p:nvPr/>
        </p:nvSpPr>
        <p:spPr>
          <a:xfrm>
            <a:off x="3348356" y="4470307"/>
            <a:ext cx="2713657" cy="830997"/>
          </a:xfrm>
          <a:prstGeom prst="rect">
            <a:avLst/>
          </a:prstGeom>
          <a:noFill/>
        </p:spPr>
        <p:txBody>
          <a:bodyPr wrap="square" rtlCol="0">
            <a:spAutoFit/>
          </a:bodyPr>
          <a:lstStyle/>
          <a:p>
            <a:r>
              <a:rPr lang="en-US" sz="1600" dirty="0">
                <a:latin typeface="Body Level 1"/>
              </a:rPr>
              <a:t>HTTP response is returned to the user (client) in a form of HTML,JSON or other formats </a:t>
            </a:r>
          </a:p>
        </p:txBody>
      </p:sp>
    </p:spTree>
    <p:extLst>
      <p:ext uri="{BB962C8B-B14F-4D97-AF65-F5344CB8AC3E}">
        <p14:creationId xmlns:p14="http://schemas.microsoft.com/office/powerpoint/2010/main" val="152557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B86D-8C19-4835-8AF4-06D9DDC981B0}"/>
              </a:ext>
            </a:extLst>
          </p:cNvPr>
          <p:cNvSpPr>
            <a:spLocks noGrp="1"/>
          </p:cNvSpPr>
          <p:nvPr>
            <p:ph type="ctrTitle"/>
          </p:nvPr>
        </p:nvSpPr>
        <p:spPr/>
        <p:txBody>
          <a:bodyPr/>
          <a:lstStyle/>
          <a:p>
            <a:r>
              <a:rPr lang="en-US" sz="3600" dirty="0"/>
              <a:t>Introducing the Use Case</a:t>
            </a:r>
            <a:endParaRPr lang="en-US" dirty="0"/>
          </a:p>
        </p:txBody>
      </p:sp>
      <p:sp>
        <p:nvSpPr>
          <p:cNvPr id="3" name="Subtitle 2">
            <a:extLst>
              <a:ext uri="{FF2B5EF4-FFF2-40B4-BE49-F238E27FC236}">
                <a16:creationId xmlns:a16="http://schemas.microsoft.com/office/drawing/2014/main" id="{050FB85D-F1A2-4CC7-B6B0-697D58F9CE3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54548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98BBFF4-DC7B-4963-9BF1-1D8F0D79D377}"/>
              </a:ext>
            </a:extLst>
          </p:cNvPr>
          <p:cNvSpPr txBox="1">
            <a:spLocks/>
          </p:cNvSpPr>
          <p:nvPr/>
        </p:nvSpPr>
        <p:spPr>
          <a:xfrm>
            <a:off x="152400" y="228600"/>
            <a:ext cx="9278073" cy="702000"/>
          </a:xfrm>
          <a:prstGeom prst="rect">
            <a:avLst/>
          </a:prstGeom>
        </p:spPr>
        <p:txBody>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endParaRPr lang="en-US" dirty="0"/>
          </a:p>
          <a:p>
            <a:r>
              <a:rPr lang="en-US" dirty="0"/>
              <a:t>Build below web page using HTML and CSS </a:t>
            </a:r>
            <a:endParaRPr lang="en-GB" dirty="0"/>
          </a:p>
        </p:txBody>
      </p:sp>
      <p:pic>
        <p:nvPicPr>
          <p:cNvPr id="3" name="Picture 2">
            <a:extLst>
              <a:ext uri="{FF2B5EF4-FFF2-40B4-BE49-F238E27FC236}">
                <a16:creationId xmlns:a16="http://schemas.microsoft.com/office/drawing/2014/main" id="{734655AA-9D4E-4D0C-B536-12E04386EB4B}"/>
              </a:ext>
            </a:extLst>
          </p:cNvPr>
          <p:cNvPicPr>
            <a:picLocks noChangeAspect="1"/>
          </p:cNvPicPr>
          <p:nvPr/>
        </p:nvPicPr>
        <p:blipFill>
          <a:blip r:embed="rId3"/>
          <a:stretch>
            <a:fillRect/>
          </a:stretch>
        </p:blipFill>
        <p:spPr>
          <a:xfrm>
            <a:off x="236575" y="1600200"/>
            <a:ext cx="9432850" cy="4084035"/>
          </a:xfrm>
          <a:prstGeom prst="rect">
            <a:avLst/>
          </a:prstGeom>
        </p:spPr>
      </p:pic>
    </p:spTree>
    <p:extLst>
      <p:ext uri="{BB962C8B-B14F-4D97-AF65-F5344CB8AC3E}">
        <p14:creationId xmlns:p14="http://schemas.microsoft.com/office/powerpoint/2010/main" val="3155193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Cheat Sheet references</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Cheat Sheet for HTML : HTML Cheat Sheet.doc</a:t>
            </a:r>
          </a:p>
          <a:p>
            <a:pPr marL="0" indent="0">
              <a:buNone/>
            </a:pPr>
            <a:endParaRPr lang="en-US" sz="2000" dirty="0"/>
          </a:p>
          <a:p>
            <a:pPr marL="0" indent="0">
              <a:buNone/>
            </a:pPr>
            <a:r>
              <a:rPr lang="en-US" sz="2000" dirty="0"/>
              <a:t>Cheat Sheet for CSS: CSS Cheat Sheet.doc</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890282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B86D-8C19-4835-8AF4-06D9DDC981B0}"/>
              </a:ext>
            </a:extLst>
          </p:cNvPr>
          <p:cNvSpPr>
            <a:spLocks noGrp="1"/>
          </p:cNvSpPr>
          <p:nvPr>
            <p:ph type="ctrTitle"/>
          </p:nvPr>
        </p:nvSpPr>
        <p:spPr/>
        <p:txBody>
          <a:bodyPr/>
          <a:lstStyle/>
          <a:p>
            <a:r>
              <a:rPr lang="en-US" dirty="0"/>
              <a:t>Bootstrap fundamentals</a:t>
            </a:r>
          </a:p>
        </p:txBody>
      </p:sp>
      <p:sp>
        <p:nvSpPr>
          <p:cNvPr id="3" name="Subtitle 2">
            <a:extLst>
              <a:ext uri="{FF2B5EF4-FFF2-40B4-BE49-F238E27FC236}">
                <a16:creationId xmlns:a16="http://schemas.microsoft.com/office/drawing/2014/main" id="{050FB85D-F1A2-4CC7-B6B0-697D58F9CE3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63305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9144000" cy="628650"/>
          </a:xfrm>
        </p:spPr>
        <p:txBody>
          <a:bodyPr>
            <a:normAutofit/>
          </a:bodyPr>
          <a:lstStyle/>
          <a:p>
            <a:r>
              <a:rPr lang="en-US" dirty="0"/>
              <a:t>What is Responsive web design</a:t>
            </a:r>
          </a:p>
        </p:txBody>
      </p:sp>
      <p:sp>
        <p:nvSpPr>
          <p:cNvPr id="5" name="TextBox 4"/>
          <p:cNvSpPr txBox="1"/>
          <p:nvPr/>
        </p:nvSpPr>
        <p:spPr>
          <a:xfrm>
            <a:off x="457200" y="1600200"/>
            <a:ext cx="4724400" cy="1631216"/>
          </a:xfrm>
          <a:prstGeom prst="rect">
            <a:avLst/>
          </a:prstGeom>
          <a:noFill/>
        </p:spPr>
        <p:txBody>
          <a:bodyPr wrap="square" rtlCol="0">
            <a:spAutoFit/>
          </a:bodyPr>
          <a:lstStyle/>
          <a:p>
            <a:r>
              <a:rPr lang="en-US" sz="2000" dirty="0">
                <a:latin typeface="Body Level 1"/>
              </a:rPr>
              <a:t>Responsive web design is about creating web sites which automatically adjust themselves to look good on all devices, from small phones to large desktops.</a:t>
            </a:r>
          </a:p>
          <a:p>
            <a:r>
              <a:rPr lang="en-US" sz="2000" dirty="0">
                <a:latin typeface="Body Level 1"/>
              </a:rPr>
              <a:t>Example: www.getbootstrap.com</a:t>
            </a:r>
          </a:p>
        </p:txBody>
      </p:sp>
      <p:pic>
        <p:nvPicPr>
          <p:cNvPr id="7" name="Picture 6">
            <a:extLst>
              <a:ext uri="{FF2B5EF4-FFF2-40B4-BE49-F238E27FC236}">
                <a16:creationId xmlns:a16="http://schemas.microsoft.com/office/drawing/2014/main" id="{B3F310EC-96EC-47B0-B2B5-5C8B4B7843AC}"/>
              </a:ext>
            </a:extLst>
          </p:cNvPr>
          <p:cNvPicPr>
            <a:picLocks noChangeAspect="1"/>
          </p:cNvPicPr>
          <p:nvPr/>
        </p:nvPicPr>
        <p:blipFill>
          <a:blip r:embed="rId3"/>
          <a:stretch>
            <a:fillRect/>
          </a:stretch>
        </p:blipFill>
        <p:spPr>
          <a:xfrm>
            <a:off x="4953000" y="1752600"/>
            <a:ext cx="4801094" cy="2338387"/>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304800"/>
            <a:ext cx="9144000" cy="628650"/>
          </a:xfrm>
        </p:spPr>
        <p:txBody>
          <a:bodyPr>
            <a:normAutofit/>
          </a:bodyPr>
          <a:lstStyle/>
          <a:p>
            <a:r>
              <a:rPr lang="en-US" dirty="0"/>
              <a:t>What is Bootstrap</a:t>
            </a:r>
          </a:p>
        </p:txBody>
      </p:sp>
      <p:sp>
        <p:nvSpPr>
          <p:cNvPr id="5" name="TextBox 4"/>
          <p:cNvSpPr txBox="1"/>
          <p:nvPr/>
        </p:nvSpPr>
        <p:spPr>
          <a:xfrm>
            <a:off x="183204" y="1522379"/>
            <a:ext cx="5342917" cy="4401205"/>
          </a:xfrm>
          <a:prstGeom prst="rect">
            <a:avLst/>
          </a:prstGeom>
          <a:noFill/>
        </p:spPr>
        <p:txBody>
          <a:bodyPr wrap="square" rtlCol="0">
            <a:spAutoFit/>
          </a:bodyPr>
          <a:lstStyle/>
          <a:p>
            <a:pPr>
              <a:buFont typeface="Arial" pitchFamily="34" charset="0"/>
              <a:buChar char="•"/>
            </a:pPr>
            <a:r>
              <a:rPr lang="en-US" sz="2000" dirty="0">
                <a:latin typeface="Body Level 1"/>
              </a:rPr>
              <a:t>Bootstrap is an open source front-end framework developed by Twitter for faster and easier web development</a:t>
            </a:r>
          </a:p>
          <a:p>
            <a:pPr>
              <a:buFont typeface="Arial" pitchFamily="34" charset="0"/>
              <a:buChar char="•"/>
            </a:pPr>
            <a:r>
              <a:rPr lang="en-US" sz="2000" dirty="0">
                <a:latin typeface="Body Level 1"/>
              </a:rPr>
              <a:t>Bootstrap includes HTML and CSS based design templates for typography, forms, buttons, tables, navigation, modals, image carousels, dropdown and many other, as well as optional JavaScript plugins.</a:t>
            </a:r>
          </a:p>
          <a:p>
            <a:pPr>
              <a:buFont typeface="Arial" pitchFamily="34" charset="0"/>
              <a:buChar char="•"/>
            </a:pPr>
            <a:r>
              <a:rPr lang="en-US" sz="2000" dirty="0">
                <a:latin typeface="Body Level 1"/>
              </a:rPr>
              <a:t>Bootstrap also gives you the ability to easily create responsive designs</a:t>
            </a:r>
          </a:p>
          <a:p>
            <a:pPr>
              <a:buFont typeface="Arial" pitchFamily="34" charset="0"/>
              <a:buChar char="•"/>
            </a:pPr>
            <a:r>
              <a:rPr lang="en-US" sz="2000" dirty="0">
                <a:latin typeface="Body Level 1"/>
              </a:rPr>
              <a:t>Current version of Bootstrap is 4.3.1 released on February 2019.</a:t>
            </a:r>
          </a:p>
          <a:p>
            <a:pPr>
              <a:buFont typeface="Arial" pitchFamily="34" charset="0"/>
              <a:buChar char="•"/>
            </a:pPr>
            <a:r>
              <a:rPr lang="en-US" sz="2000" dirty="0">
                <a:latin typeface="Body Level 1"/>
              </a:rPr>
              <a:t>Official website is </a:t>
            </a:r>
            <a:r>
              <a:rPr lang="en-US" sz="2000" dirty="0">
                <a:hlinkClick r:id="rId3"/>
              </a:rPr>
              <a:t>http://getbootstrap.com</a:t>
            </a:r>
            <a:endParaRPr lang="en-US" sz="2000" dirty="0">
              <a:latin typeface="Body Level 1"/>
            </a:endParaRPr>
          </a:p>
          <a:p>
            <a:endParaRPr lang="en-US" sz="2000" dirty="0">
              <a:latin typeface="Body Level 1"/>
            </a:endParaRPr>
          </a:p>
        </p:txBody>
      </p:sp>
      <p:pic>
        <p:nvPicPr>
          <p:cNvPr id="3" name="Picture 2">
            <a:extLst>
              <a:ext uri="{FF2B5EF4-FFF2-40B4-BE49-F238E27FC236}">
                <a16:creationId xmlns:a16="http://schemas.microsoft.com/office/drawing/2014/main" id="{1000DC22-0713-482E-84E6-E50C9870667B}"/>
              </a:ext>
            </a:extLst>
          </p:cNvPr>
          <p:cNvPicPr>
            <a:picLocks noChangeAspect="1"/>
          </p:cNvPicPr>
          <p:nvPr/>
        </p:nvPicPr>
        <p:blipFill>
          <a:blip r:embed="rId4"/>
          <a:stretch>
            <a:fillRect/>
          </a:stretch>
        </p:blipFill>
        <p:spPr>
          <a:xfrm>
            <a:off x="5526120" y="1522379"/>
            <a:ext cx="4277709" cy="2440021"/>
          </a:xfrm>
          <a:prstGeom prst="rect">
            <a:avLst/>
          </a:prstGeom>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304800"/>
            <a:ext cx="9144000" cy="628650"/>
          </a:xfrm>
        </p:spPr>
        <p:txBody>
          <a:bodyPr>
            <a:normAutofit/>
          </a:bodyPr>
          <a:lstStyle/>
          <a:p>
            <a:r>
              <a:rPr lang="en-US" dirty="0"/>
              <a:t> Advantages of Bootstrap</a:t>
            </a:r>
          </a:p>
        </p:txBody>
      </p:sp>
      <p:sp>
        <p:nvSpPr>
          <p:cNvPr id="3" name="Rectangle 2">
            <a:extLst>
              <a:ext uri="{FF2B5EF4-FFF2-40B4-BE49-F238E27FC236}">
                <a16:creationId xmlns:a16="http://schemas.microsoft.com/office/drawing/2014/main" id="{9C881E09-619D-4EF1-8665-F7EB7DF863CF}"/>
              </a:ext>
            </a:extLst>
          </p:cNvPr>
          <p:cNvSpPr/>
          <p:nvPr/>
        </p:nvSpPr>
        <p:spPr>
          <a:xfrm>
            <a:off x="295882" y="1447800"/>
            <a:ext cx="9381517" cy="3170099"/>
          </a:xfrm>
          <a:prstGeom prst="rect">
            <a:avLst/>
          </a:prstGeom>
        </p:spPr>
        <p:txBody>
          <a:bodyPr wrap="square">
            <a:spAutoFit/>
          </a:bodyPr>
          <a:lstStyle/>
          <a:p>
            <a:pPr marL="342900" indent="-342900">
              <a:buFont typeface="Arial" panose="020B0604020202020204" pitchFamily="34" charset="0"/>
              <a:buChar char="•"/>
            </a:pPr>
            <a:r>
              <a:rPr lang="en-US" sz="2000" b="1" dirty="0">
                <a:latin typeface="Body Level 1"/>
              </a:rPr>
              <a:t>Easy to use:</a:t>
            </a:r>
            <a:r>
              <a:rPr lang="en-US" sz="2000" dirty="0">
                <a:latin typeface="Body Level 1"/>
              </a:rPr>
              <a:t> Anybody with just basic knowledge of HTML and CSS can start using Bootstrap</a:t>
            </a:r>
          </a:p>
          <a:p>
            <a:pPr marL="342900" indent="-342900">
              <a:buFont typeface="Arial" panose="020B0604020202020204" pitchFamily="34" charset="0"/>
              <a:buChar char="•"/>
            </a:pPr>
            <a:r>
              <a:rPr lang="en-US" sz="2000" b="1" dirty="0">
                <a:latin typeface="Body Level 1"/>
              </a:rPr>
              <a:t>Responsive features:</a:t>
            </a:r>
            <a:r>
              <a:rPr lang="en-US" sz="2000" dirty="0">
                <a:latin typeface="Body Level 1"/>
              </a:rPr>
              <a:t> Bootstrap's responsive CSS adjusts to phones, tablets, and desktops</a:t>
            </a:r>
          </a:p>
          <a:p>
            <a:pPr marL="342900" indent="-342900">
              <a:buFont typeface="Arial" panose="020B0604020202020204" pitchFamily="34" charset="0"/>
              <a:buChar char="•"/>
            </a:pPr>
            <a:r>
              <a:rPr lang="en-US" sz="2000" b="1" dirty="0">
                <a:latin typeface="Body Level 1"/>
              </a:rPr>
              <a:t>Mobile-first approach:</a:t>
            </a:r>
            <a:r>
              <a:rPr lang="en-US" sz="2000" dirty="0">
                <a:latin typeface="Body Level 1"/>
              </a:rPr>
              <a:t>  Bootstrap 3 onwards mobile-first styles are part of the core framework</a:t>
            </a:r>
          </a:p>
          <a:p>
            <a:pPr marL="342900" indent="-342900">
              <a:buFont typeface="Arial" panose="020B0604020202020204" pitchFamily="34" charset="0"/>
              <a:buChar char="•"/>
            </a:pPr>
            <a:r>
              <a:rPr lang="en-US" sz="2000" b="1" dirty="0">
                <a:latin typeface="Body Level 1"/>
              </a:rPr>
              <a:t>Browser compatibility:</a:t>
            </a:r>
            <a:r>
              <a:rPr lang="en-US" sz="2000" dirty="0">
                <a:latin typeface="Body Level 1"/>
              </a:rPr>
              <a:t> Bootstrap is compatible with all modern browsers (Chrome, Firefox, Internet Explorer, Edge, Safari, and Opera)</a:t>
            </a:r>
          </a:p>
          <a:p>
            <a:endParaRPr lang="en-US" sz="2000" dirty="0">
              <a:latin typeface="Body Level 1"/>
            </a:endParaRPr>
          </a:p>
          <a:p>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Prerequisite</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There are three ways to start using Bootstrap on your own web site:</a:t>
            </a:r>
          </a:p>
          <a:p>
            <a:endParaRPr lang="en-US" sz="2000" dirty="0"/>
          </a:p>
          <a:p>
            <a:r>
              <a:rPr lang="en-US" sz="2000" dirty="0"/>
              <a:t>Download Bootstrap from getbootstrap.com</a:t>
            </a:r>
          </a:p>
          <a:p>
            <a:r>
              <a:rPr lang="en-US" sz="2000" dirty="0"/>
              <a:t>Download using NPM</a:t>
            </a:r>
          </a:p>
          <a:p>
            <a:r>
              <a:rPr lang="en-US" sz="2000" dirty="0"/>
              <a:t>Include Bootstrap from a CDN (Content Delivery Network)</a:t>
            </a:r>
          </a:p>
          <a:p>
            <a:pPr marL="0" indent="0">
              <a:buNone/>
            </a:pPr>
            <a:endParaRPr lang="en-US" sz="2000" dirty="0"/>
          </a:p>
          <a:p>
            <a:pPr marL="0" indent="0">
              <a:buNone/>
            </a:pPr>
            <a:endParaRPr lang="en-US" sz="2000" dirty="0"/>
          </a:p>
          <a:p>
            <a:pPr marL="0" indent="0">
              <a:buNone/>
            </a:pPr>
            <a:endParaRPr lang="en-US" sz="2000" dirty="0"/>
          </a:p>
        </p:txBody>
      </p:sp>
      <p:pic>
        <p:nvPicPr>
          <p:cNvPr id="4" name="Picture 3">
            <a:extLst>
              <a:ext uri="{FF2B5EF4-FFF2-40B4-BE49-F238E27FC236}">
                <a16:creationId xmlns:a16="http://schemas.microsoft.com/office/drawing/2014/main" id="{709FB431-7E1B-43A7-95C1-7511B44C1171}"/>
              </a:ext>
            </a:extLst>
          </p:cNvPr>
          <p:cNvPicPr>
            <a:picLocks noChangeAspect="1"/>
          </p:cNvPicPr>
          <p:nvPr/>
        </p:nvPicPr>
        <p:blipFill>
          <a:blip r:embed="rId2"/>
          <a:stretch>
            <a:fillRect/>
          </a:stretch>
        </p:blipFill>
        <p:spPr>
          <a:xfrm>
            <a:off x="152401" y="3510462"/>
            <a:ext cx="9601200" cy="854199"/>
          </a:xfrm>
          <a:prstGeom prst="rect">
            <a:avLst/>
          </a:prstGeom>
          <a:ln>
            <a:solidFill>
              <a:schemeClr val="accent1"/>
            </a:solidFill>
          </a:ln>
        </p:spPr>
      </p:pic>
    </p:spTree>
    <p:extLst>
      <p:ext uri="{BB962C8B-B14F-4D97-AF65-F5344CB8AC3E}">
        <p14:creationId xmlns:p14="http://schemas.microsoft.com/office/powerpoint/2010/main" val="2522201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31822"/>
            <a:ext cx="9144000" cy="628650"/>
          </a:xfrm>
        </p:spPr>
        <p:txBody>
          <a:bodyPr>
            <a:normAutofit/>
          </a:bodyPr>
          <a:lstStyle/>
          <a:p>
            <a:r>
              <a:rPr lang="en-US" dirty="0"/>
              <a:t>Hello World page using Bootstrap</a:t>
            </a:r>
          </a:p>
        </p:txBody>
      </p:sp>
      <p:pic>
        <p:nvPicPr>
          <p:cNvPr id="6" name="Picture 5">
            <a:extLst>
              <a:ext uri="{FF2B5EF4-FFF2-40B4-BE49-F238E27FC236}">
                <a16:creationId xmlns:a16="http://schemas.microsoft.com/office/drawing/2014/main" id="{AB685413-147A-41CF-9555-FA32B851BBEC}"/>
              </a:ext>
            </a:extLst>
          </p:cNvPr>
          <p:cNvPicPr>
            <a:picLocks noChangeAspect="1"/>
          </p:cNvPicPr>
          <p:nvPr/>
        </p:nvPicPr>
        <p:blipFill>
          <a:blip r:embed="rId2"/>
          <a:stretch>
            <a:fillRect/>
          </a:stretch>
        </p:blipFill>
        <p:spPr>
          <a:xfrm>
            <a:off x="177362" y="5538319"/>
            <a:ext cx="2362200" cy="581025"/>
          </a:xfrm>
          <a:prstGeom prst="rect">
            <a:avLst/>
          </a:prstGeom>
          <a:ln>
            <a:solidFill>
              <a:schemeClr val="tx1"/>
            </a:solidFill>
          </a:ln>
        </p:spPr>
      </p:pic>
      <p:pic>
        <p:nvPicPr>
          <p:cNvPr id="3" name="Picture 2">
            <a:extLst>
              <a:ext uri="{FF2B5EF4-FFF2-40B4-BE49-F238E27FC236}">
                <a16:creationId xmlns:a16="http://schemas.microsoft.com/office/drawing/2014/main" id="{F949A0AC-726A-4A92-A59A-503B6929DE32}"/>
              </a:ext>
            </a:extLst>
          </p:cNvPr>
          <p:cNvPicPr>
            <a:picLocks noChangeAspect="1"/>
          </p:cNvPicPr>
          <p:nvPr/>
        </p:nvPicPr>
        <p:blipFill>
          <a:blip r:embed="rId3"/>
          <a:stretch>
            <a:fillRect/>
          </a:stretch>
        </p:blipFill>
        <p:spPr>
          <a:xfrm>
            <a:off x="190500" y="1219200"/>
            <a:ext cx="9525000" cy="3989294"/>
          </a:xfrm>
          <a:prstGeom prst="rect">
            <a:avLst/>
          </a:prstGeom>
          <a:ln>
            <a:solidFill>
              <a:schemeClr val="tx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BF32-204D-4853-B97C-B683C6B6EE7D}"/>
              </a:ext>
            </a:extLst>
          </p:cNvPr>
          <p:cNvSpPr>
            <a:spLocks noGrp="1"/>
          </p:cNvSpPr>
          <p:nvPr>
            <p:ph type="title"/>
          </p:nvPr>
        </p:nvSpPr>
        <p:spPr/>
        <p:txBody>
          <a:bodyPr/>
          <a:lstStyle/>
          <a:p>
            <a:r>
              <a:rPr lang="en-US" dirty="0"/>
              <a:t>Bootstrap Grid System</a:t>
            </a:r>
          </a:p>
        </p:txBody>
      </p:sp>
      <p:pic>
        <p:nvPicPr>
          <p:cNvPr id="4" name="Content Placeholder 3">
            <a:extLst>
              <a:ext uri="{FF2B5EF4-FFF2-40B4-BE49-F238E27FC236}">
                <a16:creationId xmlns:a16="http://schemas.microsoft.com/office/drawing/2014/main" id="{7A24C8E6-818A-4220-9A3D-31D99F660DA4}"/>
              </a:ext>
            </a:extLst>
          </p:cNvPr>
          <p:cNvPicPr>
            <a:picLocks noGrp="1" noChangeAspect="1"/>
          </p:cNvPicPr>
          <p:nvPr>
            <p:ph idx="1"/>
          </p:nvPr>
        </p:nvPicPr>
        <p:blipFill>
          <a:blip r:embed="rId3"/>
          <a:stretch>
            <a:fillRect/>
          </a:stretch>
        </p:blipFill>
        <p:spPr>
          <a:xfrm>
            <a:off x="598581" y="3256300"/>
            <a:ext cx="8534400" cy="1971675"/>
          </a:xfrm>
          <a:prstGeom prst="rect">
            <a:avLst/>
          </a:prstGeom>
          <a:ln>
            <a:solidFill>
              <a:schemeClr val="tx1"/>
            </a:solidFill>
          </a:ln>
        </p:spPr>
      </p:pic>
      <p:sp>
        <p:nvSpPr>
          <p:cNvPr id="5" name="Rectangle 4">
            <a:extLst>
              <a:ext uri="{FF2B5EF4-FFF2-40B4-BE49-F238E27FC236}">
                <a16:creationId xmlns:a16="http://schemas.microsoft.com/office/drawing/2014/main" id="{41F7E67E-1DD0-494A-B646-3D174C00FCDD}"/>
              </a:ext>
            </a:extLst>
          </p:cNvPr>
          <p:cNvSpPr/>
          <p:nvPr/>
        </p:nvSpPr>
        <p:spPr>
          <a:xfrm>
            <a:off x="358962" y="1600200"/>
            <a:ext cx="9013638" cy="1015663"/>
          </a:xfrm>
          <a:prstGeom prst="rect">
            <a:avLst/>
          </a:prstGeom>
        </p:spPr>
        <p:txBody>
          <a:bodyPr wrap="square">
            <a:spAutoFit/>
          </a:bodyPr>
          <a:lstStyle/>
          <a:p>
            <a:pPr marL="342900" indent="-342900">
              <a:buFont typeface="Arial" panose="020B0604020202020204" pitchFamily="34" charset="0"/>
              <a:buChar char="•"/>
            </a:pPr>
            <a:r>
              <a:rPr lang="en-US" sz="2000" dirty="0">
                <a:latin typeface="Body Level 1"/>
              </a:rPr>
              <a:t>Bootstrap's grid system allows up to 12 columns across the page.</a:t>
            </a:r>
          </a:p>
          <a:p>
            <a:pPr marL="342900" indent="-342900">
              <a:buFont typeface="Arial" panose="020B0604020202020204" pitchFamily="34" charset="0"/>
              <a:buChar char="•"/>
            </a:pPr>
            <a:r>
              <a:rPr lang="en-US" sz="2000" dirty="0">
                <a:latin typeface="Body Level 1"/>
              </a:rPr>
              <a:t>Bootstrap's grid system is responsive, and the columns will re-arrange depending on the screen size.</a:t>
            </a:r>
          </a:p>
        </p:txBody>
      </p:sp>
    </p:spTree>
    <p:extLst>
      <p:ext uri="{BB962C8B-B14F-4D97-AF65-F5344CB8AC3E}">
        <p14:creationId xmlns:p14="http://schemas.microsoft.com/office/powerpoint/2010/main" val="853783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B51BD-C12D-40DC-BFD7-6EC957306437}"/>
              </a:ext>
            </a:extLst>
          </p:cNvPr>
          <p:cNvSpPr>
            <a:spLocks noGrp="1"/>
          </p:cNvSpPr>
          <p:nvPr>
            <p:ph type="title"/>
          </p:nvPr>
        </p:nvSpPr>
        <p:spPr/>
        <p:txBody>
          <a:bodyPr/>
          <a:lstStyle/>
          <a:p>
            <a:r>
              <a:rPr lang="en-US" dirty="0"/>
              <a:t>Grid System Classes</a:t>
            </a:r>
          </a:p>
        </p:txBody>
      </p:sp>
      <p:sp>
        <p:nvSpPr>
          <p:cNvPr id="4" name="Rectangle 1">
            <a:extLst>
              <a:ext uri="{FF2B5EF4-FFF2-40B4-BE49-F238E27FC236}">
                <a16:creationId xmlns:a16="http://schemas.microsoft.com/office/drawing/2014/main" id="{FA2BD221-0D73-42D8-B8D8-0AFF9CA01D62}"/>
              </a:ext>
            </a:extLst>
          </p:cNvPr>
          <p:cNvSpPr>
            <a:spLocks noGrp="1" noChangeArrowheads="1"/>
          </p:cNvSpPr>
          <p:nvPr>
            <p:ph idx="1"/>
          </p:nvPr>
        </p:nvSpPr>
        <p:spPr bwMode="auto">
          <a:xfrm>
            <a:off x="321611" y="1331268"/>
            <a:ext cx="8593789" cy="4355038"/>
          </a:xfrm>
          <a:prstGeom prst="rect">
            <a:avLst/>
          </a:prstGeom>
          <a:solidFill>
            <a:schemeClr val="bg1"/>
          </a:solidFill>
          <a:ln>
            <a:noFill/>
          </a:ln>
          <a:effec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Body Level 1"/>
              </a:rPr>
              <a:t>The Bootstrap 3 grid system has four classes: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Body Level 1"/>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Body Level 1"/>
              </a:rPr>
              <a:t>The classes above can be combined to create more dynamic and flexible layouts.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Body Level 1"/>
              </a:rPr>
              <a:t>Tip:</a:t>
            </a:r>
            <a:r>
              <a:rPr kumimoji="0" lang="en-US" altLang="en-US" sz="2000" b="0" i="0" u="none" strike="noStrike" cap="none" normalizeH="0" baseline="0" dirty="0">
                <a:ln>
                  <a:noFill/>
                </a:ln>
                <a:effectLst/>
                <a:latin typeface="Body Level 1"/>
              </a:rPr>
              <a:t> Each class scales up, so if you wish to set the same widths for </a:t>
            </a:r>
            <a:r>
              <a:rPr kumimoji="0" lang="en-US" altLang="en-US" sz="2000" b="0" i="0" u="none" strike="noStrike" cap="none" normalizeH="0" baseline="0" dirty="0" err="1">
                <a:ln>
                  <a:noFill/>
                </a:ln>
                <a:effectLst/>
                <a:latin typeface="Body Level 1"/>
                <a:cs typeface="Consolas" panose="020B0609020204030204" pitchFamily="49" charset="0"/>
              </a:rPr>
              <a:t>sm</a:t>
            </a:r>
            <a:r>
              <a:rPr kumimoji="0" lang="en-US" altLang="en-US" sz="2000" b="0" i="0" u="none" strike="noStrike" cap="none" normalizeH="0" baseline="0" dirty="0">
                <a:ln>
                  <a:noFill/>
                </a:ln>
                <a:effectLst/>
                <a:latin typeface="Body Level 1"/>
              </a:rPr>
              <a:t> and </a:t>
            </a:r>
            <a:r>
              <a:rPr kumimoji="0" lang="en-US" altLang="en-US" sz="2000" b="0" i="0" u="none" strike="noStrike" cap="none" normalizeH="0" baseline="0" dirty="0">
                <a:ln>
                  <a:noFill/>
                </a:ln>
                <a:effectLst/>
                <a:latin typeface="Body Level 1"/>
                <a:cs typeface="Consolas" panose="020B0609020204030204" pitchFamily="49" charset="0"/>
              </a:rPr>
              <a:t>md</a:t>
            </a:r>
            <a:r>
              <a:rPr kumimoji="0" lang="en-US" altLang="en-US" sz="2000" b="0" i="0" u="none" strike="noStrike" cap="none" normalizeH="0" baseline="0" dirty="0">
                <a:ln>
                  <a:noFill/>
                </a:ln>
                <a:effectLst/>
                <a:latin typeface="Body Level 1"/>
              </a:rPr>
              <a:t>, you only need to specify </a:t>
            </a:r>
            <a:r>
              <a:rPr kumimoji="0" lang="en-US" altLang="en-US" sz="2000" b="0" i="0" u="none" strike="noStrike" cap="none" normalizeH="0" baseline="0" dirty="0">
                <a:ln>
                  <a:noFill/>
                </a:ln>
                <a:effectLst/>
                <a:latin typeface="Body Level 1"/>
                <a:cs typeface="Consolas" panose="020B0609020204030204" pitchFamily="49" charset="0"/>
              </a:rPr>
              <a:t>sm</a:t>
            </a:r>
            <a:r>
              <a:rPr kumimoji="0" lang="en-US" altLang="en-US" sz="2000" b="0" i="0" u="none" strike="noStrike" cap="none" normalizeH="0" baseline="0" dirty="0">
                <a:ln>
                  <a:noFill/>
                </a:ln>
                <a:effectLst/>
                <a:latin typeface="Body Level 1"/>
              </a:rPr>
              <a:t>.</a:t>
            </a:r>
          </a:p>
        </p:txBody>
      </p:sp>
      <p:graphicFrame>
        <p:nvGraphicFramePr>
          <p:cNvPr id="3" name="Table 2">
            <a:extLst>
              <a:ext uri="{FF2B5EF4-FFF2-40B4-BE49-F238E27FC236}">
                <a16:creationId xmlns:a16="http://schemas.microsoft.com/office/drawing/2014/main" id="{F1E6EC07-D3A8-4D2C-A70C-587B6433AF28}"/>
              </a:ext>
            </a:extLst>
          </p:cNvPr>
          <p:cNvGraphicFramePr>
            <a:graphicFrameLocks noGrp="1"/>
          </p:cNvGraphicFramePr>
          <p:nvPr>
            <p:extLst>
              <p:ext uri="{D42A27DB-BD31-4B8C-83A1-F6EECF244321}">
                <p14:modId xmlns:p14="http://schemas.microsoft.com/office/powerpoint/2010/main" val="3964531460"/>
              </p:ext>
            </p:extLst>
          </p:nvPr>
        </p:nvGraphicFramePr>
        <p:xfrm>
          <a:off x="685800" y="1905000"/>
          <a:ext cx="6603999" cy="2392680"/>
        </p:xfrm>
        <a:graphic>
          <a:graphicData uri="http://schemas.openxmlformats.org/drawingml/2006/table">
            <a:tbl>
              <a:tblPr firstRow="1" bandRow="1">
                <a:tableStyleId>{5C22544A-7EE6-4342-B048-85BDC9FD1C3A}</a:tableStyleId>
              </a:tblPr>
              <a:tblGrid>
                <a:gridCol w="2201333">
                  <a:extLst>
                    <a:ext uri="{9D8B030D-6E8A-4147-A177-3AD203B41FA5}">
                      <a16:colId xmlns:a16="http://schemas.microsoft.com/office/drawing/2014/main" val="692906869"/>
                    </a:ext>
                  </a:extLst>
                </a:gridCol>
                <a:gridCol w="2201333">
                  <a:extLst>
                    <a:ext uri="{9D8B030D-6E8A-4147-A177-3AD203B41FA5}">
                      <a16:colId xmlns:a16="http://schemas.microsoft.com/office/drawing/2014/main" val="4084446072"/>
                    </a:ext>
                  </a:extLst>
                </a:gridCol>
                <a:gridCol w="2201333">
                  <a:extLst>
                    <a:ext uri="{9D8B030D-6E8A-4147-A177-3AD203B41FA5}">
                      <a16:colId xmlns:a16="http://schemas.microsoft.com/office/drawing/2014/main" val="2099818729"/>
                    </a:ext>
                  </a:extLst>
                </a:gridCol>
              </a:tblGrid>
              <a:tr h="370840">
                <a:tc>
                  <a:txBody>
                    <a:bodyPr/>
                    <a:lstStyle/>
                    <a:p>
                      <a:r>
                        <a:rPr lang="en-US" sz="1800" dirty="0">
                          <a:solidFill>
                            <a:schemeClr val="tx1"/>
                          </a:solidFill>
                          <a:latin typeface="Body Level 1"/>
                        </a:rPr>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Device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71575621"/>
                  </a:ext>
                </a:extLst>
              </a:tr>
              <a:tr h="370840">
                <a:tc>
                  <a:txBody>
                    <a:bodyPr/>
                    <a:lstStyle/>
                    <a:p>
                      <a:r>
                        <a:rPr lang="en-US" sz="1800" dirty="0">
                          <a:solidFill>
                            <a:schemeClr val="tx1"/>
                          </a:solidFill>
                          <a:latin typeface="Body Level 1"/>
                        </a:rPr>
                        <a:t> .col-</a:t>
                      </a:r>
                      <a:r>
                        <a:rPr lang="en-US" sz="1800" dirty="0" err="1">
                          <a:solidFill>
                            <a:schemeClr val="tx1"/>
                          </a:solidFill>
                          <a:latin typeface="Body Level 1"/>
                        </a:rPr>
                        <a:t>sm</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Phones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width&lt;768px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81741919"/>
                  </a:ext>
                </a:extLst>
              </a:tr>
              <a:tr h="370840">
                <a:tc>
                  <a:txBody>
                    <a:bodyPr/>
                    <a:lstStyle/>
                    <a:p>
                      <a:r>
                        <a:rPr lang="en-US" sz="1800" dirty="0">
                          <a:solidFill>
                            <a:schemeClr val="tx1"/>
                          </a:solidFill>
                          <a:latin typeface="Body Level 1"/>
                        </a:rPr>
                        <a:t> .col-md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Laptops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768px&lt;= width&lt;992px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0836353"/>
                  </a:ext>
                </a:extLst>
              </a:tr>
              <a:tr h="370840">
                <a:tc>
                  <a:txBody>
                    <a:bodyPr/>
                    <a:lstStyle/>
                    <a:p>
                      <a:r>
                        <a:rPr lang="en-US" sz="1800" dirty="0">
                          <a:solidFill>
                            <a:schemeClr val="tx1"/>
                          </a:solidFill>
                          <a:latin typeface="Body Level 1"/>
                        </a:rPr>
                        <a:t> .col-lg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Desktops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992px&lt;=width&lt;1200px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5797618"/>
                  </a:ext>
                </a:extLst>
              </a:tr>
              <a:tr h="370840">
                <a:tc>
                  <a:txBody>
                    <a:bodyPr/>
                    <a:lstStyle/>
                    <a:p>
                      <a:r>
                        <a:rPr lang="en-US" sz="1800" dirty="0">
                          <a:solidFill>
                            <a:schemeClr val="tx1"/>
                          </a:solidFill>
                          <a:latin typeface="Body Level 1"/>
                        </a:rPr>
                        <a:t> .col-xl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Smart 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width &gt;=1200px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0797987"/>
                  </a:ext>
                </a:extLst>
              </a:tr>
            </a:tbl>
          </a:graphicData>
        </a:graphic>
      </p:graphicFrame>
    </p:spTree>
    <p:extLst>
      <p:ext uri="{BB962C8B-B14F-4D97-AF65-F5344CB8AC3E}">
        <p14:creationId xmlns:p14="http://schemas.microsoft.com/office/powerpoint/2010/main" val="1800126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F83D1-D9D6-41CC-88F3-5749DC034E48}"/>
              </a:ext>
            </a:extLst>
          </p:cNvPr>
          <p:cNvSpPr>
            <a:spLocks noGrp="1"/>
          </p:cNvSpPr>
          <p:nvPr>
            <p:ph type="title"/>
          </p:nvPr>
        </p:nvSpPr>
        <p:spPr/>
        <p:txBody>
          <a:bodyPr/>
          <a:lstStyle/>
          <a:p>
            <a:r>
              <a:rPr lang="en-US" dirty="0"/>
              <a:t>Basic Grid Structure</a:t>
            </a:r>
          </a:p>
        </p:txBody>
      </p:sp>
      <p:pic>
        <p:nvPicPr>
          <p:cNvPr id="8" name="Picture 7">
            <a:extLst>
              <a:ext uri="{FF2B5EF4-FFF2-40B4-BE49-F238E27FC236}">
                <a16:creationId xmlns:a16="http://schemas.microsoft.com/office/drawing/2014/main" id="{7B0B35DA-A1E6-446C-9F48-A033566F6BB1}"/>
              </a:ext>
            </a:extLst>
          </p:cNvPr>
          <p:cNvPicPr>
            <a:picLocks noChangeAspect="1"/>
          </p:cNvPicPr>
          <p:nvPr/>
        </p:nvPicPr>
        <p:blipFill>
          <a:blip r:embed="rId2"/>
          <a:stretch>
            <a:fillRect/>
          </a:stretch>
        </p:blipFill>
        <p:spPr>
          <a:xfrm>
            <a:off x="5715000" y="1600200"/>
            <a:ext cx="4038601" cy="1009650"/>
          </a:xfrm>
          <a:prstGeom prst="rect">
            <a:avLst/>
          </a:prstGeom>
          <a:ln>
            <a:solidFill>
              <a:schemeClr val="tx1"/>
            </a:solidFill>
          </a:ln>
        </p:spPr>
      </p:pic>
      <p:pic>
        <p:nvPicPr>
          <p:cNvPr id="3" name="Picture 2">
            <a:extLst>
              <a:ext uri="{FF2B5EF4-FFF2-40B4-BE49-F238E27FC236}">
                <a16:creationId xmlns:a16="http://schemas.microsoft.com/office/drawing/2014/main" id="{AD94A08E-DCB3-482F-B9C9-93F556A6E3F1}"/>
              </a:ext>
            </a:extLst>
          </p:cNvPr>
          <p:cNvPicPr>
            <a:picLocks noChangeAspect="1"/>
          </p:cNvPicPr>
          <p:nvPr/>
        </p:nvPicPr>
        <p:blipFill>
          <a:blip r:embed="rId3"/>
          <a:stretch>
            <a:fillRect/>
          </a:stretch>
        </p:blipFill>
        <p:spPr>
          <a:xfrm>
            <a:off x="152399" y="1447800"/>
            <a:ext cx="6305550" cy="4762500"/>
          </a:xfrm>
          <a:prstGeom prst="rect">
            <a:avLst/>
          </a:prstGeom>
          <a:ln>
            <a:solidFill>
              <a:schemeClr val="tx1"/>
            </a:solidFill>
          </a:ln>
        </p:spPr>
      </p:pic>
    </p:spTree>
    <p:extLst>
      <p:ext uri="{BB962C8B-B14F-4D97-AF65-F5344CB8AC3E}">
        <p14:creationId xmlns:p14="http://schemas.microsoft.com/office/powerpoint/2010/main" val="2329318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0724" y="1295400"/>
            <a:ext cx="5911476" cy="5324535"/>
          </a:xfrm>
          <a:prstGeom prst="rect">
            <a:avLst/>
          </a:prstGeom>
          <a:noFill/>
        </p:spPr>
        <p:txBody>
          <a:bodyPr wrap="square" rtlCol="0">
            <a:spAutoFit/>
          </a:bodyPr>
          <a:lstStyle/>
          <a:p>
            <a:pPr>
              <a:buFont typeface="Arial" pitchFamily="34" charset="0"/>
              <a:buChar char="•"/>
            </a:pPr>
            <a:r>
              <a:rPr lang="en-US" sz="2000" dirty="0">
                <a:latin typeface="Body Level 1"/>
              </a:rPr>
              <a:t>The .table class adds basic styling to a table: A basic Bootstrap table has a light padding and only horizontal dividers.</a:t>
            </a:r>
          </a:p>
          <a:p>
            <a:pPr>
              <a:buFont typeface="Arial" pitchFamily="34" charset="0"/>
              <a:buChar char="•"/>
            </a:pPr>
            <a:endParaRPr lang="en-US" sz="2000" dirty="0">
              <a:latin typeface="Body Level 1"/>
            </a:endParaRPr>
          </a:p>
          <a:p>
            <a:pPr>
              <a:buFont typeface="Arial" pitchFamily="34" charset="0"/>
              <a:buChar char="•"/>
            </a:pPr>
            <a:r>
              <a:rPr lang="en-US" sz="2000" dirty="0">
                <a:latin typeface="Body Level 1"/>
              </a:rPr>
              <a:t>The .table-striped class adds zebra-stripes to a table.</a:t>
            </a:r>
          </a:p>
          <a:p>
            <a:pPr>
              <a:buFont typeface="Arial" pitchFamily="34" charset="0"/>
              <a:buChar char="•"/>
            </a:pPr>
            <a:endParaRPr lang="en-US" sz="2000" dirty="0">
              <a:latin typeface="Body Level 1"/>
            </a:endParaRPr>
          </a:p>
          <a:p>
            <a:pPr>
              <a:buFont typeface="Arial" pitchFamily="34" charset="0"/>
              <a:buChar char="•"/>
            </a:pPr>
            <a:r>
              <a:rPr lang="en-US" sz="2000" dirty="0">
                <a:latin typeface="Body Level 1"/>
              </a:rPr>
              <a:t>The .table-bordered class adds borders on all sides of the table and cells.</a:t>
            </a:r>
          </a:p>
          <a:p>
            <a:pPr>
              <a:buFont typeface="Arial" pitchFamily="34" charset="0"/>
              <a:buChar char="•"/>
            </a:pPr>
            <a:endParaRPr lang="en-US" sz="2000" dirty="0">
              <a:latin typeface="Body Level 1"/>
            </a:endParaRPr>
          </a:p>
          <a:p>
            <a:pPr>
              <a:buFont typeface="Arial" pitchFamily="34" charset="0"/>
              <a:buChar char="•"/>
            </a:pPr>
            <a:r>
              <a:rPr lang="en-US" sz="2000" dirty="0">
                <a:latin typeface="Body Level 1"/>
              </a:rPr>
              <a:t>The .table-hover class adds a hover effect (grey background color) on table rows.</a:t>
            </a:r>
          </a:p>
          <a:p>
            <a:pPr>
              <a:buFont typeface="Arial" pitchFamily="34" charset="0"/>
              <a:buChar char="•"/>
            </a:pPr>
            <a:endParaRPr lang="en-US" sz="2000" dirty="0">
              <a:latin typeface="Body Level 1"/>
            </a:endParaRPr>
          </a:p>
          <a:p>
            <a:pPr>
              <a:buFont typeface="Arial" pitchFamily="34" charset="0"/>
              <a:buChar char="•"/>
            </a:pPr>
            <a:r>
              <a:rPr lang="en-US" sz="2000" dirty="0">
                <a:latin typeface="Body Level 1"/>
              </a:rPr>
              <a:t>The .table-condensed class makes a table more compact by cutting cell padding in half.</a:t>
            </a:r>
          </a:p>
          <a:p>
            <a:endParaRPr lang="en-US" sz="2000" dirty="0">
              <a:latin typeface="Body Level 1"/>
            </a:endParaRPr>
          </a:p>
          <a:p>
            <a:endParaRPr lang="en-US" sz="2000" dirty="0">
              <a:latin typeface="Body Level 1"/>
            </a:endParaRPr>
          </a:p>
          <a:p>
            <a:endParaRPr lang="en-US" sz="2000" dirty="0">
              <a:latin typeface="Body Level 1"/>
            </a:endParaRPr>
          </a:p>
        </p:txBody>
      </p:sp>
      <p:sp>
        <p:nvSpPr>
          <p:cNvPr id="4" name="Title 3">
            <a:extLst>
              <a:ext uri="{FF2B5EF4-FFF2-40B4-BE49-F238E27FC236}">
                <a16:creationId xmlns:a16="http://schemas.microsoft.com/office/drawing/2014/main" id="{88050AEC-6554-48EA-9842-4833089F114A}"/>
              </a:ext>
            </a:extLst>
          </p:cNvPr>
          <p:cNvSpPr>
            <a:spLocks noGrp="1"/>
          </p:cNvSpPr>
          <p:nvPr>
            <p:ph type="title"/>
          </p:nvPr>
        </p:nvSpPr>
        <p:spPr/>
        <p:txBody>
          <a:bodyPr/>
          <a:lstStyle/>
          <a:p>
            <a:r>
              <a:rPr lang="en-US" dirty="0"/>
              <a:t>Table</a:t>
            </a:r>
          </a:p>
        </p:txBody>
      </p:sp>
      <p:pic>
        <p:nvPicPr>
          <p:cNvPr id="6" name="Picture 5">
            <a:extLst>
              <a:ext uri="{FF2B5EF4-FFF2-40B4-BE49-F238E27FC236}">
                <a16:creationId xmlns:a16="http://schemas.microsoft.com/office/drawing/2014/main" id="{E0B7088B-4A34-4E0E-9506-216010E503F1}"/>
              </a:ext>
            </a:extLst>
          </p:cNvPr>
          <p:cNvPicPr>
            <a:picLocks noChangeAspect="1"/>
          </p:cNvPicPr>
          <p:nvPr/>
        </p:nvPicPr>
        <p:blipFill>
          <a:blip r:embed="rId2"/>
          <a:stretch>
            <a:fillRect/>
          </a:stretch>
        </p:blipFill>
        <p:spPr>
          <a:xfrm>
            <a:off x="6324601" y="3357943"/>
            <a:ext cx="3086099" cy="2572597"/>
          </a:xfrm>
          <a:prstGeom prst="rect">
            <a:avLst/>
          </a:prstGeom>
          <a:ln>
            <a:solidFill>
              <a:schemeClr val="tx1"/>
            </a:solidFill>
          </a:ln>
        </p:spPr>
      </p:pic>
      <p:pic>
        <p:nvPicPr>
          <p:cNvPr id="7" name="Picture 6">
            <a:extLst>
              <a:ext uri="{FF2B5EF4-FFF2-40B4-BE49-F238E27FC236}">
                <a16:creationId xmlns:a16="http://schemas.microsoft.com/office/drawing/2014/main" id="{661CA8FD-25CC-44E8-99AE-F4849D75F58A}"/>
              </a:ext>
            </a:extLst>
          </p:cNvPr>
          <p:cNvPicPr>
            <a:picLocks noChangeAspect="1"/>
          </p:cNvPicPr>
          <p:nvPr/>
        </p:nvPicPr>
        <p:blipFill>
          <a:blip r:embed="rId3"/>
          <a:stretch>
            <a:fillRect/>
          </a:stretch>
        </p:blipFill>
        <p:spPr>
          <a:xfrm>
            <a:off x="6324600" y="1500172"/>
            <a:ext cx="3086100" cy="1704975"/>
          </a:xfrm>
          <a:prstGeom prst="rect">
            <a:avLst/>
          </a:prstGeom>
          <a:ln>
            <a:solidFill>
              <a:schemeClr val="tx1"/>
            </a:solidFill>
          </a:ln>
        </p:spPr>
      </p:pic>
    </p:spTree>
    <p:extLst>
      <p:ext uri="{BB962C8B-B14F-4D97-AF65-F5344CB8AC3E}">
        <p14:creationId xmlns:p14="http://schemas.microsoft.com/office/powerpoint/2010/main" val="163879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4091" y="1143000"/>
            <a:ext cx="3866909" cy="5632311"/>
          </a:xfrm>
          <a:prstGeom prst="rect">
            <a:avLst/>
          </a:prstGeom>
          <a:noFill/>
        </p:spPr>
        <p:txBody>
          <a:bodyPr wrap="square" rtlCol="0">
            <a:spAutoFit/>
          </a:bodyPr>
          <a:lstStyle/>
          <a:p>
            <a:pPr>
              <a:buFont typeface="Arial" pitchFamily="34" charset="0"/>
              <a:buChar char="•"/>
            </a:pPr>
            <a:r>
              <a:rPr lang="en-US" sz="2000" dirty="0">
                <a:latin typeface="Body Level 1"/>
              </a:rPr>
              <a:t>To achieve the different background color for button, Bootstrap has the following classes.</a:t>
            </a:r>
          </a:p>
          <a:p>
            <a:pPr lvl="1"/>
            <a:r>
              <a:rPr lang="en-US" sz="2000" dirty="0">
                <a:latin typeface="Body Level 1"/>
              </a:rPr>
              <a:t>.</a:t>
            </a:r>
            <a:r>
              <a:rPr lang="en-US" sz="2000" dirty="0" err="1">
                <a:latin typeface="Body Level 1"/>
              </a:rPr>
              <a:t>btn</a:t>
            </a:r>
            <a:endParaRPr lang="en-US" sz="2000" dirty="0">
              <a:latin typeface="Body Level 1"/>
            </a:endParaRPr>
          </a:p>
          <a:p>
            <a:pPr lvl="1"/>
            <a:r>
              <a:rPr lang="en-US" sz="2000" dirty="0">
                <a:latin typeface="Body Level 1"/>
              </a:rPr>
              <a:t>.</a:t>
            </a:r>
            <a:r>
              <a:rPr lang="en-US" sz="2000" dirty="0" err="1">
                <a:latin typeface="Body Level 1"/>
              </a:rPr>
              <a:t>btn</a:t>
            </a:r>
            <a:r>
              <a:rPr lang="en-US" sz="2000" dirty="0">
                <a:latin typeface="Body Level 1"/>
              </a:rPr>
              <a:t>-default</a:t>
            </a:r>
          </a:p>
          <a:p>
            <a:pPr lvl="1"/>
            <a:r>
              <a:rPr lang="en-US" sz="2000" dirty="0">
                <a:latin typeface="Body Level 1"/>
              </a:rPr>
              <a:t>.</a:t>
            </a:r>
            <a:r>
              <a:rPr lang="en-US" sz="2000" dirty="0" err="1">
                <a:latin typeface="Body Level 1"/>
              </a:rPr>
              <a:t>btn</a:t>
            </a:r>
            <a:r>
              <a:rPr lang="en-US" sz="2000" dirty="0">
                <a:latin typeface="Body Level 1"/>
              </a:rPr>
              <a:t>-primary</a:t>
            </a:r>
          </a:p>
          <a:p>
            <a:pPr lvl="1"/>
            <a:r>
              <a:rPr lang="en-US" sz="2000" dirty="0">
                <a:latin typeface="Body Level 1"/>
              </a:rPr>
              <a:t>.</a:t>
            </a:r>
            <a:r>
              <a:rPr lang="en-US" sz="2000" dirty="0" err="1">
                <a:latin typeface="Body Level 1"/>
              </a:rPr>
              <a:t>btn</a:t>
            </a:r>
            <a:r>
              <a:rPr lang="en-US" sz="2000" dirty="0">
                <a:latin typeface="Body Level 1"/>
              </a:rPr>
              <a:t>-success</a:t>
            </a:r>
          </a:p>
          <a:p>
            <a:pPr lvl="1"/>
            <a:r>
              <a:rPr lang="en-US" sz="2000" dirty="0">
                <a:latin typeface="Body Level 1"/>
              </a:rPr>
              <a:t>.</a:t>
            </a:r>
            <a:r>
              <a:rPr lang="en-US" sz="2000" dirty="0" err="1">
                <a:latin typeface="Body Level 1"/>
              </a:rPr>
              <a:t>btn</a:t>
            </a:r>
            <a:r>
              <a:rPr lang="en-US" sz="2000" dirty="0">
                <a:latin typeface="Body Level 1"/>
              </a:rPr>
              <a:t>-info</a:t>
            </a:r>
          </a:p>
          <a:p>
            <a:pPr lvl="1"/>
            <a:r>
              <a:rPr lang="en-US" sz="2000" dirty="0">
                <a:latin typeface="Body Level 1"/>
              </a:rPr>
              <a:t>.</a:t>
            </a:r>
            <a:r>
              <a:rPr lang="en-US" sz="2000" dirty="0" err="1">
                <a:latin typeface="Body Level 1"/>
              </a:rPr>
              <a:t>btn</a:t>
            </a:r>
            <a:r>
              <a:rPr lang="en-US" sz="2000" dirty="0">
                <a:latin typeface="Body Level 1"/>
              </a:rPr>
              <a:t>-warning</a:t>
            </a:r>
          </a:p>
          <a:p>
            <a:pPr lvl="1"/>
            <a:r>
              <a:rPr lang="en-US" sz="2000" dirty="0">
                <a:latin typeface="Body Level 1"/>
              </a:rPr>
              <a:t>.</a:t>
            </a:r>
            <a:r>
              <a:rPr lang="en-US" sz="2000" dirty="0" err="1">
                <a:latin typeface="Body Level 1"/>
              </a:rPr>
              <a:t>btn</a:t>
            </a:r>
            <a:r>
              <a:rPr lang="en-US" sz="2000" dirty="0">
                <a:latin typeface="Body Level 1"/>
              </a:rPr>
              <a:t>-danger</a:t>
            </a:r>
          </a:p>
          <a:p>
            <a:pPr lvl="1"/>
            <a:r>
              <a:rPr lang="en-US" sz="2000" dirty="0">
                <a:latin typeface="Body Level 1"/>
              </a:rPr>
              <a:t>.</a:t>
            </a:r>
            <a:r>
              <a:rPr lang="en-US" sz="2000" dirty="0" err="1">
                <a:latin typeface="Body Level 1"/>
              </a:rPr>
              <a:t>btn</a:t>
            </a:r>
            <a:r>
              <a:rPr lang="en-US" sz="2000" dirty="0">
                <a:latin typeface="Body Level 1"/>
              </a:rPr>
              <a:t>-link</a:t>
            </a:r>
          </a:p>
          <a:p>
            <a:pPr>
              <a:buFont typeface="Arial" pitchFamily="34" charset="0"/>
              <a:buChar char="•"/>
            </a:pPr>
            <a:r>
              <a:rPr lang="en-US" sz="2000" dirty="0">
                <a:latin typeface="Body Level 1"/>
              </a:rPr>
              <a:t>Bootstrap provides different button sizes. The classes that define the different sizes are:</a:t>
            </a:r>
          </a:p>
          <a:p>
            <a:pPr lvl="1"/>
            <a:r>
              <a:rPr lang="en-US" sz="2000" dirty="0">
                <a:latin typeface="Body Level 1"/>
              </a:rPr>
              <a:t>.</a:t>
            </a:r>
            <a:r>
              <a:rPr lang="en-US" sz="2000" dirty="0" err="1">
                <a:latin typeface="Body Level 1"/>
              </a:rPr>
              <a:t>btn</a:t>
            </a:r>
            <a:r>
              <a:rPr lang="en-US" sz="2000" dirty="0">
                <a:latin typeface="Body Level 1"/>
              </a:rPr>
              <a:t>-lg           </a:t>
            </a:r>
          </a:p>
          <a:p>
            <a:pPr lvl="1"/>
            <a:r>
              <a:rPr lang="en-US" sz="2000" dirty="0">
                <a:latin typeface="Body Level 1"/>
              </a:rPr>
              <a:t>.</a:t>
            </a:r>
            <a:r>
              <a:rPr lang="en-US" sz="2000" dirty="0" err="1">
                <a:latin typeface="Body Level 1"/>
              </a:rPr>
              <a:t>btn-md</a:t>
            </a:r>
            <a:endParaRPr lang="en-US" sz="2000" dirty="0">
              <a:latin typeface="Body Level 1"/>
            </a:endParaRPr>
          </a:p>
          <a:p>
            <a:pPr lvl="1"/>
            <a:r>
              <a:rPr lang="en-US" sz="2000" dirty="0">
                <a:latin typeface="Body Level 1"/>
              </a:rPr>
              <a:t>.</a:t>
            </a:r>
            <a:r>
              <a:rPr lang="en-US" sz="2000" dirty="0" err="1">
                <a:latin typeface="Body Level 1"/>
              </a:rPr>
              <a:t>btn-sm</a:t>
            </a:r>
            <a:endParaRPr lang="en-US" sz="2000" dirty="0">
              <a:latin typeface="Body Level 1"/>
            </a:endParaRPr>
          </a:p>
          <a:p>
            <a:pPr lvl="1"/>
            <a:r>
              <a:rPr lang="en-US" sz="2000" dirty="0">
                <a:latin typeface="Body Level 1"/>
              </a:rPr>
              <a:t>.</a:t>
            </a:r>
            <a:r>
              <a:rPr lang="en-US" sz="2000" dirty="0" err="1">
                <a:latin typeface="Body Level 1"/>
              </a:rPr>
              <a:t>btn-xs</a:t>
            </a:r>
            <a:endParaRPr lang="en-US" sz="2000" dirty="0">
              <a:latin typeface="Body Level 1"/>
            </a:endParaRPr>
          </a:p>
        </p:txBody>
      </p:sp>
      <p:sp>
        <p:nvSpPr>
          <p:cNvPr id="4" name="Title 3">
            <a:extLst>
              <a:ext uri="{FF2B5EF4-FFF2-40B4-BE49-F238E27FC236}">
                <a16:creationId xmlns:a16="http://schemas.microsoft.com/office/drawing/2014/main" id="{913211B4-243C-4D9D-8D1A-CEF85FC48DF7}"/>
              </a:ext>
            </a:extLst>
          </p:cNvPr>
          <p:cNvSpPr>
            <a:spLocks noGrp="1"/>
          </p:cNvSpPr>
          <p:nvPr>
            <p:ph type="title"/>
          </p:nvPr>
        </p:nvSpPr>
        <p:spPr/>
        <p:txBody>
          <a:bodyPr/>
          <a:lstStyle/>
          <a:p>
            <a:r>
              <a:rPr lang="en-US" dirty="0"/>
              <a:t>Buttons</a:t>
            </a:r>
          </a:p>
        </p:txBody>
      </p:sp>
      <p:pic>
        <p:nvPicPr>
          <p:cNvPr id="6" name="Picture 5">
            <a:extLst>
              <a:ext uri="{FF2B5EF4-FFF2-40B4-BE49-F238E27FC236}">
                <a16:creationId xmlns:a16="http://schemas.microsoft.com/office/drawing/2014/main" id="{A90B5FAD-3EB6-4557-9CB9-AE5ED843B56F}"/>
              </a:ext>
            </a:extLst>
          </p:cNvPr>
          <p:cNvPicPr>
            <a:picLocks noChangeAspect="1"/>
          </p:cNvPicPr>
          <p:nvPr/>
        </p:nvPicPr>
        <p:blipFill>
          <a:blip r:embed="rId2"/>
          <a:stretch>
            <a:fillRect/>
          </a:stretch>
        </p:blipFill>
        <p:spPr>
          <a:xfrm>
            <a:off x="3396343" y="3054398"/>
            <a:ext cx="5962650" cy="428625"/>
          </a:xfrm>
          <a:prstGeom prst="rect">
            <a:avLst/>
          </a:prstGeom>
          <a:ln>
            <a:solidFill>
              <a:schemeClr val="tx1"/>
            </a:solidFill>
          </a:ln>
        </p:spPr>
      </p:pic>
      <p:pic>
        <p:nvPicPr>
          <p:cNvPr id="7" name="Picture 6">
            <a:extLst>
              <a:ext uri="{FF2B5EF4-FFF2-40B4-BE49-F238E27FC236}">
                <a16:creationId xmlns:a16="http://schemas.microsoft.com/office/drawing/2014/main" id="{235CE159-887A-437E-877E-9BA4D2560285}"/>
              </a:ext>
            </a:extLst>
          </p:cNvPr>
          <p:cNvPicPr>
            <a:picLocks noChangeAspect="1"/>
          </p:cNvPicPr>
          <p:nvPr/>
        </p:nvPicPr>
        <p:blipFill>
          <a:blip r:embed="rId3"/>
          <a:stretch>
            <a:fillRect/>
          </a:stretch>
        </p:blipFill>
        <p:spPr>
          <a:xfrm>
            <a:off x="3400425" y="5538787"/>
            <a:ext cx="3105150" cy="561975"/>
          </a:xfrm>
          <a:prstGeom prst="rect">
            <a:avLst/>
          </a:prstGeom>
          <a:ln>
            <a:solidFill>
              <a:schemeClr val="tx1"/>
            </a:solidFill>
          </a:ln>
        </p:spPr>
      </p:pic>
      <p:pic>
        <p:nvPicPr>
          <p:cNvPr id="8" name="Picture 7">
            <a:extLst>
              <a:ext uri="{FF2B5EF4-FFF2-40B4-BE49-F238E27FC236}">
                <a16:creationId xmlns:a16="http://schemas.microsoft.com/office/drawing/2014/main" id="{59E610B0-BCFF-438C-9CF7-94F4DE14FF70}"/>
              </a:ext>
            </a:extLst>
          </p:cNvPr>
          <p:cNvPicPr>
            <a:picLocks noChangeAspect="1"/>
          </p:cNvPicPr>
          <p:nvPr/>
        </p:nvPicPr>
        <p:blipFill>
          <a:blip r:embed="rId4"/>
          <a:stretch>
            <a:fillRect/>
          </a:stretch>
        </p:blipFill>
        <p:spPr>
          <a:xfrm>
            <a:off x="3396343" y="2441928"/>
            <a:ext cx="6400800" cy="283397"/>
          </a:xfrm>
          <a:prstGeom prst="rect">
            <a:avLst/>
          </a:prstGeom>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Bootstrap Forms</a:t>
            </a:r>
          </a:p>
        </p:txBody>
      </p:sp>
      <p:sp>
        <p:nvSpPr>
          <p:cNvPr id="5" name="TextBox 4"/>
          <p:cNvSpPr txBox="1"/>
          <p:nvPr/>
        </p:nvSpPr>
        <p:spPr>
          <a:xfrm>
            <a:off x="324091" y="1295400"/>
            <a:ext cx="8610600" cy="3785652"/>
          </a:xfrm>
          <a:prstGeom prst="rect">
            <a:avLst/>
          </a:prstGeom>
          <a:noFill/>
        </p:spPr>
        <p:txBody>
          <a:bodyPr wrap="square" rtlCol="0">
            <a:spAutoFit/>
          </a:bodyPr>
          <a:lstStyle/>
          <a:p>
            <a:r>
              <a:rPr lang="en-US" sz="2000" dirty="0">
                <a:latin typeface="Body Level 1"/>
              </a:rPr>
              <a:t>Bootstrap provides three types of form layouts:</a:t>
            </a:r>
          </a:p>
          <a:p>
            <a:pPr>
              <a:buFont typeface="Arial" pitchFamily="34" charset="0"/>
              <a:buChar char="•"/>
            </a:pPr>
            <a:r>
              <a:rPr lang="en-US" sz="2000" dirty="0">
                <a:latin typeface="Body Level 1"/>
              </a:rPr>
              <a:t>Vertical form (this is default)</a:t>
            </a:r>
          </a:p>
          <a:p>
            <a:pPr>
              <a:buFont typeface="Arial" pitchFamily="34" charset="0"/>
              <a:buChar char="•"/>
            </a:pPr>
            <a:r>
              <a:rPr lang="en-US" sz="2000" dirty="0">
                <a:latin typeface="Body Level 1"/>
              </a:rPr>
              <a:t>Horizontal form</a:t>
            </a:r>
          </a:p>
          <a:p>
            <a:pPr>
              <a:buFont typeface="Arial" pitchFamily="34" charset="0"/>
              <a:buChar char="•"/>
            </a:pPr>
            <a:r>
              <a:rPr lang="en-US" sz="2000" dirty="0">
                <a:latin typeface="Body Level 1"/>
              </a:rPr>
              <a:t>Inline form</a:t>
            </a:r>
          </a:p>
          <a:p>
            <a:pPr>
              <a:buFont typeface="Arial" pitchFamily="34" charset="0"/>
              <a:buChar char="•"/>
            </a:pPr>
            <a:endParaRPr lang="en-US" sz="2000" dirty="0">
              <a:latin typeface="Body Level 1"/>
            </a:endParaRPr>
          </a:p>
          <a:p>
            <a:r>
              <a:rPr lang="en-US" sz="2000" dirty="0">
                <a:latin typeface="Body Level 1"/>
              </a:rPr>
              <a:t>Standard rules for all three form layouts:</a:t>
            </a:r>
          </a:p>
          <a:p>
            <a:pPr>
              <a:buFont typeface="Arial" pitchFamily="34" charset="0"/>
              <a:buChar char="•"/>
            </a:pPr>
            <a:r>
              <a:rPr lang="en-US" sz="2000" dirty="0">
                <a:latin typeface="Body Level 1"/>
              </a:rPr>
              <a:t>Wrap labels and form controls in &lt;div class="form-group"&gt; (needed for optimum spacing)</a:t>
            </a:r>
          </a:p>
          <a:p>
            <a:pPr>
              <a:buFont typeface="Arial" pitchFamily="34" charset="0"/>
              <a:buChar char="•"/>
            </a:pPr>
            <a:r>
              <a:rPr lang="en-US" sz="2000" dirty="0">
                <a:latin typeface="Body Level 1"/>
              </a:rPr>
              <a:t>Add class .form-control to all textual &lt;input&gt;, &lt;</a:t>
            </a:r>
            <a:r>
              <a:rPr lang="en-US" sz="2000" dirty="0" err="1">
                <a:latin typeface="Body Level 1"/>
              </a:rPr>
              <a:t>textarea</a:t>
            </a:r>
            <a:r>
              <a:rPr lang="en-US" sz="2000" dirty="0">
                <a:latin typeface="Body Level 1"/>
              </a:rPr>
              <a:t>&gt;, and &lt;select&gt;elements</a:t>
            </a:r>
          </a:p>
          <a:p>
            <a:pPr>
              <a:buFont typeface="Arial" pitchFamily="34" charset="0"/>
              <a:buChar char="•"/>
            </a:pPr>
            <a:r>
              <a:rPr lang="en-US" sz="2000" dirty="0">
                <a:latin typeface="Body Level 1"/>
              </a:rPr>
              <a:t>All textual &lt;input&gt;, &lt;</a:t>
            </a:r>
            <a:r>
              <a:rPr lang="en-US" sz="2000" dirty="0" err="1">
                <a:latin typeface="Body Level 1"/>
              </a:rPr>
              <a:t>textarea</a:t>
            </a:r>
            <a:r>
              <a:rPr lang="en-US" sz="2000" dirty="0">
                <a:latin typeface="Body Level 1"/>
              </a:rPr>
              <a:t>&gt;, and &lt;select&gt; elements with class .form-control have a width of 100%.</a:t>
            </a:r>
          </a:p>
          <a:p>
            <a:endParaRPr lang="en-US" sz="2000" dirty="0">
              <a:latin typeface="Body Level 1"/>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96079"/>
            <a:ext cx="9144000" cy="628650"/>
          </a:xfrm>
        </p:spPr>
        <p:txBody>
          <a:bodyPr>
            <a:normAutofit/>
          </a:bodyPr>
          <a:lstStyle/>
          <a:p>
            <a:r>
              <a:rPr lang="en-US" dirty="0"/>
              <a:t>Types of Bootstrap Forms</a:t>
            </a:r>
          </a:p>
        </p:txBody>
      </p:sp>
      <p:pic>
        <p:nvPicPr>
          <p:cNvPr id="7" name="Picture 6">
            <a:extLst>
              <a:ext uri="{FF2B5EF4-FFF2-40B4-BE49-F238E27FC236}">
                <a16:creationId xmlns:a16="http://schemas.microsoft.com/office/drawing/2014/main" id="{8A687ECB-0B60-49E0-AE49-EA9B3AE0151A}"/>
              </a:ext>
            </a:extLst>
          </p:cNvPr>
          <p:cNvPicPr>
            <a:picLocks noChangeAspect="1"/>
          </p:cNvPicPr>
          <p:nvPr/>
        </p:nvPicPr>
        <p:blipFill>
          <a:blip r:embed="rId2"/>
          <a:stretch>
            <a:fillRect/>
          </a:stretch>
        </p:blipFill>
        <p:spPr>
          <a:xfrm>
            <a:off x="550416" y="1512102"/>
            <a:ext cx="5734050" cy="1622881"/>
          </a:xfrm>
          <a:prstGeom prst="rect">
            <a:avLst/>
          </a:prstGeom>
          <a:ln>
            <a:solidFill>
              <a:schemeClr val="tx1"/>
            </a:solidFill>
          </a:ln>
        </p:spPr>
      </p:pic>
      <p:grpSp>
        <p:nvGrpSpPr>
          <p:cNvPr id="13" name="Group 12">
            <a:extLst>
              <a:ext uri="{FF2B5EF4-FFF2-40B4-BE49-F238E27FC236}">
                <a16:creationId xmlns:a16="http://schemas.microsoft.com/office/drawing/2014/main" id="{4534D8BA-7DCC-45B5-B519-1D1DCFFE2CE4}"/>
              </a:ext>
            </a:extLst>
          </p:cNvPr>
          <p:cNvGrpSpPr/>
          <p:nvPr/>
        </p:nvGrpSpPr>
        <p:grpSpPr>
          <a:xfrm>
            <a:off x="550416" y="1103635"/>
            <a:ext cx="5036723" cy="5541121"/>
            <a:chOff x="550416" y="1103635"/>
            <a:chExt cx="5036723" cy="5541121"/>
          </a:xfrm>
        </p:grpSpPr>
        <p:sp>
          <p:nvSpPr>
            <p:cNvPr id="6" name="TextBox 5">
              <a:extLst>
                <a:ext uri="{FF2B5EF4-FFF2-40B4-BE49-F238E27FC236}">
                  <a16:creationId xmlns:a16="http://schemas.microsoft.com/office/drawing/2014/main" id="{F32A6E96-2245-4B1B-AFEC-8AC8316C4746}"/>
                </a:ext>
              </a:extLst>
            </p:cNvPr>
            <p:cNvSpPr txBox="1"/>
            <p:nvPr/>
          </p:nvSpPr>
          <p:spPr>
            <a:xfrm>
              <a:off x="550416" y="1103635"/>
              <a:ext cx="3505200" cy="369332"/>
            </a:xfrm>
            <a:prstGeom prst="rect">
              <a:avLst/>
            </a:prstGeom>
            <a:noFill/>
          </p:spPr>
          <p:txBody>
            <a:bodyPr wrap="square" rtlCol="0">
              <a:spAutoFit/>
            </a:bodyPr>
            <a:lstStyle/>
            <a:p>
              <a:r>
                <a:rPr lang="en-US" dirty="0">
                  <a:solidFill>
                    <a:schemeClr val="accent1">
                      <a:lumMod val="75000"/>
                    </a:schemeClr>
                  </a:solidFill>
                </a:rPr>
                <a:t>Vertical Form (default)</a:t>
              </a:r>
            </a:p>
          </p:txBody>
        </p:sp>
        <p:sp>
          <p:nvSpPr>
            <p:cNvPr id="8" name="TextBox 7">
              <a:extLst>
                <a:ext uri="{FF2B5EF4-FFF2-40B4-BE49-F238E27FC236}">
                  <a16:creationId xmlns:a16="http://schemas.microsoft.com/office/drawing/2014/main" id="{3FCE6C68-2999-4444-8547-0751725E0464}"/>
                </a:ext>
              </a:extLst>
            </p:cNvPr>
            <p:cNvSpPr txBox="1"/>
            <p:nvPr/>
          </p:nvSpPr>
          <p:spPr>
            <a:xfrm>
              <a:off x="550416" y="3294480"/>
              <a:ext cx="3505200" cy="369332"/>
            </a:xfrm>
            <a:prstGeom prst="rect">
              <a:avLst/>
            </a:prstGeom>
            <a:noFill/>
          </p:spPr>
          <p:txBody>
            <a:bodyPr wrap="square" rtlCol="0">
              <a:spAutoFit/>
            </a:bodyPr>
            <a:lstStyle/>
            <a:p>
              <a:r>
                <a:rPr lang="en-US" dirty="0">
                  <a:solidFill>
                    <a:schemeClr val="accent1">
                      <a:lumMod val="75000"/>
                    </a:schemeClr>
                  </a:solidFill>
                </a:rPr>
                <a:t>Inline Form</a:t>
              </a:r>
            </a:p>
          </p:txBody>
        </p:sp>
        <p:sp>
          <p:nvSpPr>
            <p:cNvPr id="9" name="TextBox 8">
              <a:extLst>
                <a:ext uri="{FF2B5EF4-FFF2-40B4-BE49-F238E27FC236}">
                  <a16:creationId xmlns:a16="http://schemas.microsoft.com/office/drawing/2014/main" id="{C2CF5C7C-80E4-4037-B1B0-009A1BE835E9}"/>
                </a:ext>
              </a:extLst>
            </p:cNvPr>
            <p:cNvSpPr txBox="1"/>
            <p:nvPr/>
          </p:nvSpPr>
          <p:spPr>
            <a:xfrm>
              <a:off x="566786" y="4557616"/>
              <a:ext cx="3505200" cy="369332"/>
            </a:xfrm>
            <a:prstGeom prst="rect">
              <a:avLst/>
            </a:prstGeom>
            <a:noFill/>
          </p:spPr>
          <p:txBody>
            <a:bodyPr wrap="square" rtlCol="0">
              <a:spAutoFit/>
            </a:bodyPr>
            <a:lstStyle/>
            <a:p>
              <a:r>
                <a:rPr lang="en-US" dirty="0">
                  <a:solidFill>
                    <a:schemeClr val="accent1">
                      <a:lumMod val="75000"/>
                    </a:schemeClr>
                  </a:solidFill>
                </a:rPr>
                <a:t>Horizontal Form</a:t>
              </a:r>
            </a:p>
          </p:txBody>
        </p:sp>
        <p:pic>
          <p:nvPicPr>
            <p:cNvPr id="10" name="Picture 9">
              <a:extLst>
                <a:ext uri="{FF2B5EF4-FFF2-40B4-BE49-F238E27FC236}">
                  <a16:creationId xmlns:a16="http://schemas.microsoft.com/office/drawing/2014/main" id="{DC075DEB-B771-4DB0-8190-AB0D093A1751}"/>
                </a:ext>
              </a:extLst>
            </p:cNvPr>
            <p:cNvPicPr>
              <a:picLocks noChangeAspect="1"/>
            </p:cNvPicPr>
            <p:nvPr/>
          </p:nvPicPr>
          <p:blipFill>
            <a:blip r:embed="rId3"/>
            <a:stretch>
              <a:fillRect/>
            </a:stretch>
          </p:blipFill>
          <p:spPr>
            <a:xfrm>
              <a:off x="609600" y="3733800"/>
              <a:ext cx="4977539" cy="739905"/>
            </a:xfrm>
            <a:prstGeom prst="rect">
              <a:avLst/>
            </a:prstGeom>
            <a:ln>
              <a:solidFill>
                <a:schemeClr val="tx1"/>
              </a:solidFill>
            </a:ln>
          </p:spPr>
        </p:pic>
        <p:pic>
          <p:nvPicPr>
            <p:cNvPr id="11" name="Picture 10">
              <a:extLst>
                <a:ext uri="{FF2B5EF4-FFF2-40B4-BE49-F238E27FC236}">
                  <a16:creationId xmlns:a16="http://schemas.microsoft.com/office/drawing/2014/main" id="{D4A46404-A4BE-4754-B76F-83CDF85D0F4F}"/>
                </a:ext>
              </a:extLst>
            </p:cNvPr>
            <p:cNvPicPr>
              <a:picLocks noChangeAspect="1"/>
            </p:cNvPicPr>
            <p:nvPr/>
          </p:nvPicPr>
          <p:blipFill>
            <a:blip r:embed="rId4"/>
            <a:stretch>
              <a:fillRect/>
            </a:stretch>
          </p:blipFill>
          <p:spPr>
            <a:xfrm>
              <a:off x="609600" y="5010859"/>
              <a:ext cx="4635705" cy="1633897"/>
            </a:xfrm>
            <a:prstGeom prst="rect">
              <a:avLst/>
            </a:prstGeom>
            <a:ln>
              <a:solidFill>
                <a:schemeClr val="tx1"/>
              </a:solid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316647"/>
            <a:ext cx="9144000" cy="628650"/>
          </a:xfrm>
        </p:spPr>
        <p:txBody>
          <a:bodyPr>
            <a:normAutofit/>
          </a:bodyPr>
          <a:lstStyle/>
          <a:p>
            <a:r>
              <a:rPr lang="en-US" dirty="0"/>
              <a:t> Bootstrap Inline Forms</a:t>
            </a:r>
          </a:p>
        </p:txBody>
      </p:sp>
      <p:sp>
        <p:nvSpPr>
          <p:cNvPr id="5" name="TextBox 4"/>
          <p:cNvSpPr txBox="1"/>
          <p:nvPr/>
        </p:nvSpPr>
        <p:spPr>
          <a:xfrm>
            <a:off x="356461" y="1474194"/>
            <a:ext cx="4977539" cy="3477875"/>
          </a:xfrm>
          <a:prstGeom prst="rect">
            <a:avLst/>
          </a:prstGeom>
          <a:noFill/>
        </p:spPr>
        <p:txBody>
          <a:bodyPr wrap="square" rtlCol="0">
            <a:spAutoFit/>
          </a:bodyPr>
          <a:lstStyle/>
          <a:p>
            <a:r>
              <a:rPr lang="en-US" sz="2000" dirty="0">
                <a:latin typeface="Body Level 1"/>
              </a:rPr>
              <a:t>In an inline form, all of the elements are inline, left-aligned, and the labels are alongside.</a:t>
            </a:r>
          </a:p>
          <a:p>
            <a:r>
              <a:rPr lang="en-US" sz="2000" b="1" dirty="0">
                <a:latin typeface="Body Level 1"/>
              </a:rPr>
              <a:t>Note: This only applies to forms within viewports that are at least 768px wide!</a:t>
            </a:r>
          </a:p>
          <a:p>
            <a:endParaRPr lang="en-US" sz="2000" dirty="0">
              <a:latin typeface="Body Level 1"/>
            </a:endParaRPr>
          </a:p>
          <a:p>
            <a:r>
              <a:rPr lang="en-US" sz="2000" dirty="0">
                <a:latin typeface="Body Level 1"/>
              </a:rPr>
              <a:t>Additional rule for an inline form:</a:t>
            </a:r>
          </a:p>
          <a:p>
            <a:pPr marL="342900" indent="-342900">
              <a:buFont typeface="Arial" panose="020B0604020202020204" pitchFamily="34" charset="0"/>
              <a:buChar char="•"/>
            </a:pPr>
            <a:r>
              <a:rPr lang="en-US" sz="2000" dirty="0">
                <a:latin typeface="Body Level 1"/>
              </a:rPr>
              <a:t>Add class .form-inline to the &lt;form&gt; element</a:t>
            </a:r>
          </a:p>
          <a:p>
            <a:endParaRPr lang="en-US" sz="2000" dirty="0">
              <a:latin typeface="Body Level 1"/>
            </a:endParaRPr>
          </a:p>
          <a:p>
            <a:endParaRPr lang="en-US" sz="2000" dirty="0">
              <a:latin typeface="Body Level 1"/>
            </a:endParaRPr>
          </a:p>
        </p:txBody>
      </p:sp>
      <p:pic>
        <p:nvPicPr>
          <p:cNvPr id="3" name="Picture 2">
            <a:extLst>
              <a:ext uri="{FF2B5EF4-FFF2-40B4-BE49-F238E27FC236}">
                <a16:creationId xmlns:a16="http://schemas.microsoft.com/office/drawing/2014/main" id="{89360D0C-D2A5-4EFE-A424-6E8EEF0376F3}"/>
              </a:ext>
            </a:extLst>
          </p:cNvPr>
          <p:cNvPicPr>
            <a:picLocks noChangeAspect="1"/>
          </p:cNvPicPr>
          <p:nvPr/>
        </p:nvPicPr>
        <p:blipFill>
          <a:blip r:embed="rId2"/>
          <a:stretch>
            <a:fillRect/>
          </a:stretch>
        </p:blipFill>
        <p:spPr>
          <a:xfrm>
            <a:off x="4902630" y="2861626"/>
            <a:ext cx="4918077" cy="1663646"/>
          </a:xfrm>
          <a:prstGeom prst="rect">
            <a:avLst/>
          </a:prstGeom>
          <a:ln>
            <a:solidFill>
              <a:schemeClr val="tx1"/>
            </a:solidFill>
          </a:ln>
        </p:spPr>
      </p:pic>
      <p:pic>
        <p:nvPicPr>
          <p:cNvPr id="6" name="Picture 5">
            <a:extLst>
              <a:ext uri="{FF2B5EF4-FFF2-40B4-BE49-F238E27FC236}">
                <a16:creationId xmlns:a16="http://schemas.microsoft.com/office/drawing/2014/main" id="{8662B507-BD57-49BB-B2B5-C30831FA5B20}"/>
              </a:ext>
            </a:extLst>
          </p:cNvPr>
          <p:cNvPicPr>
            <a:picLocks noChangeAspect="1"/>
          </p:cNvPicPr>
          <p:nvPr/>
        </p:nvPicPr>
        <p:blipFill>
          <a:blip r:embed="rId3"/>
          <a:stretch>
            <a:fillRect/>
          </a:stretch>
        </p:blipFill>
        <p:spPr>
          <a:xfrm>
            <a:off x="4902630" y="1592824"/>
            <a:ext cx="4977539" cy="739905"/>
          </a:xfrm>
          <a:prstGeom prst="rect">
            <a:avLst/>
          </a:prstGeom>
          <a:ln>
            <a:solidFill>
              <a:schemeClr val="tx1"/>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304800"/>
            <a:ext cx="9144000" cy="628650"/>
          </a:xfrm>
        </p:spPr>
        <p:txBody>
          <a:bodyPr>
            <a:normAutofit/>
          </a:bodyPr>
          <a:lstStyle/>
          <a:p>
            <a:r>
              <a:rPr lang="en-US" dirty="0"/>
              <a:t>Bootstrap Horizontal Forms</a:t>
            </a:r>
          </a:p>
        </p:txBody>
      </p:sp>
      <p:sp>
        <p:nvSpPr>
          <p:cNvPr id="5" name="TextBox 4"/>
          <p:cNvSpPr txBox="1"/>
          <p:nvPr/>
        </p:nvSpPr>
        <p:spPr>
          <a:xfrm>
            <a:off x="266700" y="1371600"/>
            <a:ext cx="4800600" cy="4708981"/>
          </a:xfrm>
          <a:prstGeom prst="rect">
            <a:avLst/>
          </a:prstGeom>
          <a:noFill/>
        </p:spPr>
        <p:txBody>
          <a:bodyPr wrap="square" rtlCol="0">
            <a:spAutoFit/>
          </a:bodyPr>
          <a:lstStyle/>
          <a:p>
            <a:r>
              <a:rPr lang="en-US" sz="2000" dirty="0">
                <a:latin typeface="Body Level 1"/>
              </a:rPr>
              <a:t>A horizontal form means that the labels are aligned next to the input field (horizontal) on large and medium screens. On small screens (767px and below), it will transform to a vertical form (labels are placed on top of each input).</a:t>
            </a:r>
          </a:p>
          <a:p>
            <a:endParaRPr lang="en-US" sz="2000" dirty="0">
              <a:latin typeface="Body Level 1"/>
            </a:endParaRPr>
          </a:p>
          <a:p>
            <a:r>
              <a:rPr lang="en-US" sz="2000" dirty="0">
                <a:latin typeface="Body Level 1"/>
              </a:rPr>
              <a:t>Additional rules for a horizontal form:</a:t>
            </a:r>
          </a:p>
          <a:p>
            <a:pPr>
              <a:buFont typeface="Arial" pitchFamily="34" charset="0"/>
              <a:buChar char="•"/>
            </a:pPr>
            <a:r>
              <a:rPr lang="en-US" sz="2000" dirty="0">
                <a:latin typeface="Body Level 1"/>
              </a:rPr>
              <a:t>Add class .form-horizontal to the &lt;form&gt; element</a:t>
            </a:r>
          </a:p>
          <a:p>
            <a:pPr>
              <a:buFont typeface="Arial" pitchFamily="34" charset="0"/>
              <a:buChar char="•"/>
            </a:pPr>
            <a:r>
              <a:rPr lang="en-US" sz="2000" dirty="0">
                <a:latin typeface="Body Level 1"/>
              </a:rPr>
              <a:t>Add class .control-label to all &lt;label&gt; elements</a:t>
            </a:r>
          </a:p>
          <a:p>
            <a:pPr>
              <a:buFont typeface="Arial" pitchFamily="34" charset="0"/>
              <a:buChar char="•"/>
            </a:pPr>
            <a:endParaRPr lang="en-US" sz="2000" dirty="0">
              <a:latin typeface="Body Level 1"/>
            </a:endParaRPr>
          </a:p>
          <a:p>
            <a:endParaRPr lang="en-US" sz="2000" dirty="0">
              <a:latin typeface="Body Level 1"/>
            </a:endParaRPr>
          </a:p>
          <a:p>
            <a:endParaRPr lang="en-US" sz="2000" dirty="0">
              <a:latin typeface="Body Level 1"/>
            </a:endParaRPr>
          </a:p>
        </p:txBody>
      </p:sp>
      <p:pic>
        <p:nvPicPr>
          <p:cNvPr id="3" name="Picture 2">
            <a:extLst>
              <a:ext uri="{FF2B5EF4-FFF2-40B4-BE49-F238E27FC236}">
                <a16:creationId xmlns:a16="http://schemas.microsoft.com/office/drawing/2014/main" id="{7C48A20F-0D88-4FA8-9762-332A6BDC001D}"/>
              </a:ext>
            </a:extLst>
          </p:cNvPr>
          <p:cNvPicPr>
            <a:picLocks noChangeAspect="1"/>
          </p:cNvPicPr>
          <p:nvPr/>
        </p:nvPicPr>
        <p:blipFill>
          <a:blip r:embed="rId2"/>
          <a:stretch>
            <a:fillRect/>
          </a:stretch>
        </p:blipFill>
        <p:spPr>
          <a:xfrm>
            <a:off x="5025700" y="3569963"/>
            <a:ext cx="4844784" cy="1849116"/>
          </a:xfrm>
          <a:prstGeom prst="rect">
            <a:avLst/>
          </a:prstGeom>
          <a:ln>
            <a:solidFill>
              <a:schemeClr val="tx1"/>
            </a:solidFill>
          </a:ln>
        </p:spPr>
      </p:pic>
      <p:pic>
        <p:nvPicPr>
          <p:cNvPr id="4" name="Picture 3">
            <a:extLst>
              <a:ext uri="{FF2B5EF4-FFF2-40B4-BE49-F238E27FC236}">
                <a16:creationId xmlns:a16="http://schemas.microsoft.com/office/drawing/2014/main" id="{BDB9B729-574A-41A2-9B36-7A0C5EA90DC7}"/>
              </a:ext>
            </a:extLst>
          </p:cNvPr>
          <p:cNvPicPr>
            <a:picLocks noChangeAspect="1"/>
          </p:cNvPicPr>
          <p:nvPr/>
        </p:nvPicPr>
        <p:blipFill>
          <a:blip r:embed="rId3"/>
          <a:stretch>
            <a:fillRect/>
          </a:stretch>
        </p:blipFill>
        <p:spPr>
          <a:xfrm>
            <a:off x="5045344" y="1473792"/>
            <a:ext cx="4700871" cy="1656865"/>
          </a:xfrm>
          <a:prstGeom prst="rect">
            <a:avLst/>
          </a:prstGeom>
          <a:ln>
            <a:solidFill>
              <a:schemeClr val="tx1"/>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B8AE-7D9F-42D0-BCC3-88948EFB2A96}"/>
              </a:ext>
            </a:extLst>
          </p:cNvPr>
          <p:cNvSpPr>
            <a:spLocks noGrp="1"/>
          </p:cNvSpPr>
          <p:nvPr>
            <p:ph type="ctrTitle"/>
          </p:nvPr>
        </p:nvSpPr>
        <p:spPr/>
        <p:txBody>
          <a:bodyPr/>
          <a:lstStyle/>
          <a:p>
            <a:r>
              <a:rPr lang="en-US" dirty="0"/>
              <a:t>Enhance web page using bootstrap</a:t>
            </a:r>
          </a:p>
        </p:txBody>
      </p:sp>
      <p:sp>
        <p:nvSpPr>
          <p:cNvPr id="3" name="Subtitle 2">
            <a:extLst>
              <a:ext uri="{FF2B5EF4-FFF2-40B4-BE49-F238E27FC236}">
                <a16:creationId xmlns:a16="http://schemas.microsoft.com/office/drawing/2014/main" id="{0B64FB14-24F9-49D6-9E6A-E83B5ECB878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97108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98BBFF4-DC7B-4963-9BF1-1D8F0D79D377}"/>
              </a:ext>
            </a:extLst>
          </p:cNvPr>
          <p:cNvSpPr txBox="1">
            <a:spLocks/>
          </p:cNvSpPr>
          <p:nvPr/>
        </p:nvSpPr>
        <p:spPr>
          <a:xfrm>
            <a:off x="11733" y="152400"/>
            <a:ext cx="9278073" cy="702000"/>
          </a:xfrm>
          <a:prstGeom prst="rect">
            <a:avLst/>
          </a:prstGeom>
        </p:spPr>
        <p:txBody>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endParaRPr lang="en-US" dirty="0"/>
          </a:p>
          <a:p>
            <a:r>
              <a:rPr lang="en-US" dirty="0"/>
              <a:t>Make the web page responsive using bootstrap</a:t>
            </a:r>
            <a:endParaRPr lang="en-GB" dirty="0"/>
          </a:p>
        </p:txBody>
      </p:sp>
      <p:pic>
        <p:nvPicPr>
          <p:cNvPr id="3" name="Picture 2">
            <a:extLst>
              <a:ext uri="{FF2B5EF4-FFF2-40B4-BE49-F238E27FC236}">
                <a16:creationId xmlns:a16="http://schemas.microsoft.com/office/drawing/2014/main" id="{734655AA-9D4E-4D0C-B536-12E04386EB4B}"/>
              </a:ext>
            </a:extLst>
          </p:cNvPr>
          <p:cNvPicPr>
            <a:picLocks noChangeAspect="1"/>
          </p:cNvPicPr>
          <p:nvPr/>
        </p:nvPicPr>
        <p:blipFill>
          <a:blip r:embed="rId3"/>
          <a:stretch>
            <a:fillRect/>
          </a:stretch>
        </p:blipFill>
        <p:spPr>
          <a:xfrm>
            <a:off x="462340" y="1630965"/>
            <a:ext cx="8376860" cy="3626835"/>
          </a:xfrm>
          <a:prstGeom prst="rect">
            <a:avLst/>
          </a:prstGeom>
        </p:spPr>
      </p:pic>
    </p:spTree>
    <p:extLst>
      <p:ext uri="{BB962C8B-B14F-4D97-AF65-F5344CB8AC3E}">
        <p14:creationId xmlns:p14="http://schemas.microsoft.com/office/powerpoint/2010/main" val="3817702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Cheat Sheet references</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Cheat Sheet for bootstrap : bootstrap-3-cheat-sheet.pdf</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4210060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2588723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7951-DA00-4982-949C-1E6E25D64013}"/>
              </a:ext>
            </a:extLst>
          </p:cNvPr>
          <p:cNvSpPr>
            <a:spLocks noGrp="1"/>
          </p:cNvSpPr>
          <p:nvPr>
            <p:ph type="ctrTitle"/>
          </p:nvPr>
        </p:nvSpPr>
        <p:spPr/>
        <p:txBody>
          <a:bodyPr/>
          <a:lstStyle/>
          <a:p>
            <a:r>
              <a:rPr lang="en-US" dirty="0"/>
              <a:t>Appendix</a:t>
            </a:r>
          </a:p>
        </p:txBody>
      </p:sp>
      <p:sp>
        <p:nvSpPr>
          <p:cNvPr id="3" name="Subtitle 2">
            <a:extLst>
              <a:ext uri="{FF2B5EF4-FFF2-40B4-BE49-F238E27FC236}">
                <a16:creationId xmlns:a16="http://schemas.microsoft.com/office/drawing/2014/main" id="{D6CACD53-8801-4C18-91E7-37F682D8CCC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32178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5B7E-BD83-4AC1-BF25-2F5FBD59EFE1}"/>
              </a:ext>
            </a:extLst>
          </p:cNvPr>
          <p:cNvSpPr>
            <a:spLocks noGrp="1"/>
          </p:cNvSpPr>
          <p:nvPr>
            <p:ph type="title"/>
          </p:nvPr>
        </p:nvSpPr>
        <p:spPr/>
        <p:txBody>
          <a:bodyPr/>
          <a:lstStyle/>
          <a:p>
            <a:r>
              <a:rPr lang="en-US" dirty="0"/>
              <a:t>What is HTML</a:t>
            </a:r>
          </a:p>
        </p:txBody>
      </p:sp>
      <p:sp>
        <p:nvSpPr>
          <p:cNvPr id="3" name="Content Placeholder 2">
            <a:extLst>
              <a:ext uri="{FF2B5EF4-FFF2-40B4-BE49-F238E27FC236}">
                <a16:creationId xmlns:a16="http://schemas.microsoft.com/office/drawing/2014/main" id="{69EE7523-5966-4B35-A3E3-2D96440434FF}"/>
              </a:ext>
            </a:extLst>
          </p:cNvPr>
          <p:cNvSpPr>
            <a:spLocks noGrp="1"/>
          </p:cNvSpPr>
          <p:nvPr>
            <p:ph idx="1"/>
          </p:nvPr>
        </p:nvSpPr>
        <p:spPr/>
        <p:txBody>
          <a:bodyPr/>
          <a:lstStyle/>
          <a:p>
            <a:r>
              <a:rPr lang="en-US" dirty="0"/>
              <a:t>HTML is the standard markup language for creating Web pages.</a:t>
            </a:r>
          </a:p>
          <a:p>
            <a:r>
              <a:rPr lang="en-US" dirty="0"/>
              <a:t>HTML stands for Hyper Text Markup Language</a:t>
            </a:r>
          </a:p>
          <a:p>
            <a:r>
              <a:rPr lang="en-US" dirty="0"/>
              <a:t>HTML describes the structure of Web pages using markup</a:t>
            </a:r>
          </a:p>
          <a:p>
            <a:r>
              <a:rPr lang="en-US" dirty="0"/>
              <a:t>HTML elements are represented by tags</a:t>
            </a:r>
          </a:p>
          <a:p>
            <a:r>
              <a:rPr lang="en-US" dirty="0"/>
              <a:t>HTML tags label pieces of content such as "heading", "paragraph", "table", and so on</a:t>
            </a:r>
          </a:p>
          <a:p>
            <a:r>
              <a:rPr lang="en-US" dirty="0"/>
              <a:t>Browsers do not display the HTML tags, but use them to render the content of the page</a:t>
            </a:r>
          </a:p>
          <a:p>
            <a:pPr marL="0" indent="0">
              <a:buNone/>
            </a:pPr>
            <a:endParaRPr lang="en-US" dirty="0"/>
          </a:p>
        </p:txBody>
      </p:sp>
    </p:spTree>
    <p:extLst>
      <p:ext uri="{BB962C8B-B14F-4D97-AF65-F5344CB8AC3E}">
        <p14:creationId xmlns:p14="http://schemas.microsoft.com/office/powerpoint/2010/main" val="1765383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2A045-843D-47AE-8CA5-5CDD93D1A01D}"/>
              </a:ext>
            </a:extLst>
          </p:cNvPr>
          <p:cNvSpPr>
            <a:spLocks noGrp="1"/>
          </p:cNvSpPr>
          <p:nvPr>
            <p:ph type="title"/>
          </p:nvPr>
        </p:nvSpPr>
        <p:spPr/>
        <p:txBody>
          <a:bodyPr/>
          <a:lstStyle/>
          <a:p>
            <a:r>
              <a:rPr lang="en-US" dirty="0"/>
              <a:t>HTML Template </a:t>
            </a:r>
          </a:p>
        </p:txBody>
      </p:sp>
      <p:pic>
        <p:nvPicPr>
          <p:cNvPr id="4" name="Content Placeholder 3">
            <a:extLst>
              <a:ext uri="{FF2B5EF4-FFF2-40B4-BE49-F238E27FC236}">
                <a16:creationId xmlns:a16="http://schemas.microsoft.com/office/drawing/2014/main" id="{192AA6C0-E38F-4EB5-A894-456EDB687FFE}"/>
              </a:ext>
            </a:extLst>
          </p:cNvPr>
          <p:cNvPicPr>
            <a:picLocks noGrp="1" noChangeAspect="1"/>
          </p:cNvPicPr>
          <p:nvPr>
            <p:ph idx="1"/>
          </p:nvPr>
        </p:nvPicPr>
        <p:blipFill>
          <a:blip r:embed="rId2"/>
          <a:stretch>
            <a:fillRect/>
          </a:stretch>
        </p:blipFill>
        <p:spPr>
          <a:xfrm>
            <a:off x="324091" y="1459523"/>
            <a:ext cx="5036308" cy="3387164"/>
          </a:xfrm>
          <a:prstGeom prst="rect">
            <a:avLst/>
          </a:prstGeom>
          <a:ln>
            <a:solidFill>
              <a:schemeClr val="tx1"/>
            </a:solidFill>
          </a:ln>
        </p:spPr>
      </p:pic>
      <p:pic>
        <p:nvPicPr>
          <p:cNvPr id="5" name="Picture 4">
            <a:extLst>
              <a:ext uri="{FF2B5EF4-FFF2-40B4-BE49-F238E27FC236}">
                <a16:creationId xmlns:a16="http://schemas.microsoft.com/office/drawing/2014/main" id="{8D137D5F-21AD-4CAE-9BA0-30C408A9C936}"/>
              </a:ext>
            </a:extLst>
          </p:cNvPr>
          <p:cNvPicPr>
            <a:picLocks noChangeAspect="1"/>
          </p:cNvPicPr>
          <p:nvPr/>
        </p:nvPicPr>
        <p:blipFill>
          <a:blip r:embed="rId3"/>
          <a:stretch>
            <a:fillRect/>
          </a:stretch>
        </p:blipFill>
        <p:spPr>
          <a:xfrm>
            <a:off x="6248400" y="1477108"/>
            <a:ext cx="2935988" cy="3018692"/>
          </a:xfrm>
          <a:prstGeom prst="rect">
            <a:avLst/>
          </a:prstGeom>
          <a:ln>
            <a:solidFill>
              <a:schemeClr val="tx1"/>
            </a:solidFill>
          </a:ln>
        </p:spPr>
      </p:pic>
    </p:spTree>
    <p:extLst>
      <p:ext uri="{BB962C8B-B14F-4D97-AF65-F5344CB8AC3E}">
        <p14:creationId xmlns:p14="http://schemas.microsoft.com/office/powerpoint/2010/main" val="3313483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7224" y="1487080"/>
            <a:ext cx="7864366" cy="1447800"/>
          </a:xfrm>
          <a:prstGeom prst="rect">
            <a:avLst/>
          </a:prstGeom>
          <a:ln>
            <a:solidFill>
              <a:schemeClr val="bg1"/>
            </a:solidFill>
          </a:ln>
        </p:spPr>
        <p:txBody>
          <a:bodyPr>
            <a:noAutofit/>
          </a:bodyPr>
          <a:lstStyle/>
          <a:p>
            <a:pPr lvl="1"/>
            <a:r>
              <a:rPr lang="en-US" sz="2000" dirty="0">
                <a:latin typeface="Body Level 1"/>
              </a:rPr>
              <a:t>Block level elements : &lt;div&gt;, &lt;p&gt;,&lt;h1&gt; to &lt;h6&gt;, &lt;form&gt;, &lt;table&gt; etc.</a:t>
            </a:r>
          </a:p>
          <a:p>
            <a:pPr lvl="1"/>
            <a:r>
              <a:rPr lang="en-US" sz="2000" dirty="0">
                <a:latin typeface="Body Level 1"/>
              </a:rPr>
              <a:t>Inline elements: &lt;</a:t>
            </a:r>
            <a:r>
              <a:rPr lang="en-US" sz="2000" dirty="0" err="1">
                <a:latin typeface="Body Level 1"/>
              </a:rPr>
              <a:t>img</a:t>
            </a:r>
            <a:r>
              <a:rPr lang="en-US" sz="2000" dirty="0">
                <a:latin typeface="Body Level 1"/>
              </a:rPr>
              <a:t>&gt;, &lt;a&gt;, &lt;span&gt;, &lt;input&gt; etc.</a:t>
            </a:r>
          </a:p>
          <a:p>
            <a:pPr lvl="1">
              <a:buNone/>
            </a:pPr>
            <a:endParaRPr lang="en-US" sz="2000" dirty="0">
              <a:latin typeface="Body Level 1"/>
            </a:endParaRPr>
          </a:p>
          <a:p>
            <a:pPr>
              <a:buNone/>
            </a:pPr>
            <a:br>
              <a:rPr lang="en-US" sz="2000" dirty="0"/>
            </a:br>
            <a:endParaRPr lang="en-US" sz="2000" dirty="0"/>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32</a:t>
            </a:fld>
            <a:endParaRPr lang="en-US"/>
          </a:p>
        </p:txBody>
      </p:sp>
      <p:sp>
        <p:nvSpPr>
          <p:cNvPr id="6" name="Title 1">
            <a:extLst>
              <a:ext uri="{FF2B5EF4-FFF2-40B4-BE49-F238E27FC236}">
                <a16:creationId xmlns:a16="http://schemas.microsoft.com/office/drawing/2014/main" id="{605355AB-4638-4AA2-9BF5-70D59798A025}"/>
              </a:ext>
            </a:extLst>
          </p:cNvPr>
          <p:cNvSpPr>
            <a:spLocks noGrp="1"/>
          </p:cNvSpPr>
          <p:nvPr>
            <p:ph type="title"/>
          </p:nvPr>
        </p:nvSpPr>
        <p:spPr>
          <a:xfrm>
            <a:off x="324091" y="199800"/>
            <a:ext cx="9259747" cy="702000"/>
          </a:xfrm>
        </p:spPr>
        <p:txBody>
          <a:bodyPr/>
          <a:lstStyle/>
          <a:p>
            <a:r>
              <a:rPr lang="en-US" dirty="0"/>
              <a:t>Main categories of elements</a:t>
            </a:r>
            <a:endParaRPr lang="en-GB" dirty="0"/>
          </a:p>
        </p:txBody>
      </p:sp>
    </p:spTree>
    <p:extLst>
      <p:ext uri="{BB962C8B-B14F-4D97-AF65-F5344CB8AC3E}">
        <p14:creationId xmlns:p14="http://schemas.microsoft.com/office/powerpoint/2010/main" val="170723373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33</a:t>
            </a:fld>
            <a:endParaRPr lang="en-US"/>
          </a:p>
        </p:txBody>
      </p:sp>
      <p:sp>
        <p:nvSpPr>
          <p:cNvPr id="6" name="Content Placeholder 2"/>
          <p:cNvSpPr>
            <a:spLocks noGrp="1"/>
          </p:cNvSpPr>
          <p:nvPr>
            <p:ph idx="4294967295"/>
          </p:nvPr>
        </p:nvSpPr>
        <p:spPr>
          <a:xfrm>
            <a:off x="250747" y="1650845"/>
            <a:ext cx="4676777" cy="3458560"/>
          </a:xfrm>
          <a:prstGeom prst="rect">
            <a:avLst/>
          </a:prstGeom>
          <a:ln>
            <a:solidFill>
              <a:schemeClr val="bg1"/>
            </a:solidFill>
          </a:ln>
        </p:spPr>
        <p:txBody>
          <a:bodyPr>
            <a:normAutofit/>
          </a:bodyPr>
          <a:lstStyle/>
          <a:p>
            <a:r>
              <a:rPr lang="en-US" sz="2000" dirty="0"/>
              <a:t>Attributes are something which give the additional information of the element. Ex. name, width, height, alt, title, id, class etc.</a:t>
            </a:r>
          </a:p>
          <a:p>
            <a:r>
              <a:rPr lang="en-US" sz="2000" dirty="0"/>
              <a:t>The id and class attributes: id attribute is used to uniquely identify any element and class is to create a group of elements.</a:t>
            </a:r>
          </a:p>
          <a:p>
            <a:r>
              <a:rPr lang="en-US" sz="2000" dirty="0"/>
              <a:t>Unique id attribute can be refereed to single person in a class but class attribute is going to be same for all persons belonging to the class.</a:t>
            </a:r>
          </a:p>
          <a:p>
            <a:pPr marL="0" indent="0">
              <a:buNone/>
            </a:pPr>
            <a:endParaRPr lang="en-US" sz="2000" dirty="0"/>
          </a:p>
        </p:txBody>
      </p:sp>
      <p:sp>
        <p:nvSpPr>
          <p:cNvPr id="7" name="Title 1">
            <a:extLst>
              <a:ext uri="{FF2B5EF4-FFF2-40B4-BE49-F238E27FC236}">
                <a16:creationId xmlns:a16="http://schemas.microsoft.com/office/drawing/2014/main" id="{1867B5CA-E807-4B35-868C-D41758C555FC}"/>
              </a:ext>
            </a:extLst>
          </p:cNvPr>
          <p:cNvSpPr>
            <a:spLocks noGrp="1"/>
          </p:cNvSpPr>
          <p:nvPr>
            <p:ph type="title"/>
          </p:nvPr>
        </p:nvSpPr>
        <p:spPr>
          <a:xfrm>
            <a:off x="324091" y="199800"/>
            <a:ext cx="9259747" cy="702000"/>
          </a:xfrm>
        </p:spPr>
        <p:txBody>
          <a:bodyPr/>
          <a:lstStyle/>
          <a:p>
            <a:r>
              <a:rPr lang="en-US" dirty="0"/>
              <a:t>Attributes</a:t>
            </a:r>
            <a:endParaRPr lang="en-GB" dirty="0"/>
          </a:p>
        </p:txBody>
      </p:sp>
      <p:pic>
        <p:nvPicPr>
          <p:cNvPr id="2" name="Picture 1">
            <a:extLst>
              <a:ext uri="{FF2B5EF4-FFF2-40B4-BE49-F238E27FC236}">
                <a16:creationId xmlns:a16="http://schemas.microsoft.com/office/drawing/2014/main" id="{EE1022EE-3793-480A-BFCF-6FD35F67DABE}"/>
              </a:ext>
            </a:extLst>
          </p:cNvPr>
          <p:cNvPicPr>
            <a:picLocks noChangeAspect="1"/>
          </p:cNvPicPr>
          <p:nvPr/>
        </p:nvPicPr>
        <p:blipFill>
          <a:blip r:embed="rId2"/>
          <a:stretch>
            <a:fillRect/>
          </a:stretch>
        </p:blipFill>
        <p:spPr>
          <a:xfrm>
            <a:off x="4927524" y="1675658"/>
            <a:ext cx="4978476" cy="548859"/>
          </a:xfrm>
          <a:prstGeom prst="rect">
            <a:avLst/>
          </a:prstGeom>
          <a:ln>
            <a:solidFill>
              <a:schemeClr val="tx1"/>
            </a:solidFill>
          </a:ln>
        </p:spPr>
      </p:pic>
      <p:pic>
        <p:nvPicPr>
          <p:cNvPr id="3" name="Picture 2">
            <a:extLst>
              <a:ext uri="{FF2B5EF4-FFF2-40B4-BE49-F238E27FC236}">
                <a16:creationId xmlns:a16="http://schemas.microsoft.com/office/drawing/2014/main" id="{3FE6B541-0DFB-4AEF-9254-71FEBC395E30}"/>
              </a:ext>
            </a:extLst>
          </p:cNvPr>
          <p:cNvPicPr>
            <a:picLocks noChangeAspect="1"/>
          </p:cNvPicPr>
          <p:nvPr/>
        </p:nvPicPr>
        <p:blipFill>
          <a:blip r:embed="rId3"/>
          <a:stretch>
            <a:fillRect/>
          </a:stretch>
        </p:blipFill>
        <p:spPr>
          <a:xfrm>
            <a:off x="4915900" y="2717614"/>
            <a:ext cx="4978476" cy="662511"/>
          </a:xfrm>
          <a:prstGeom prst="rect">
            <a:avLst/>
          </a:prstGeom>
          <a:ln>
            <a:solidFill>
              <a:schemeClr val="tx1"/>
            </a:solidFill>
          </a:ln>
        </p:spPr>
      </p:pic>
    </p:spTree>
    <p:extLst>
      <p:ext uri="{BB962C8B-B14F-4D97-AF65-F5344CB8AC3E}">
        <p14:creationId xmlns:p14="http://schemas.microsoft.com/office/powerpoint/2010/main" val="217917764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34</a:t>
            </a:fld>
            <a:endParaRPr lang="en-US"/>
          </a:p>
        </p:txBody>
      </p:sp>
      <p:sp>
        <p:nvSpPr>
          <p:cNvPr id="6" name="Content Placeholder 2"/>
          <p:cNvSpPr>
            <a:spLocks noGrp="1"/>
          </p:cNvSpPr>
          <p:nvPr>
            <p:ph idx="4294967295"/>
          </p:nvPr>
        </p:nvSpPr>
        <p:spPr>
          <a:xfrm>
            <a:off x="762000" y="1312480"/>
            <a:ext cx="5257800" cy="4233041"/>
          </a:xfrm>
          <a:prstGeom prst="rect">
            <a:avLst/>
          </a:prstGeom>
          <a:ln>
            <a:solidFill>
              <a:schemeClr val="bg1"/>
            </a:solidFill>
          </a:ln>
        </p:spPr>
        <p:txBody>
          <a:bodyPr>
            <a:normAutofit/>
          </a:bodyPr>
          <a:lstStyle/>
          <a:p>
            <a:r>
              <a:rPr lang="en-US" sz="2000" dirty="0"/>
              <a:t>Empty elements  (&lt;</a:t>
            </a:r>
            <a:r>
              <a:rPr lang="en-US" sz="2000" dirty="0" err="1"/>
              <a:t>br</a:t>
            </a:r>
            <a:r>
              <a:rPr lang="en-US" sz="2000" dirty="0"/>
              <a:t>/&gt;)</a:t>
            </a:r>
          </a:p>
          <a:p>
            <a:r>
              <a:rPr lang="en-US" sz="2000" dirty="0"/>
              <a:t>Nesting elements ( &lt;p&gt; This is my &lt;b&gt;element&lt;/b&gt;)</a:t>
            </a:r>
          </a:p>
          <a:p>
            <a:r>
              <a:rPr lang="en-US" sz="2000" dirty="0"/>
              <a:t>Headings (h1 to h6)   </a:t>
            </a:r>
          </a:p>
          <a:p>
            <a:r>
              <a:rPr lang="en-US" sz="2000" dirty="0"/>
              <a:t>Paragraphs (&lt;p&gt;)</a:t>
            </a:r>
          </a:p>
          <a:p>
            <a:r>
              <a:rPr lang="en-US" sz="2000" dirty="0"/>
              <a:t>Lists  ( ordered (&lt;</a:t>
            </a:r>
            <a:r>
              <a:rPr lang="en-US" sz="2000" dirty="0" err="1"/>
              <a:t>ol</a:t>
            </a:r>
            <a:r>
              <a:rPr lang="en-US" sz="2000" dirty="0"/>
              <a:t>&gt;) and unordered (&lt;ul&gt;) )</a:t>
            </a:r>
          </a:p>
          <a:p>
            <a:r>
              <a:rPr lang="en-US" sz="2000" dirty="0"/>
              <a:t>Tables (&lt;table&gt;, &lt;tr&gt;, &lt;td&gt;, &lt;</a:t>
            </a:r>
            <a:r>
              <a:rPr lang="en-US" sz="2000" dirty="0" err="1"/>
              <a:t>th</a:t>
            </a:r>
            <a:r>
              <a:rPr lang="en-US" sz="2000" dirty="0"/>
              <a:t>&gt;)</a:t>
            </a:r>
          </a:p>
          <a:p>
            <a:r>
              <a:rPr lang="en-US" sz="2000" dirty="0"/>
              <a:t>Images (&lt;</a:t>
            </a:r>
            <a:r>
              <a:rPr lang="en-US" sz="2000" dirty="0" err="1"/>
              <a:t>img</a:t>
            </a:r>
            <a:r>
              <a:rPr lang="en-US" sz="2000" dirty="0"/>
              <a:t>&gt;)</a:t>
            </a:r>
          </a:p>
          <a:p>
            <a:r>
              <a:rPr lang="en-US" sz="2000" dirty="0"/>
              <a:t>Links (&lt;a&gt;)</a:t>
            </a:r>
          </a:p>
          <a:p>
            <a:r>
              <a:rPr lang="en-US" sz="2000" dirty="0"/>
              <a:t>Text </a:t>
            </a:r>
            <a:r>
              <a:rPr lang="en-US" sz="2000" dirty="0" err="1"/>
              <a:t>formating</a:t>
            </a:r>
            <a:r>
              <a:rPr lang="en-US" sz="2000" dirty="0"/>
              <a:t> (&lt;</a:t>
            </a:r>
            <a:r>
              <a:rPr lang="en-US" sz="2000" dirty="0" err="1"/>
              <a:t>i</a:t>
            </a:r>
            <a:r>
              <a:rPr lang="en-US" sz="2000" dirty="0"/>
              <a:t>&gt;,&lt;u&gt;,&lt;b&gt;,&lt;strong&gt;,&lt;</a:t>
            </a:r>
            <a:r>
              <a:rPr lang="en-US" sz="2000" dirty="0" err="1"/>
              <a:t>em</a:t>
            </a:r>
            <a:r>
              <a:rPr lang="en-US" sz="2000" dirty="0"/>
              <a:t>&gt;)</a:t>
            </a:r>
          </a:p>
        </p:txBody>
      </p:sp>
      <p:sp>
        <p:nvSpPr>
          <p:cNvPr id="7" name="Title 1">
            <a:extLst>
              <a:ext uri="{FF2B5EF4-FFF2-40B4-BE49-F238E27FC236}">
                <a16:creationId xmlns:a16="http://schemas.microsoft.com/office/drawing/2014/main" id="{1867B5CA-E807-4B35-868C-D41758C555FC}"/>
              </a:ext>
            </a:extLst>
          </p:cNvPr>
          <p:cNvSpPr>
            <a:spLocks noGrp="1"/>
          </p:cNvSpPr>
          <p:nvPr>
            <p:ph type="title"/>
          </p:nvPr>
        </p:nvSpPr>
        <p:spPr>
          <a:xfrm>
            <a:off x="324091" y="199800"/>
            <a:ext cx="9259747" cy="702000"/>
          </a:xfrm>
        </p:spPr>
        <p:txBody>
          <a:bodyPr/>
          <a:lstStyle/>
          <a:p>
            <a:r>
              <a:rPr lang="en-US" dirty="0"/>
              <a:t>Types of elements</a:t>
            </a:r>
            <a:endParaRPr lang="en-GB" dirty="0"/>
          </a:p>
        </p:txBody>
      </p:sp>
    </p:spTree>
    <p:extLst>
      <p:ext uri="{BB962C8B-B14F-4D97-AF65-F5344CB8AC3E}">
        <p14:creationId xmlns:p14="http://schemas.microsoft.com/office/powerpoint/2010/main" val="134687265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AD9F-6D1E-45AF-9904-28294A4E6BEA}"/>
              </a:ext>
            </a:extLst>
          </p:cNvPr>
          <p:cNvSpPr>
            <a:spLocks noGrp="1"/>
          </p:cNvSpPr>
          <p:nvPr>
            <p:ph type="title"/>
          </p:nvPr>
        </p:nvSpPr>
        <p:spPr/>
        <p:txBody>
          <a:bodyPr/>
          <a:lstStyle/>
          <a:p>
            <a:r>
              <a:rPr lang="en-US" dirty="0"/>
              <a:t>List of elements contained inside a form</a:t>
            </a:r>
          </a:p>
        </p:txBody>
      </p:sp>
      <p:sp>
        <p:nvSpPr>
          <p:cNvPr id="3" name="Content Placeholder 2">
            <a:extLst>
              <a:ext uri="{FF2B5EF4-FFF2-40B4-BE49-F238E27FC236}">
                <a16:creationId xmlns:a16="http://schemas.microsoft.com/office/drawing/2014/main" id="{C680F6AA-2FFA-409B-9A65-8DCD04D5FB3B}"/>
              </a:ext>
            </a:extLst>
          </p:cNvPr>
          <p:cNvSpPr>
            <a:spLocks noGrp="1"/>
          </p:cNvSpPr>
          <p:nvPr>
            <p:ph idx="1"/>
          </p:nvPr>
        </p:nvSpPr>
        <p:spPr>
          <a:xfrm>
            <a:off x="324091" y="1447800"/>
            <a:ext cx="3257309" cy="4493611"/>
          </a:xfrm>
        </p:spPr>
        <p:txBody>
          <a:bodyPr/>
          <a:lstStyle/>
          <a:p>
            <a:r>
              <a:rPr lang="en-US" dirty="0"/>
              <a:t>Text Box  (Single row)</a:t>
            </a:r>
          </a:p>
          <a:p>
            <a:r>
              <a:rPr lang="en-US" dirty="0"/>
              <a:t>Radio Button (Single selection)</a:t>
            </a:r>
          </a:p>
          <a:p>
            <a:r>
              <a:rPr lang="en-US" dirty="0"/>
              <a:t>Check Box (Multiple selection)</a:t>
            </a:r>
          </a:p>
          <a:p>
            <a:r>
              <a:rPr lang="en-US" dirty="0"/>
              <a:t>Drop down (Multiple selection)</a:t>
            </a:r>
          </a:p>
          <a:p>
            <a:r>
              <a:rPr lang="en-US" dirty="0"/>
              <a:t>Text area (Multiple rows)</a:t>
            </a:r>
          </a:p>
          <a:p>
            <a:r>
              <a:rPr lang="en-US" dirty="0"/>
              <a:t>Click button</a:t>
            </a:r>
          </a:p>
          <a:p>
            <a:r>
              <a:rPr lang="en-US" dirty="0"/>
              <a:t>Submit button</a:t>
            </a:r>
          </a:p>
          <a:p>
            <a:r>
              <a:rPr lang="en-US" dirty="0"/>
              <a:t>Reset button</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822915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2C0836-B437-4E56-BFB0-9639942CDDE0}"/>
              </a:ext>
            </a:extLst>
          </p:cNvPr>
          <p:cNvSpPr txBox="1">
            <a:spLocks/>
          </p:cNvSpPr>
          <p:nvPr/>
        </p:nvSpPr>
        <p:spPr>
          <a:xfrm>
            <a:off x="324091" y="199800"/>
            <a:ext cx="9259747" cy="702000"/>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r>
              <a:rPr lang="en-US" dirty="0"/>
              <a:t>Form elements</a:t>
            </a:r>
            <a:endParaRPr lang="en-GB" dirty="0"/>
          </a:p>
        </p:txBody>
      </p:sp>
      <p:graphicFrame>
        <p:nvGraphicFramePr>
          <p:cNvPr id="11" name="Table 10">
            <a:extLst>
              <a:ext uri="{FF2B5EF4-FFF2-40B4-BE49-F238E27FC236}">
                <a16:creationId xmlns:a16="http://schemas.microsoft.com/office/drawing/2014/main" id="{E027889C-E91C-4679-A794-6B61301DFE22}"/>
              </a:ext>
            </a:extLst>
          </p:cNvPr>
          <p:cNvGraphicFramePr>
            <a:graphicFrameLocks noGrp="1"/>
          </p:cNvGraphicFramePr>
          <p:nvPr>
            <p:extLst>
              <p:ext uri="{D42A27DB-BD31-4B8C-83A1-F6EECF244321}">
                <p14:modId xmlns:p14="http://schemas.microsoft.com/office/powerpoint/2010/main" val="3615523516"/>
              </p:ext>
            </p:extLst>
          </p:nvPr>
        </p:nvGraphicFramePr>
        <p:xfrm>
          <a:off x="457200" y="1524000"/>
          <a:ext cx="8229600" cy="4248525"/>
        </p:xfrm>
        <a:graphic>
          <a:graphicData uri="http://schemas.openxmlformats.org/drawingml/2006/table">
            <a:tbl>
              <a:tblPr firstRow="1" bandRow="1">
                <a:tableStyleId>{5C22544A-7EE6-4342-B048-85BDC9FD1C3A}</a:tableStyleId>
              </a:tblPr>
              <a:tblGrid>
                <a:gridCol w="1337311">
                  <a:extLst>
                    <a:ext uri="{9D8B030D-6E8A-4147-A177-3AD203B41FA5}">
                      <a16:colId xmlns:a16="http://schemas.microsoft.com/office/drawing/2014/main" val="20000"/>
                    </a:ext>
                  </a:extLst>
                </a:gridCol>
                <a:gridCol w="2263140">
                  <a:extLst>
                    <a:ext uri="{9D8B030D-6E8A-4147-A177-3AD203B41FA5}">
                      <a16:colId xmlns:a16="http://schemas.microsoft.com/office/drawing/2014/main" val="20001"/>
                    </a:ext>
                  </a:extLst>
                </a:gridCol>
                <a:gridCol w="4629149">
                  <a:extLst>
                    <a:ext uri="{9D8B030D-6E8A-4147-A177-3AD203B41FA5}">
                      <a16:colId xmlns:a16="http://schemas.microsoft.com/office/drawing/2014/main" val="20002"/>
                    </a:ext>
                  </a:extLst>
                </a:gridCol>
              </a:tblGrid>
              <a:tr h="525887">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52182">
                <a:tc>
                  <a:txBody>
                    <a:bodyPr/>
                    <a:lstStyle/>
                    <a:p>
                      <a:r>
                        <a:rPr lang="en-US" sz="2000" dirty="0">
                          <a:solidFill>
                            <a:schemeClr val="tx1"/>
                          </a:solidFill>
                          <a:latin typeface="Body Level 1"/>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Text Box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&lt;input type="text" name="name" value=“John"/&gt;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88831">
                <a:tc>
                  <a:txBody>
                    <a:bodyPr/>
                    <a:lstStyle/>
                    <a:p>
                      <a:r>
                        <a:rPr lang="en-US" sz="2000" dirty="0">
                          <a:solidFill>
                            <a:schemeClr val="tx1"/>
                          </a:solidFill>
                          <a:latin typeface="Body Level 1"/>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Radio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&lt;input type="radio" name="gender" value="M"&gt;Male&lt;/input&gt;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88831">
                <a:tc>
                  <a:txBody>
                    <a:bodyPr/>
                    <a:lstStyle/>
                    <a:p>
                      <a:r>
                        <a:rPr lang="en-US" sz="2000" dirty="0">
                          <a:solidFill>
                            <a:schemeClr val="tx1"/>
                          </a:solidFill>
                          <a:latin typeface="Body Level 1"/>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CheckBox</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&lt;input type="checkbox" name="technology" value="Tech1"&gt;HTML&lt;/input&gt;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2182">
                <a:tc>
                  <a:txBody>
                    <a:bodyPr/>
                    <a:lstStyle/>
                    <a:p>
                      <a:r>
                        <a:rPr lang="en-US" sz="2000" dirty="0">
                          <a:solidFill>
                            <a:schemeClr val="tx1"/>
                          </a:solidFill>
                          <a:latin typeface="Body Level 1"/>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textarea</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a:t>
                      </a:r>
                      <a:r>
                        <a:rPr lang="en-US" sz="2000" dirty="0" err="1">
                          <a:solidFill>
                            <a:schemeClr val="tx1"/>
                          </a:solidFill>
                          <a:latin typeface="Body Level 1"/>
                        </a:rPr>
                        <a:t>textarea</a:t>
                      </a:r>
                      <a:r>
                        <a:rPr lang="en-US" sz="2000" dirty="0">
                          <a:solidFill>
                            <a:schemeClr val="tx1"/>
                          </a:solidFill>
                          <a:latin typeface="Body Level 1"/>
                        </a:rPr>
                        <a:t>   rows=“2” cols=“2” name="address"&gt;&lt;/</a:t>
                      </a:r>
                      <a:r>
                        <a:rPr lang="en-US" sz="2000" dirty="0" err="1">
                          <a:solidFill>
                            <a:schemeClr val="tx1"/>
                          </a:solidFill>
                          <a:latin typeface="Body Level 1"/>
                        </a:rPr>
                        <a:t>textarea</a:t>
                      </a:r>
                      <a:r>
                        <a:rPr lang="en-US" sz="2000" dirty="0">
                          <a:solidFill>
                            <a:schemeClr val="tx1"/>
                          </a:solidFill>
                          <a:latin typeface="Body Level 1"/>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25887">
                <a:tc>
                  <a:txBody>
                    <a:bodyPr/>
                    <a:lstStyle/>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514983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1D27546-3336-4A45-A9A6-E0CF836DA262}"/>
              </a:ext>
            </a:extLst>
          </p:cNvPr>
          <p:cNvSpPr txBox="1">
            <a:spLocks noGrp="1"/>
          </p:cNvSpPr>
          <p:nvPr>
            <p:ph type="title"/>
          </p:nvPr>
        </p:nvSpPr>
        <p:spPr>
          <a:xfrm>
            <a:off x="323850" y="200025"/>
            <a:ext cx="9259888" cy="701675"/>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r>
              <a:rPr lang="en-US" dirty="0"/>
              <a:t>Form elements </a:t>
            </a:r>
            <a:r>
              <a:rPr lang="en-US" dirty="0" err="1"/>
              <a:t>cont</a:t>
            </a:r>
            <a:r>
              <a:rPr lang="en-US" dirty="0"/>
              <a:t>…</a:t>
            </a:r>
            <a:endParaRPr lang="en-GB" dirty="0"/>
          </a:p>
        </p:txBody>
      </p:sp>
      <p:graphicFrame>
        <p:nvGraphicFramePr>
          <p:cNvPr id="8" name="Table 7">
            <a:extLst>
              <a:ext uri="{FF2B5EF4-FFF2-40B4-BE49-F238E27FC236}">
                <a16:creationId xmlns:a16="http://schemas.microsoft.com/office/drawing/2014/main" id="{FE1240B2-51EB-4418-8C31-DB11D0C3A066}"/>
              </a:ext>
            </a:extLst>
          </p:cNvPr>
          <p:cNvGraphicFramePr>
            <a:graphicFrameLocks noGrp="1"/>
          </p:cNvGraphicFramePr>
          <p:nvPr>
            <p:extLst>
              <p:ext uri="{D42A27DB-BD31-4B8C-83A1-F6EECF244321}">
                <p14:modId xmlns:p14="http://schemas.microsoft.com/office/powerpoint/2010/main" val="4286474865"/>
              </p:ext>
            </p:extLst>
          </p:nvPr>
        </p:nvGraphicFramePr>
        <p:xfrm>
          <a:off x="533400" y="1600199"/>
          <a:ext cx="9050338" cy="4308304"/>
        </p:xfrm>
        <a:graphic>
          <a:graphicData uri="http://schemas.openxmlformats.org/drawingml/2006/table">
            <a:tbl>
              <a:tblPr firstRow="1" bandRow="1">
                <a:tableStyleId>{5C22544A-7EE6-4342-B048-85BDC9FD1C3A}</a:tableStyleId>
              </a:tblPr>
              <a:tblGrid>
                <a:gridCol w="1470681">
                  <a:extLst>
                    <a:ext uri="{9D8B030D-6E8A-4147-A177-3AD203B41FA5}">
                      <a16:colId xmlns:a16="http://schemas.microsoft.com/office/drawing/2014/main" val="20000"/>
                    </a:ext>
                  </a:extLst>
                </a:gridCol>
                <a:gridCol w="2488843">
                  <a:extLst>
                    <a:ext uri="{9D8B030D-6E8A-4147-A177-3AD203B41FA5}">
                      <a16:colId xmlns:a16="http://schemas.microsoft.com/office/drawing/2014/main" val="20001"/>
                    </a:ext>
                  </a:extLst>
                </a:gridCol>
                <a:gridCol w="5090814">
                  <a:extLst>
                    <a:ext uri="{9D8B030D-6E8A-4147-A177-3AD203B41FA5}">
                      <a16:colId xmlns:a16="http://schemas.microsoft.com/office/drawing/2014/main" val="20002"/>
                    </a:ext>
                  </a:extLst>
                </a:gridCol>
              </a:tblGrid>
              <a:tr h="495481">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80920">
                <a:tc>
                  <a:txBody>
                    <a:bodyPr/>
                    <a:lstStyle/>
                    <a:p>
                      <a:r>
                        <a:rPr lang="en-US" sz="2000" dirty="0">
                          <a:solidFill>
                            <a:schemeClr val="tx1"/>
                          </a:solidFill>
                          <a:latin typeface="Body Level 1"/>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Drop Down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&lt;select name="cities"&gt;</a:t>
                      </a:r>
                    </a:p>
                    <a:p>
                      <a:r>
                        <a:rPr lang="en-US" sz="2000" dirty="0">
                          <a:solidFill>
                            <a:schemeClr val="tx1"/>
                          </a:solidFill>
                          <a:latin typeface="Body Level 1"/>
                        </a:rPr>
                        <a:t>   &lt;option value="BGL"&gt;Bangalore&lt;/option&gt;</a:t>
                      </a:r>
                    </a:p>
                    <a:p>
                      <a:r>
                        <a:rPr lang="en-US" sz="2000" dirty="0">
                          <a:solidFill>
                            <a:schemeClr val="tx1"/>
                          </a:solidFill>
                          <a:latin typeface="Body Level 1"/>
                        </a:rPr>
                        <a:t>    &lt;option value="MYR"&gt;Mysore&lt;/option</a:t>
                      </a:r>
                    </a:p>
                    <a:p>
                      <a:r>
                        <a:rPr lang="en-US" sz="2000" dirty="0">
                          <a:solidFill>
                            <a:schemeClr val="tx1"/>
                          </a:solidFill>
                          <a:latin typeface="Body Level 1"/>
                        </a:rPr>
                        <a:t>&lt;/select&gt;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43223">
                <a:tc>
                  <a:txBody>
                    <a:bodyPr/>
                    <a:lstStyle/>
                    <a:p>
                      <a:r>
                        <a:rPr lang="en-US" sz="2000" dirty="0">
                          <a:solidFill>
                            <a:schemeClr val="tx1"/>
                          </a:solidFill>
                          <a:latin typeface="Body Level 1"/>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Click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&lt;input type="button" value="Click Me"/&gt;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43223">
                <a:tc>
                  <a:txBody>
                    <a:bodyPr/>
                    <a:lstStyle/>
                    <a:p>
                      <a:r>
                        <a:rPr lang="en-US" sz="2000" dirty="0">
                          <a:solidFill>
                            <a:schemeClr val="tx1"/>
                          </a:solidFill>
                          <a:latin typeface="Body Level 1"/>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Submit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&lt;input type="Submit"/&gt;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20256">
                <a:tc>
                  <a:txBody>
                    <a:bodyPr/>
                    <a:lstStyle/>
                    <a:p>
                      <a:r>
                        <a:rPr lang="en-US" sz="2000" dirty="0">
                          <a:solidFill>
                            <a:schemeClr val="tx1"/>
                          </a:solidFill>
                          <a:latin typeface="Body Level 1"/>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Reset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&lt;input type=“Reset"/&gt;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95481">
                <a:tc>
                  <a:txBody>
                    <a:bodyPr/>
                    <a:lstStyle/>
                    <a:p>
                      <a:endParaRPr lang="en-US" sz="200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21147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DC7C3A2-974A-4763-A030-DF3579AAE35D}"/>
              </a:ext>
            </a:extLst>
          </p:cNvPr>
          <p:cNvSpPr txBox="1">
            <a:spLocks noGrp="1"/>
          </p:cNvSpPr>
          <p:nvPr>
            <p:ph type="title"/>
          </p:nvPr>
        </p:nvSpPr>
        <p:spPr>
          <a:xfrm>
            <a:off x="323850" y="200025"/>
            <a:ext cx="9259888" cy="701675"/>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r>
              <a:rPr lang="en-US" dirty="0"/>
              <a:t>Form attributes</a:t>
            </a:r>
            <a:endParaRPr lang="en-GB" dirty="0"/>
          </a:p>
        </p:txBody>
      </p:sp>
      <p:graphicFrame>
        <p:nvGraphicFramePr>
          <p:cNvPr id="8" name="Table 7">
            <a:extLst>
              <a:ext uri="{FF2B5EF4-FFF2-40B4-BE49-F238E27FC236}">
                <a16:creationId xmlns:a16="http://schemas.microsoft.com/office/drawing/2014/main" id="{5D5051B3-820F-40F0-A7A5-973B33066344}"/>
              </a:ext>
            </a:extLst>
          </p:cNvPr>
          <p:cNvGraphicFramePr>
            <a:graphicFrameLocks noGrp="1"/>
          </p:cNvGraphicFramePr>
          <p:nvPr>
            <p:extLst>
              <p:ext uri="{D42A27DB-BD31-4B8C-83A1-F6EECF244321}">
                <p14:modId xmlns:p14="http://schemas.microsoft.com/office/powerpoint/2010/main" val="2416860538"/>
              </p:ext>
            </p:extLst>
          </p:nvPr>
        </p:nvGraphicFramePr>
        <p:xfrm>
          <a:off x="533400" y="1474523"/>
          <a:ext cx="8229600" cy="4609993"/>
        </p:xfrm>
        <a:graphic>
          <a:graphicData uri="http://schemas.openxmlformats.org/drawingml/2006/table">
            <a:tbl>
              <a:tblPr firstRow="1" bandRow="1">
                <a:tableStyleId>{5C22544A-7EE6-4342-B048-85BDC9FD1C3A}</a:tableStyleId>
              </a:tblPr>
              <a:tblGrid>
                <a:gridCol w="1337311">
                  <a:extLst>
                    <a:ext uri="{9D8B030D-6E8A-4147-A177-3AD203B41FA5}">
                      <a16:colId xmlns:a16="http://schemas.microsoft.com/office/drawing/2014/main" val="20000"/>
                    </a:ext>
                  </a:extLst>
                </a:gridCol>
                <a:gridCol w="2263140">
                  <a:extLst>
                    <a:ext uri="{9D8B030D-6E8A-4147-A177-3AD203B41FA5}">
                      <a16:colId xmlns:a16="http://schemas.microsoft.com/office/drawing/2014/main" val="20001"/>
                    </a:ext>
                  </a:extLst>
                </a:gridCol>
                <a:gridCol w="4629149">
                  <a:extLst>
                    <a:ext uri="{9D8B030D-6E8A-4147-A177-3AD203B41FA5}">
                      <a16:colId xmlns:a16="http://schemas.microsoft.com/office/drawing/2014/main" val="20002"/>
                    </a:ext>
                  </a:extLst>
                </a:gridCol>
              </a:tblGrid>
              <a:tr h="525887">
                <a:tc>
                  <a:txBody>
                    <a:bodyPr/>
                    <a:lstStyle/>
                    <a:p>
                      <a:pPr marL="0" algn="l" defTabSz="914400" rtl="0" eaLnBrk="1" latinLnBrk="0" hangingPunct="1"/>
                      <a:r>
                        <a:rPr lang="en-US" sz="2000" b="1" kern="1200" dirty="0">
                          <a:solidFill>
                            <a:schemeClr val="tx1"/>
                          </a:solidFill>
                          <a:latin typeface="Body Level 1"/>
                          <a:ea typeface="+mn-ea"/>
                          <a:cs typeface="+mn-cs"/>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52182">
                <a:tc>
                  <a:txBody>
                    <a:bodyPr/>
                    <a:lstStyle/>
                    <a:p>
                      <a:r>
                        <a:rPr lang="en-US" sz="2000" dirty="0">
                          <a:solidFill>
                            <a:schemeClr val="tx1"/>
                          </a:solidFill>
                          <a:latin typeface="Body Level 1"/>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Changes</a:t>
                      </a:r>
                      <a:r>
                        <a:rPr lang="en-US" sz="2000" baseline="0" dirty="0">
                          <a:solidFill>
                            <a:schemeClr val="tx1"/>
                          </a:solidFill>
                          <a:latin typeface="Body Level 1"/>
                        </a:rPr>
                        <a:t> the width of textboxes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88831">
                <a:tc>
                  <a:txBody>
                    <a:bodyPr/>
                    <a:lstStyle/>
                    <a:p>
                      <a:r>
                        <a:rPr lang="en-US" sz="2000" dirty="0">
                          <a:solidFill>
                            <a:schemeClr val="tx1"/>
                          </a:solidFill>
                          <a:latin typeface="Body Level 1"/>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maxlength</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maximum</a:t>
                      </a:r>
                      <a:r>
                        <a:rPr lang="en-US" sz="2000" baseline="0" dirty="0">
                          <a:solidFill>
                            <a:schemeClr val="tx1"/>
                          </a:solidFill>
                          <a:latin typeface="Body Level 1"/>
                        </a:rPr>
                        <a:t> no of chars entered in textbox</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88831">
                <a:tc>
                  <a:txBody>
                    <a:bodyPr/>
                    <a:lstStyle/>
                    <a:p>
                      <a:r>
                        <a:rPr lang="en-US" sz="2000" dirty="0">
                          <a:solidFill>
                            <a:schemeClr val="tx1"/>
                          </a:solidFill>
                          <a:latin typeface="Body Level 1"/>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minlength</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minimum </a:t>
                      </a:r>
                      <a:r>
                        <a:rPr lang="en-US" sz="2000" baseline="0" dirty="0">
                          <a:solidFill>
                            <a:schemeClr val="tx1"/>
                          </a:solidFill>
                          <a:latin typeface="Body Level 1"/>
                        </a:rPr>
                        <a:t>no of chars entered in textbox</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2182">
                <a:tc>
                  <a:txBody>
                    <a:bodyPr/>
                    <a:lstStyle/>
                    <a:p>
                      <a:r>
                        <a:rPr lang="en-US" sz="2000" dirty="0">
                          <a:solidFill>
                            <a:schemeClr val="tx1"/>
                          </a:solidFill>
                          <a:latin typeface="Body Level 1"/>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placeholder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display placeholder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25887">
                <a:tc>
                  <a:txBody>
                    <a:bodyPr/>
                    <a:lstStyle/>
                    <a:p>
                      <a:r>
                        <a:rPr lang="en-US" sz="2000" dirty="0">
                          <a:solidFill>
                            <a:schemeClr val="tx1"/>
                          </a:solidFill>
                          <a:latin typeface="Body Level 1"/>
                        </a:rPr>
                        <a:t>5</a:t>
                      </a:r>
                    </a:p>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checked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makes checkboxes or radio buttons to be checked</a:t>
                      </a:r>
                      <a:r>
                        <a:rPr lang="en-US" sz="2000" baseline="0" dirty="0">
                          <a:solidFill>
                            <a:schemeClr val="tx1"/>
                          </a:solidFill>
                          <a:latin typeface="Body Level 1"/>
                        </a:rPr>
                        <a:t> by default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25887">
                <a:tc>
                  <a:txBody>
                    <a:bodyPr/>
                    <a:lstStyle/>
                    <a:p>
                      <a:r>
                        <a:rPr lang="en-US" sz="2000" dirty="0">
                          <a:solidFill>
                            <a:schemeClr val="tx1"/>
                          </a:solidFill>
                          <a:latin typeface="Body Level 1"/>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selected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makes one option</a:t>
                      </a:r>
                      <a:r>
                        <a:rPr lang="en-US" sz="2000" baseline="0" dirty="0">
                          <a:solidFill>
                            <a:schemeClr val="tx1"/>
                          </a:solidFill>
                          <a:latin typeface="Body Level 1"/>
                        </a:rPr>
                        <a:t> of dropdown selected by default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6373645"/>
                  </a:ext>
                </a:extLst>
              </a:tr>
            </a:tbl>
          </a:graphicData>
        </a:graphic>
      </p:graphicFrame>
    </p:spTree>
    <p:extLst>
      <p:ext uri="{BB962C8B-B14F-4D97-AF65-F5344CB8AC3E}">
        <p14:creationId xmlns:p14="http://schemas.microsoft.com/office/powerpoint/2010/main" val="2442961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13DCC49-CC55-4182-8164-454CBE51E06C}"/>
              </a:ext>
            </a:extLst>
          </p:cNvPr>
          <p:cNvSpPr txBox="1">
            <a:spLocks noGrp="1"/>
          </p:cNvSpPr>
          <p:nvPr>
            <p:ph type="title"/>
          </p:nvPr>
        </p:nvSpPr>
        <p:spPr>
          <a:xfrm>
            <a:off x="323850" y="200025"/>
            <a:ext cx="9259888" cy="701675"/>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r>
              <a:rPr lang="en-US" dirty="0"/>
              <a:t>Form attributes </a:t>
            </a:r>
            <a:r>
              <a:rPr lang="en-US" dirty="0" err="1"/>
              <a:t>cont</a:t>
            </a:r>
            <a:r>
              <a:rPr lang="en-US" dirty="0"/>
              <a:t>…</a:t>
            </a:r>
            <a:endParaRPr lang="en-GB" dirty="0"/>
          </a:p>
        </p:txBody>
      </p:sp>
      <p:graphicFrame>
        <p:nvGraphicFramePr>
          <p:cNvPr id="8" name="Table 7">
            <a:extLst>
              <a:ext uri="{FF2B5EF4-FFF2-40B4-BE49-F238E27FC236}">
                <a16:creationId xmlns:a16="http://schemas.microsoft.com/office/drawing/2014/main" id="{37EC2E56-41AB-4A05-8C34-774B61C3D18B}"/>
              </a:ext>
            </a:extLst>
          </p:cNvPr>
          <p:cNvGraphicFramePr>
            <a:graphicFrameLocks noGrp="1"/>
          </p:cNvGraphicFramePr>
          <p:nvPr>
            <p:extLst>
              <p:ext uri="{D42A27DB-BD31-4B8C-83A1-F6EECF244321}">
                <p14:modId xmlns:p14="http://schemas.microsoft.com/office/powerpoint/2010/main" val="906070249"/>
              </p:ext>
            </p:extLst>
          </p:nvPr>
        </p:nvGraphicFramePr>
        <p:xfrm>
          <a:off x="360013" y="1219200"/>
          <a:ext cx="9088787" cy="4433571"/>
        </p:xfrm>
        <a:graphic>
          <a:graphicData uri="http://schemas.openxmlformats.org/drawingml/2006/table">
            <a:tbl>
              <a:tblPr firstRow="1" bandRow="1">
                <a:tableStyleId>{5C22544A-7EE6-4342-B048-85BDC9FD1C3A}</a:tableStyleId>
              </a:tblPr>
              <a:tblGrid>
                <a:gridCol w="1010792">
                  <a:extLst>
                    <a:ext uri="{9D8B030D-6E8A-4147-A177-3AD203B41FA5}">
                      <a16:colId xmlns:a16="http://schemas.microsoft.com/office/drawing/2014/main" val="20000"/>
                    </a:ext>
                  </a:extLst>
                </a:gridCol>
                <a:gridCol w="2652476">
                  <a:extLst>
                    <a:ext uri="{9D8B030D-6E8A-4147-A177-3AD203B41FA5}">
                      <a16:colId xmlns:a16="http://schemas.microsoft.com/office/drawing/2014/main" val="20001"/>
                    </a:ext>
                  </a:extLst>
                </a:gridCol>
                <a:gridCol w="5425519">
                  <a:extLst>
                    <a:ext uri="{9D8B030D-6E8A-4147-A177-3AD203B41FA5}">
                      <a16:colId xmlns:a16="http://schemas.microsoft.com/office/drawing/2014/main" val="20002"/>
                    </a:ext>
                  </a:extLst>
                </a:gridCol>
              </a:tblGrid>
              <a:tr h="425873">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64727">
                <a:tc>
                  <a:txBody>
                    <a:bodyPr/>
                    <a:lstStyle/>
                    <a:p>
                      <a:r>
                        <a:rPr lang="en-US" sz="2000" dirty="0">
                          <a:solidFill>
                            <a:schemeClr val="tx1"/>
                          </a:solidFill>
                          <a:latin typeface="Body Level 1"/>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multiple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allows</a:t>
                      </a:r>
                      <a:r>
                        <a:rPr lang="en-US" sz="2000" baseline="0" dirty="0">
                          <a:solidFill>
                            <a:schemeClr val="tx1"/>
                          </a:solidFill>
                          <a:latin typeface="Body Level 1"/>
                        </a:rPr>
                        <a:t> to select multiple values from drop down</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09600">
                <a:tc>
                  <a:txBody>
                    <a:bodyPr/>
                    <a:lstStyle/>
                    <a:p>
                      <a:r>
                        <a:rPr lang="en-US" sz="2000" dirty="0">
                          <a:solidFill>
                            <a:schemeClr val="tx1"/>
                          </a:solidFill>
                          <a:latin typeface="Body Level 1"/>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readonly</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data is going to be processed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9550"/>
                  </a:ext>
                </a:extLst>
              </a:tr>
              <a:tr h="638811">
                <a:tc>
                  <a:txBody>
                    <a:bodyPr/>
                    <a:lstStyle/>
                    <a:p>
                      <a:r>
                        <a:rPr lang="en-US" sz="2000" dirty="0">
                          <a:solidFill>
                            <a:schemeClr val="tx1"/>
                          </a:solidFill>
                          <a:latin typeface="Body Level 1"/>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disabled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data is not going to be processed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9651">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 </a:t>
                      </a:r>
                      <a:r>
                        <a:rPr kumimoji="0" lang="en-US" b="0" i="0" kern="1200" dirty="0">
                          <a:solidFill>
                            <a:schemeClr val="dk1"/>
                          </a:solidFill>
                          <a:latin typeface="+mn-lt"/>
                          <a:ea typeface="+mn-ea"/>
                          <a:cs typeface="+mn-cs"/>
                        </a:rPr>
                        <a:t>defines the action to be performed when the form is submitted and If the action attribute is omitted, the action is set to the current page.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994439"/>
                  </a:ext>
                </a:extLst>
              </a:tr>
              <a:tr h="638811">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b="0" i="0" kern="1200" dirty="0">
                          <a:solidFill>
                            <a:schemeClr val="dk1"/>
                          </a:solidFill>
                          <a:latin typeface="+mn-lt"/>
                          <a:ea typeface="+mn-ea"/>
                          <a:cs typeface="+mn-cs"/>
                        </a:rPr>
                        <a:t>specifies the HTTP method (</a:t>
                      </a:r>
                      <a:r>
                        <a:rPr kumimoji="0" lang="en-US" b="1" i="0" kern="1200" dirty="0">
                          <a:solidFill>
                            <a:schemeClr val="dk1"/>
                          </a:solidFill>
                          <a:latin typeface="+mn-lt"/>
                          <a:ea typeface="+mn-ea"/>
                          <a:cs typeface="+mn-cs"/>
                        </a:rPr>
                        <a:t>GET </a:t>
                      </a:r>
                      <a:r>
                        <a:rPr kumimoji="0" lang="en-US" b="0" i="0" kern="1200" dirty="0">
                          <a:solidFill>
                            <a:schemeClr val="dk1"/>
                          </a:solidFill>
                          <a:latin typeface="+mn-lt"/>
                          <a:ea typeface="+mn-ea"/>
                          <a:cs typeface="+mn-cs"/>
                        </a:rPr>
                        <a:t>or </a:t>
                      </a:r>
                      <a:r>
                        <a:rPr kumimoji="0" lang="en-US" b="1" i="0" kern="1200" dirty="0">
                          <a:solidFill>
                            <a:schemeClr val="dk1"/>
                          </a:solidFill>
                          <a:latin typeface="+mn-lt"/>
                          <a:ea typeface="+mn-ea"/>
                          <a:cs typeface="+mn-cs"/>
                        </a:rPr>
                        <a:t>POST</a:t>
                      </a:r>
                      <a:r>
                        <a:rPr kumimoji="0" lang="en-US" b="0" i="0" kern="1200" dirty="0">
                          <a:solidFill>
                            <a:schemeClr val="dk1"/>
                          </a:solidFill>
                          <a:latin typeface="+mn-lt"/>
                          <a:ea typeface="+mn-ea"/>
                          <a:cs typeface="+mn-cs"/>
                        </a:rPr>
                        <a:t>) to be used when submitting the form data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12793"/>
                  </a:ext>
                </a:extLst>
              </a:tr>
              <a:tr h="638811">
                <a:tc>
                  <a:txBody>
                    <a:bodyPr/>
                    <a:lstStyle/>
                    <a:p>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 </a:t>
                      </a:r>
                      <a:r>
                        <a:rPr kumimoji="0" lang="en-US" b="0" i="0" kern="1200" dirty="0">
                          <a:solidFill>
                            <a:schemeClr val="dk1"/>
                          </a:solidFill>
                          <a:latin typeface="+mn-lt"/>
                          <a:ea typeface="+mn-ea"/>
                          <a:cs typeface="+mn-cs"/>
                        </a:rPr>
                        <a:t> specifies if the submitted result will open in a new browser tab</a:t>
                      </a:r>
                      <a:r>
                        <a:rPr kumimoji="0" lang="en-US" b="0" i="0" kern="1200" baseline="0" dirty="0">
                          <a:solidFill>
                            <a:schemeClr val="dk1"/>
                          </a:solidFill>
                          <a:latin typeface="+mn-lt"/>
                          <a:ea typeface="+mn-ea"/>
                          <a:cs typeface="+mn-cs"/>
                        </a:rPr>
                        <a:t> </a:t>
                      </a:r>
                      <a:r>
                        <a:rPr kumimoji="0" lang="en-US" b="0" i="0" kern="1200" dirty="0">
                          <a:solidFill>
                            <a:schemeClr val="dk1"/>
                          </a:solidFill>
                          <a:latin typeface="+mn-lt"/>
                          <a:ea typeface="+mn-ea"/>
                          <a:cs typeface="+mn-cs"/>
                        </a:rPr>
                        <a:t>or in the current window.</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3971018"/>
                  </a:ext>
                </a:extLst>
              </a:tr>
            </a:tbl>
          </a:graphicData>
        </a:graphic>
      </p:graphicFrame>
    </p:spTree>
    <p:extLst>
      <p:ext uri="{BB962C8B-B14F-4D97-AF65-F5344CB8AC3E}">
        <p14:creationId xmlns:p14="http://schemas.microsoft.com/office/powerpoint/2010/main" val="8370508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27D356-BD34-46C5-9BD2-9FC5488E08F4}"/>
              </a:ext>
            </a:extLst>
          </p:cNvPr>
          <p:cNvSpPr>
            <a:spLocks noGrp="1"/>
          </p:cNvSpPr>
          <p:nvPr>
            <p:ph type="title"/>
          </p:nvPr>
        </p:nvSpPr>
        <p:spPr/>
        <p:txBody>
          <a:bodyPr/>
          <a:lstStyle/>
          <a:p>
            <a:r>
              <a:rPr lang="en-US" dirty="0"/>
              <a:t>get vs post</a:t>
            </a:r>
          </a:p>
        </p:txBody>
      </p:sp>
      <p:graphicFrame>
        <p:nvGraphicFramePr>
          <p:cNvPr id="12" name="Content Placeholder 11">
            <a:extLst>
              <a:ext uri="{FF2B5EF4-FFF2-40B4-BE49-F238E27FC236}">
                <a16:creationId xmlns:a16="http://schemas.microsoft.com/office/drawing/2014/main" id="{5A8D4B2A-4895-4C0C-AC7F-1B0C2C34062B}"/>
              </a:ext>
            </a:extLst>
          </p:cNvPr>
          <p:cNvGraphicFramePr>
            <a:graphicFrameLocks noGrp="1"/>
          </p:cNvGraphicFramePr>
          <p:nvPr>
            <p:ph idx="1"/>
            <p:extLst>
              <p:ext uri="{D42A27DB-BD31-4B8C-83A1-F6EECF244321}">
                <p14:modId xmlns:p14="http://schemas.microsoft.com/office/powerpoint/2010/main" val="1703083843"/>
              </p:ext>
            </p:extLst>
          </p:nvPr>
        </p:nvGraphicFramePr>
        <p:xfrm>
          <a:off x="324091" y="1143000"/>
          <a:ext cx="9126638" cy="5233465"/>
        </p:xfrm>
        <a:graphic>
          <a:graphicData uri="http://schemas.openxmlformats.org/drawingml/2006/table">
            <a:tbl>
              <a:tblPr firstRow="1" bandRow="1">
                <a:tableStyleId>{5C22544A-7EE6-4342-B048-85BDC9FD1C3A}</a:tableStyleId>
              </a:tblPr>
              <a:tblGrid>
                <a:gridCol w="4563319">
                  <a:extLst>
                    <a:ext uri="{9D8B030D-6E8A-4147-A177-3AD203B41FA5}">
                      <a16:colId xmlns:a16="http://schemas.microsoft.com/office/drawing/2014/main" val="3595283377"/>
                    </a:ext>
                  </a:extLst>
                </a:gridCol>
                <a:gridCol w="4563319">
                  <a:extLst>
                    <a:ext uri="{9D8B030D-6E8A-4147-A177-3AD203B41FA5}">
                      <a16:colId xmlns:a16="http://schemas.microsoft.com/office/drawing/2014/main" val="3034060479"/>
                    </a:ext>
                  </a:extLst>
                </a:gridCol>
              </a:tblGrid>
              <a:tr h="387145">
                <a:tc>
                  <a:txBody>
                    <a:bodyPr/>
                    <a:lstStyle/>
                    <a:p>
                      <a:r>
                        <a:rPr lang="en-US" sz="1800" dirty="0">
                          <a:solidFill>
                            <a:schemeClr val="tx1"/>
                          </a:solidFill>
                          <a:latin typeface="Body Level 1"/>
                        </a:rPr>
                        <a:t>                              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Body Level 1"/>
                        </a:rPr>
                        <a:t>                            Post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3472586"/>
                  </a:ext>
                </a:extLst>
              </a:tr>
              <a:tr h="1138617">
                <a:tc>
                  <a:txBody>
                    <a:bodyPr/>
                    <a:lstStyle/>
                    <a:p>
                      <a:r>
                        <a:rPr kumimoji="0" lang="en-US" sz="1800" b="0" i="0" kern="1200" dirty="0">
                          <a:solidFill>
                            <a:schemeClr val="tx1"/>
                          </a:solidFill>
                          <a:latin typeface="Body Level 1"/>
                          <a:ea typeface="+mn-ea"/>
                          <a:cs typeface="+mn-cs"/>
                        </a:rPr>
                        <a:t>Appends form-data into the URL in name/value pairs</a:t>
                      </a:r>
                    </a:p>
                    <a:p>
                      <a:endParaRPr kumimoji="0" lang="en-US" sz="1800" b="0" i="0" kern="1200" dirty="0">
                        <a:solidFill>
                          <a:schemeClr val="tx1"/>
                        </a:solidFill>
                        <a:latin typeface="Body Level 1"/>
                        <a:ea typeface="+mn-ea"/>
                        <a:cs typeface="+mn-cs"/>
                      </a:endParaRPr>
                    </a:p>
                    <a:p>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800" b="0" i="0" kern="1200" dirty="0">
                          <a:solidFill>
                            <a:schemeClr val="tx1"/>
                          </a:solidFill>
                          <a:latin typeface="Body Level 1"/>
                          <a:ea typeface="+mn-ea"/>
                          <a:cs typeface="+mn-cs"/>
                        </a:rPr>
                        <a:t>The POST method does not display the submitted form data in the page address field.</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1631885"/>
                  </a:ext>
                </a:extLst>
              </a:tr>
              <a:tr h="1138617">
                <a:tc>
                  <a:txBody>
                    <a:bodyPr/>
                    <a:lstStyle/>
                    <a:p>
                      <a:r>
                        <a:rPr kumimoji="0" lang="en-US" sz="1800" b="0" i="0" kern="1200" dirty="0">
                          <a:solidFill>
                            <a:schemeClr val="tx1"/>
                          </a:solidFill>
                          <a:latin typeface="Body Level 1"/>
                          <a:ea typeface="+mn-ea"/>
                          <a:cs typeface="+mn-cs"/>
                        </a:rPr>
                        <a:t>The length of a URL is limited (about 3000 characters)</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800" b="0" i="0" kern="1200" dirty="0">
                          <a:solidFill>
                            <a:schemeClr val="tx1"/>
                          </a:solidFill>
                          <a:latin typeface="Body Level 1"/>
                          <a:ea typeface="+mn-ea"/>
                          <a:cs typeface="+mn-cs"/>
                        </a:rPr>
                        <a:t>POST has no size limitations, and can be used to send large amounts of data.</a:t>
                      </a:r>
                    </a:p>
                    <a:p>
                      <a:endParaRPr kumimoji="0" lang="en-US" sz="1800" b="0" i="0" kern="1200" dirty="0">
                        <a:solidFill>
                          <a:schemeClr val="tx1"/>
                        </a:solidFill>
                        <a:latin typeface="Body Level 1"/>
                        <a:ea typeface="+mn-ea"/>
                        <a:cs typeface="+mn-cs"/>
                      </a:endParaRPr>
                    </a:p>
                    <a:p>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5467687"/>
                  </a:ext>
                </a:extLst>
              </a:tr>
              <a:tr h="875859">
                <a:tc>
                  <a:txBody>
                    <a:bodyPr/>
                    <a:lstStyle/>
                    <a:p>
                      <a:r>
                        <a:rPr kumimoji="0" lang="en-US" sz="1800" b="0" i="0" kern="1200" dirty="0">
                          <a:solidFill>
                            <a:schemeClr val="tx1"/>
                          </a:solidFill>
                          <a:latin typeface="Body Level 1"/>
                          <a:ea typeface="+mn-ea"/>
                          <a:cs typeface="+mn-cs"/>
                        </a:rPr>
                        <a:t>Never use GET to send sensitive data! (will be visible in the URL)</a:t>
                      </a:r>
                    </a:p>
                    <a:p>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800" b="0" i="0" kern="1200" dirty="0">
                          <a:solidFill>
                            <a:schemeClr val="tx1"/>
                          </a:solidFill>
                          <a:latin typeface="Body Level 1"/>
                          <a:ea typeface="+mn-ea"/>
                          <a:cs typeface="+mn-cs"/>
                        </a:rPr>
                        <a:t>Always use POST if the form data contains sensitive or personal information.</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5637041"/>
                  </a:ext>
                </a:extLst>
              </a:tr>
              <a:tr h="875859">
                <a:tc>
                  <a:txBody>
                    <a:bodyPr/>
                    <a:lstStyle/>
                    <a:p>
                      <a:r>
                        <a:rPr kumimoji="0" lang="en-US" sz="1800" b="0" i="0" kern="1200" dirty="0">
                          <a:solidFill>
                            <a:schemeClr val="tx1"/>
                          </a:solidFill>
                          <a:latin typeface="Body Level 1"/>
                          <a:ea typeface="+mn-ea"/>
                          <a:cs typeface="+mn-cs"/>
                        </a:rPr>
                        <a:t>Useful for form submissions where a user want to bookmark the result</a:t>
                      </a:r>
                    </a:p>
                    <a:p>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800" b="0" i="0" kern="1200" dirty="0">
                          <a:solidFill>
                            <a:schemeClr val="tx1"/>
                          </a:solidFill>
                          <a:latin typeface="Body Level 1"/>
                          <a:ea typeface="+mn-ea"/>
                          <a:cs typeface="+mn-cs"/>
                        </a:rPr>
                        <a:t>Form submissions with POST cannot be bookmarked</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3670888"/>
                  </a:ext>
                </a:extLst>
              </a:tr>
              <a:tr h="613101">
                <a:tc>
                  <a:txBody>
                    <a:bodyPr/>
                    <a:lstStyle/>
                    <a:p>
                      <a:r>
                        <a:rPr kumimoji="0" lang="en-US" sz="1800" b="0" i="0" kern="1200" dirty="0">
                          <a:solidFill>
                            <a:schemeClr val="tx1"/>
                          </a:solidFill>
                          <a:latin typeface="Body Level 1"/>
                          <a:ea typeface="+mn-ea"/>
                          <a:cs typeface="+mn-cs"/>
                        </a:rPr>
                        <a:t>GET is better for non-secure data, like query strings in Google</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800" b="0" i="0" kern="1200" dirty="0">
                          <a:solidFill>
                            <a:schemeClr val="tx1"/>
                          </a:solidFill>
                          <a:latin typeface="Body Level 1"/>
                          <a:ea typeface="+mn-ea"/>
                          <a:cs typeface="+mn-cs"/>
                        </a:rPr>
                        <a:t>POST</a:t>
                      </a:r>
                      <a:r>
                        <a:rPr kumimoji="0" lang="en-US" sz="1800" b="0" i="0" kern="1200" baseline="0" dirty="0">
                          <a:solidFill>
                            <a:schemeClr val="tx1"/>
                          </a:solidFill>
                          <a:latin typeface="Body Level 1"/>
                          <a:ea typeface="+mn-ea"/>
                          <a:cs typeface="+mn-cs"/>
                        </a:rPr>
                        <a:t> </a:t>
                      </a:r>
                      <a:r>
                        <a:rPr kumimoji="0" lang="en-US" sz="1800" b="0" i="0" kern="1200" dirty="0">
                          <a:solidFill>
                            <a:schemeClr val="tx1"/>
                          </a:solidFill>
                          <a:latin typeface="Body Level 1"/>
                          <a:ea typeface="+mn-ea"/>
                          <a:cs typeface="+mn-cs"/>
                        </a:rPr>
                        <a:t>is better for secure</a:t>
                      </a:r>
                      <a:r>
                        <a:rPr kumimoji="0" lang="en-US" sz="1800" b="0" i="0" kern="1200" baseline="0" dirty="0">
                          <a:solidFill>
                            <a:schemeClr val="tx1"/>
                          </a:solidFill>
                          <a:latin typeface="Body Level 1"/>
                          <a:ea typeface="+mn-ea"/>
                          <a:cs typeface="+mn-cs"/>
                        </a:rPr>
                        <a:t> </a:t>
                      </a:r>
                      <a:r>
                        <a:rPr kumimoji="0" lang="en-US" sz="1800" b="0" i="0" kern="1200" dirty="0">
                          <a:solidFill>
                            <a:schemeClr val="tx1"/>
                          </a:solidFill>
                          <a:latin typeface="Body Level 1"/>
                          <a:ea typeface="+mn-ea"/>
                          <a:cs typeface="+mn-cs"/>
                        </a:rPr>
                        <a:t>data, like password</a:t>
                      </a:r>
                      <a:endParaRPr lang="en-US" sz="18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9646525"/>
                  </a:ext>
                </a:extLst>
              </a:tr>
            </a:tbl>
          </a:graphicData>
        </a:graphic>
      </p:graphicFrame>
    </p:spTree>
    <p:extLst>
      <p:ext uri="{BB962C8B-B14F-4D97-AF65-F5344CB8AC3E}">
        <p14:creationId xmlns:p14="http://schemas.microsoft.com/office/powerpoint/2010/main" val="33833226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9220200" cy="609600"/>
          </a:xfrm>
        </p:spPr>
        <p:txBody>
          <a:bodyPr>
            <a:normAutofit/>
          </a:bodyPr>
          <a:lstStyle/>
          <a:p>
            <a:r>
              <a:rPr lang="en-US" dirty="0"/>
              <a:t>	HTML5  Forms – Input Types</a:t>
            </a:r>
          </a:p>
        </p:txBody>
      </p:sp>
      <p:graphicFrame>
        <p:nvGraphicFramePr>
          <p:cNvPr id="4" name="Table 3">
            <a:extLst>
              <a:ext uri="{FF2B5EF4-FFF2-40B4-BE49-F238E27FC236}">
                <a16:creationId xmlns:a16="http://schemas.microsoft.com/office/drawing/2014/main" id="{846D2E94-AFDF-4C05-A094-F0B6E1FD7801}"/>
              </a:ext>
            </a:extLst>
          </p:cNvPr>
          <p:cNvGraphicFramePr>
            <a:graphicFrameLocks noGrp="1"/>
          </p:cNvGraphicFramePr>
          <p:nvPr>
            <p:extLst>
              <p:ext uri="{D42A27DB-BD31-4B8C-83A1-F6EECF244321}">
                <p14:modId xmlns:p14="http://schemas.microsoft.com/office/powerpoint/2010/main" val="78836100"/>
              </p:ext>
            </p:extLst>
          </p:nvPr>
        </p:nvGraphicFramePr>
        <p:xfrm>
          <a:off x="457200" y="1219200"/>
          <a:ext cx="9067800" cy="3748826"/>
        </p:xfrm>
        <a:graphic>
          <a:graphicData uri="http://schemas.openxmlformats.org/drawingml/2006/table">
            <a:tbl>
              <a:tblPr firstRow="1" bandRow="1">
                <a:tableStyleId>{5C22544A-7EE6-4342-B048-85BDC9FD1C3A}</a:tableStyleId>
              </a:tblPr>
              <a:tblGrid>
                <a:gridCol w="1473519">
                  <a:extLst>
                    <a:ext uri="{9D8B030D-6E8A-4147-A177-3AD203B41FA5}">
                      <a16:colId xmlns:a16="http://schemas.microsoft.com/office/drawing/2014/main" val="175630332"/>
                    </a:ext>
                  </a:extLst>
                </a:gridCol>
                <a:gridCol w="1879281">
                  <a:extLst>
                    <a:ext uri="{9D8B030D-6E8A-4147-A177-3AD203B41FA5}">
                      <a16:colId xmlns:a16="http://schemas.microsoft.com/office/drawing/2014/main" val="4168603989"/>
                    </a:ext>
                  </a:extLst>
                </a:gridCol>
                <a:gridCol w="5715000">
                  <a:extLst>
                    <a:ext uri="{9D8B030D-6E8A-4147-A177-3AD203B41FA5}">
                      <a16:colId xmlns:a16="http://schemas.microsoft.com/office/drawing/2014/main" val="1521794903"/>
                    </a:ext>
                  </a:extLst>
                </a:gridCol>
              </a:tblGrid>
              <a:tr h="351047">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719308"/>
                  </a:ext>
                </a:extLst>
              </a:tr>
              <a:tr h="621083">
                <a:tc>
                  <a:txBody>
                    <a:bodyPr/>
                    <a:lstStyle/>
                    <a:p>
                      <a:r>
                        <a:rPr lang="en-US" sz="2000" dirty="0">
                          <a:solidFill>
                            <a:schemeClr val="tx1"/>
                          </a:solidFill>
                          <a:latin typeface="Body Level 1"/>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color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used for input fields that should contain a color.</a:t>
                      </a:r>
                    </a:p>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7034385"/>
                  </a:ext>
                </a:extLst>
              </a:tr>
              <a:tr h="621083">
                <a:tc>
                  <a:txBody>
                    <a:bodyPr/>
                    <a:lstStyle/>
                    <a:p>
                      <a:r>
                        <a:rPr lang="en-US" sz="2000" dirty="0">
                          <a:solidFill>
                            <a:schemeClr val="tx1"/>
                          </a:solidFill>
                          <a:latin typeface="Body Level 1"/>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used for input fields that should contain a date.</a:t>
                      </a:r>
                    </a:p>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6070582"/>
                  </a:ext>
                </a:extLst>
              </a:tr>
              <a:tr h="891120">
                <a:tc>
                  <a:txBody>
                    <a:bodyPr/>
                    <a:lstStyle/>
                    <a:p>
                      <a:r>
                        <a:rPr lang="en-US" sz="2000" dirty="0">
                          <a:solidFill>
                            <a:schemeClr val="tx1"/>
                          </a:solidFill>
                          <a:latin typeface="Body Level 1"/>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datetime</a:t>
                      </a:r>
                      <a:r>
                        <a:rPr lang="en-US" sz="2000" dirty="0">
                          <a:solidFill>
                            <a:schemeClr val="tx1"/>
                          </a:solidFill>
                          <a:latin typeface="Body Level 1"/>
                        </a:rPr>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specifies a date and time input field, with no time zone.</a:t>
                      </a:r>
                    </a:p>
                    <a:p>
                      <a:endParaRPr kumimoji="0" lang="en-US" sz="2000" b="0" i="0" kern="1200" dirty="0">
                        <a:solidFill>
                          <a:schemeClr val="tx1"/>
                        </a:solidFill>
                        <a:latin typeface="Body Level 1"/>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1761152"/>
                  </a:ext>
                </a:extLst>
              </a:tr>
              <a:tr h="944666">
                <a:tc>
                  <a:txBody>
                    <a:bodyPr/>
                    <a:lstStyle/>
                    <a:p>
                      <a:r>
                        <a:rPr lang="en-US" sz="2000" dirty="0">
                          <a:solidFill>
                            <a:schemeClr val="tx1"/>
                          </a:solidFill>
                          <a:latin typeface="Body Level 1"/>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allows the user to select a time (no time zone).</a:t>
                      </a:r>
                    </a:p>
                    <a:p>
                      <a:endParaRPr kumimoji="0" lang="en-US" sz="2000" b="0" i="0" kern="1200" dirty="0">
                        <a:solidFill>
                          <a:schemeClr val="tx1"/>
                        </a:solidFill>
                        <a:latin typeface="Body Level 1"/>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4149782"/>
                  </a:ext>
                </a:extLst>
              </a:tr>
            </a:tbl>
          </a:graphicData>
        </a:graphic>
      </p:graphicFrame>
    </p:spTree>
    <p:extLst>
      <p:ext uri="{BB962C8B-B14F-4D97-AF65-F5344CB8AC3E}">
        <p14:creationId xmlns:p14="http://schemas.microsoft.com/office/powerpoint/2010/main" val="3362258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9296400" cy="762000"/>
          </a:xfrm>
        </p:spPr>
        <p:txBody>
          <a:bodyPr>
            <a:normAutofit/>
          </a:bodyPr>
          <a:lstStyle/>
          <a:p>
            <a:r>
              <a:rPr lang="en-US" dirty="0"/>
              <a:t>HTML5  Forms – Input Types </a:t>
            </a:r>
            <a:r>
              <a:rPr lang="en-US" dirty="0" err="1"/>
              <a:t>cont</a:t>
            </a:r>
            <a:r>
              <a:rPr lang="en-US" dirty="0"/>
              <a:t>…</a:t>
            </a:r>
          </a:p>
        </p:txBody>
      </p:sp>
      <p:graphicFrame>
        <p:nvGraphicFramePr>
          <p:cNvPr id="6" name="Table 5">
            <a:extLst>
              <a:ext uri="{FF2B5EF4-FFF2-40B4-BE49-F238E27FC236}">
                <a16:creationId xmlns:a16="http://schemas.microsoft.com/office/drawing/2014/main" id="{EED18467-83E7-4C29-9D41-E12B6E5B6782}"/>
              </a:ext>
            </a:extLst>
          </p:cNvPr>
          <p:cNvGraphicFramePr>
            <a:graphicFrameLocks noGrp="1"/>
          </p:cNvGraphicFramePr>
          <p:nvPr>
            <p:extLst>
              <p:ext uri="{D42A27DB-BD31-4B8C-83A1-F6EECF244321}">
                <p14:modId xmlns:p14="http://schemas.microsoft.com/office/powerpoint/2010/main" val="376348530"/>
              </p:ext>
            </p:extLst>
          </p:nvPr>
        </p:nvGraphicFramePr>
        <p:xfrm>
          <a:off x="304800" y="1219200"/>
          <a:ext cx="9296400" cy="4828430"/>
        </p:xfrm>
        <a:graphic>
          <a:graphicData uri="http://schemas.openxmlformats.org/drawingml/2006/table">
            <a:tbl>
              <a:tblPr firstRow="1" bandRow="1">
                <a:tableStyleId>{5C22544A-7EE6-4342-B048-85BDC9FD1C3A}</a:tableStyleId>
              </a:tblPr>
              <a:tblGrid>
                <a:gridCol w="897021">
                  <a:extLst>
                    <a:ext uri="{9D8B030D-6E8A-4147-A177-3AD203B41FA5}">
                      <a16:colId xmlns:a16="http://schemas.microsoft.com/office/drawing/2014/main" val="20000"/>
                    </a:ext>
                  </a:extLst>
                </a:gridCol>
                <a:gridCol w="1388979">
                  <a:extLst>
                    <a:ext uri="{9D8B030D-6E8A-4147-A177-3AD203B41FA5}">
                      <a16:colId xmlns:a16="http://schemas.microsoft.com/office/drawing/2014/main" val="20001"/>
                    </a:ext>
                  </a:extLst>
                </a:gridCol>
                <a:gridCol w="7010400">
                  <a:extLst>
                    <a:ext uri="{9D8B030D-6E8A-4147-A177-3AD203B41FA5}">
                      <a16:colId xmlns:a16="http://schemas.microsoft.com/office/drawing/2014/main" val="20002"/>
                    </a:ext>
                  </a:extLst>
                </a:gridCol>
              </a:tblGrid>
              <a:tr h="368640">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52210">
                <a:tc>
                  <a:txBody>
                    <a:bodyPr/>
                    <a:lstStyle/>
                    <a:p>
                      <a:r>
                        <a:rPr lang="en-US" sz="2000" dirty="0">
                          <a:solidFill>
                            <a:schemeClr val="tx1"/>
                          </a:solidFill>
                          <a:latin typeface="Body Level 1"/>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week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allows the user to select a week and year.</a:t>
                      </a:r>
                    </a:p>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88519">
                <a:tc>
                  <a:txBody>
                    <a:bodyPr/>
                    <a:lstStyle/>
                    <a:p>
                      <a:r>
                        <a:rPr lang="en-US" sz="2000" dirty="0">
                          <a:solidFill>
                            <a:schemeClr val="tx1"/>
                          </a:solidFill>
                          <a:latin typeface="Body Level 1"/>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month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allows the user to select a month and year.</a:t>
                      </a:r>
                    </a:p>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81567">
                <a:tc>
                  <a:txBody>
                    <a:bodyPr/>
                    <a:lstStyle/>
                    <a:p>
                      <a:r>
                        <a:rPr lang="en-US" sz="2000" dirty="0">
                          <a:solidFill>
                            <a:schemeClr val="tx1"/>
                          </a:solidFill>
                          <a:latin typeface="Body Level 1"/>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email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 used for input fields that should contain an e-mail address.</a:t>
                      </a:r>
                    </a:p>
                    <a:p>
                      <a:endParaRPr kumimoji="0" lang="en-US" sz="2000" b="0" i="0" kern="1200" dirty="0">
                        <a:solidFill>
                          <a:schemeClr val="tx1"/>
                        </a:solidFill>
                        <a:latin typeface="Body Level 1"/>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8640">
                <a:tc>
                  <a:txBody>
                    <a:bodyPr/>
                    <a:lstStyle/>
                    <a:p>
                      <a:r>
                        <a:rPr lang="en-US" sz="2000" dirty="0">
                          <a:solidFill>
                            <a:schemeClr val="tx1"/>
                          </a:solidFill>
                          <a:latin typeface="Body Level 1"/>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defines a </a:t>
                      </a:r>
                      <a:r>
                        <a:rPr kumimoji="0" lang="en-US" sz="2000" b="1" i="0" kern="1200" dirty="0">
                          <a:solidFill>
                            <a:schemeClr val="tx1"/>
                          </a:solidFill>
                          <a:latin typeface="Body Level 1"/>
                          <a:ea typeface="+mn-ea"/>
                          <a:cs typeface="+mn-cs"/>
                        </a:rPr>
                        <a:t>numeric</a:t>
                      </a:r>
                      <a:r>
                        <a:rPr kumimoji="0" lang="en-US" sz="2000" b="0" i="0" kern="1200" dirty="0">
                          <a:solidFill>
                            <a:schemeClr val="tx1"/>
                          </a:solidFill>
                          <a:latin typeface="Body Level 1"/>
                          <a:ea typeface="+mn-ea"/>
                          <a:cs typeface="+mn-cs"/>
                        </a:rPr>
                        <a:t> input field.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64824">
                <a:tc>
                  <a:txBody>
                    <a:bodyPr/>
                    <a:lstStyle/>
                    <a:p>
                      <a:r>
                        <a:rPr lang="en-US" sz="2000" dirty="0">
                          <a:solidFill>
                            <a:schemeClr val="tx1"/>
                          </a:solidFill>
                          <a:latin typeface="Body Level 1"/>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range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defines a control for entering a number whose exact value is not important (like a slider control). Default range is 0 to 100. However, you can set restrictions on what numbers are accepted with the min, max, and step attributes.</a:t>
                      </a:r>
                      <a:endParaRPr lang="en-US" sz="2000" b="1"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10306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9144000" cy="521328"/>
          </a:xfrm>
        </p:spPr>
        <p:txBody>
          <a:bodyPr>
            <a:normAutofit/>
          </a:bodyPr>
          <a:lstStyle/>
          <a:p>
            <a:r>
              <a:rPr lang="en-US" dirty="0"/>
              <a:t>HTML5  Forms – Attributes</a:t>
            </a:r>
          </a:p>
        </p:txBody>
      </p:sp>
      <p:graphicFrame>
        <p:nvGraphicFramePr>
          <p:cNvPr id="6" name="Table 5">
            <a:extLst>
              <a:ext uri="{FF2B5EF4-FFF2-40B4-BE49-F238E27FC236}">
                <a16:creationId xmlns:a16="http://schemas.microsoft.com/office/drawing/2014/main" id="{F16F0176-C12C-441C-B140-6C4DA32755D2}"/>
              </a:ext>
            </a:extLst>
          </p:cNvPr>
          <p:cNvGraphicFramePr>
            <a:graphicFrameLocks noGrp="1"/>
          </p:cNvGraphicFramePr>
          <p:nvPr>
            <p:extLst>
              <p:ext uri="{D42A27DB-BD31-4B8C-83A1-F6EECF244321}">
                <p14:modId xmlns:p14="http://schemas.microsoft.com/office/powerpoint/2010/main" val="3460666916"/>
              </p:ext>
            </p:extLst>
          </p:nvPr>
        </p:nvGraphicFramePr>
        <p:xfrm>
          <a:off x="381000" y="1219200"/>
          <a:ext cx="8991600" cy="5123375"/>
        </p:xfrm>
        <a:graphic>
          <a:graphicData uri="http://schemas.openxmlformats.org/drawingml/2006/table">
            <a:tbl>
              <a:tblPr firstRow="1" bandRow="1">
                <a:tableStyleId>{5C22544A-7EE6-4342-B048-85BDC9FD1C3A}</a:tableStyleId>
              </a:tblPr>
              <a:tblGrid>
                <a:gridCol w="1461136">
                  <a:extLst>
                    <a:ext uri="{9D8B030D-6E8A-4147-A177-3AD203B41FA5}">
                      <a16:colId xmlns:a16="http://schemas.microsoft.com/office/drawing/2014/main" val="20000"/>
                    </a:ext>
                  </a:extLst>
                </a:gridCol>
                <a:gridCol w="1830432">
                  <a:extLst>
                    <a:ext uri="{9D8B030D-6E8A-4147-A177-3AD203B41FA5}">
                      <a16:colId xmlns:a16="http://schemas.microsoft.com/office/drawing/2014/main" val="20001"/>
                    </a:ext>
                  </a:extLst>
                </a:gridCol>
                <a:gridCol w="5700032">
                  <a:extLst>
                    <a:ext uri="{9D8B030D-6E8A-4147-A177-3AD203B41FA5}">
                      <a16:colId xmlns:a16="http://schemas.microsoft.com/office/drawing/2014/main" val="20002"/>
                    </a:ext>
                  </a:extLst>
                </a:gridCol>
              </a:tblGrid>
              <a:tr h="376510">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74680">
                <a:tc>
                  <a:txBody>
                    <a:bodyPr/>
                    <a:lstStyle/>
                    <a:p>
                      <a:r>
                        <a:rPr lang="en-US" sz="2000" dirty="0">
                          <a:solidFill>
                            <a:schemeClr val="tx1"/>
                          </a:solidFill>
                          <a:latin typeface="Body Level 1"/>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autofocus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specifies that the input field should automatically get focus when the page loads.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39735">
                <a:tc>
                  <a:txBody>
                    <a:bodyPr/>
                    <a:lstStyle/>
                    <a:p>
                      <a:r>
                        <a:rPr lang="en-US" sz="2000" dirty="0">
                          <a:solidFill>
                            <a:schemeClr val="tx1"/>
                          </a:solidFill>
                          <a:latin typeface="Body Level 1"/>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err="1">
                          <a:solidFill>
                            <a:schemeClr val="tx1"/>
                          </a:solidFill>
                          <a:latin typeface="Body Level 1"/>
                        </a:rPr>
                        <a:t>autocomplete</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When </a:t>
                      </a:r>
                      <a:r>
                        <a:rPr kumimoji="0" lang="en-US" sz="2000" b="0" i="0" kern="1200" dirty="0" err="1">
                          <a:solidFill>
                            <a:schemeClr val="tx1"/>
                          </a:solidFill>
                          <a:latin typeface="Body Level 1"/>
                          <a:ea typeface="+mn-ea"/>
                          <a:cs typeface="+mn-cs"/>
                        </a:rPr>
                        <a:t>autocomplete</a:t>
                      </a:r>
                      <a:r>
                        <a:rPr kumimoji="0" lang="en-US" sz="2000" b="0" i="0" kern="1200" dirty="0">
                          <a:solidFill>
                            <a:schemeClr val="tx1"/>
                          </a:solidFill>
                          <a:latin typeface="Body Level 1"/>
                          <a:ea typeface="+mn-ea"/>
                          <a:cs typeface="+mn-cs"/>
                        </a:rPr>
                        <a:t> is on, the browser automatically completes the input values based on values that the user has entered before.</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949983">
                <a:tc>
                  <a:txBody>
                    <a:bodyPr/>
                    <a:lstStyle/>
                    <a:p>
                      <a:r>
                        <a:rPr lang="en-US" sz="2000" dirty="0">
                          <a:solidFill>
                            <a:schemeClr val="tx1"/>
                          </a:solidFill>
                          <a:latin typeface="Body Level 1"/>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placeholder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specifies a hint that describes the expected value of an input field (a sample value or a short description of the format).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62109">
                <a:tc>
                  <a:txBody>
                    <a:bodyPr/>
                    <a:lstStyle/>
                    <a:p>
                      <a:r>
                        <a:rPr lang="en-US" sz="2000" dirty="0">
                          <a:solidFill>
                            <a:schemeClr val="tx1"/>
                          </a:solidFill>
                          <a:latin typeface="Body Level 1"/>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specifies that an input field must be filled out before submitting the form.</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949983">
                <a:tc>
                  <a:txBody>
                    <a:bodyPr/>
                    <a:lstStyle/>
                    <a:p>
                      <a:r>
                        <a:rPr lang="en-US" sz="2000" dirty="0">
                          <a:solidFill>
                            <a:schemeClr val="tx1"/>
                          </a:solidFill>
                          <a:latin typeface="Body Level 1"/>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pattern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 specifies a regular expression that the &lt;input&gt; element's value is checked against</a:t>
                      </a:r>
                      <a:r>
                        <a:rPr kumimoji="0" lang="en-US" sz="2000" b="0" i="0" kern="1200" baseline="0" dirty="0">
                          <a:solidFill>
                            <a:schemeClr val="tx1"/>
                          </a:solidFill>
                          <a:latin typeface="Body Level 1"/>
                          <a:ea typeface="+mn-ea"/>
                          <a:cs typeface="+mn-cs"/>
                        </a:rPr>
                        <a:t> before submitting form</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70340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9632950" cy="609600"/>
          </a:xfrm>
        </p:spPr>
        <p:txBody>
          <a:bodyPr>
            <a:normAutofit/>
          </a:bodyPr>
          <a:lstStyle/>
          <a:p>
            <a:r>
              <a:rPr lang="en-US" dirty="0"/>
              <a:t>    HTML5  Forms – Attributes Cont…</a:t>
            </a:r>
          </a:p>
        </p:txBody>
      </p:sp>
      <p:graphicFrame>
        <p:nvGraphicFramePr>
          <p:cNvPr id="6" name="Table 5">
            <a:extLst>
              <a:ext uri="{FF2B5EF4-FFF2-40B4-BE49-F238E27FC236}">
                <a16:creationId xmlns:a16="http://schemas.microsoft.com/office/drawing/2014/main" id="{CBBFDE4E-4A62-48E2-A344-202BF3A0A52A}"/>
              </a:ext>
            </a:extLst>
          </p:cNvPr>
          <p:cNvGraphicFramePr>
            <a:graphicFrameLocks noGrp="1"/>
          </p:cNvGraphicFramePr>
          <p:nvPr>
            <p:extLst>
              <p:ext uri="{D42A27DB-BD31-4B8C-83A1-F6EECF244321}">
                <p14:modId xmlns:p14="http://schemas.microsoft.com/office/powerpoint/2010/main" val="948372556"/>
              </p:ext>
            </p:extLst>
          </p:nvPr>
        </p:nvGraphicFramePr>
        <p:xfrm>
          <a:off x="457200" y="1221386"/>
          <a:ext cx="8915400" cy="5076092"/>
        </p:xfrm>
        <a:graphic>
          <a:graphicData uri="http://schemas.openxmlformats.org/drawingml/2006/table">
            <a:tbl>
              <a:tblPr firstRow="1" bandRow="1">
                <a:tableStyleId>{5C22544A-7EE6-4342-B048-85BDC9FD1C3A}</a:tableStyleId>
              </a:tblPr>
              <a:tblGrid>
                <a:gridCol w="1448754">
                  <a:extLst>
                    <a:ext uri="{9D8B030D-6E8A-4147-A177-3AD203B41FA5}">
                      <a16:colId xmlns:a16="http://schemas.microsoft.com/office/drawing/2014/main" val="20000"/>
                    </a:ext>
                  </a:extLst>
                </a:gridCol>
                <a:gridCol w="2451735">
                  <a:extLst>
                    <a:ext uri="{9D8B030D-6E8A-4147-A177-3AD203B41FA5}">
                      <a16:colId xmlns:a16="http://schemas.microsoft.com/office/drawing/2014/main" val="20001"/>
                    </a:ext>
                  </a:extLst>
                </a:gridCol>
                <a:gridCol w="5014911">
                  <a:extLst>
                    <a:ext uri="{9D8B030D-6E8A-4147-A177-3AD203B41FA5}">
                      <a16:colId xmlns:a16="http://schemas.microsoft.com/office/drawing/2014/main" val="20002"/>
                    </a:ext>
                  </a:extLst>
                </a:gridCol>
              </a:tblGrid>
              <a:tr h="558870">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463040">
                <a:tc>
                  <a:txBody>
                    <a:bodyPr/>
                    <a:lstStyle/>
                    <a:p>
                      <a:r>
                        <a:rPr lang="en-US" sz="2000" dirty="0">
                          <a:solidFill>
                            <a:schemeClr val="tx1"/>
                          </a:solidFill>
                          <a:latin typeface="Body Level 1"/>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multiple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specifies that the user is allowed to enter more than one value in the &lt;input&gt; element.</a:t>
                      </a:r>
                    </a:p>
                    <a:p>
                      <a:r>
                        <a:rPr kumimoji="0" lang="en-US" sz="2000" b="0" i="0" kern="1200" dirty="0">
                          <a:solidFill>
                            <a:schemeClr val="tx1"/>
                          </a:solidFill>
                          <a:latin typeface="Body Level 1"/>
                          <a:ea typeface="+mn-ea"/>
                          <a:cs typeface="+mn-cs"/>
                        </a:rPr>
                        <a:t>The multiple attribute works with the following input types: email, and file.</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40080">
                <a:tc>
                  <a:txBody>
                    <a:bodyPr/>
                    <a:lstStyle/>
                    <a:p>
                      <a:r>
                        <a:rPr lang="en-US" sz="2000" dirty="0">
                          <a:solidFill>
                            <a:schemeClr val="tx1"/>
                          </a:solidFill>
                          <a:latin typeface="Body Level 1"/>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refers to a &lt;</a:t>
                      </a:r>
                      <a:r>
                        <a:rPr kumimoji="0" lang="en-US" sz="2000" b="0" i="0" kern="1200" dirty="0" err="1">
                          <a:solidFill>
                            <a:schemeClr val="tx1"/>
                          </a:solidFill>
                          <a:latin typeface="Body Level 1"/>
                          <a:ea typeface="+mn-ea"/>
                          <a:cs typeface="+mn-cs"/>
                        </a:rPr>
                        <a:t>datalist</a:t>
                      </a:r>
                      <a:r>
                        <a:rPr kumimoji="0" lang="en-US" sz="2000" b="0" i="0" kern="1200" dirty="0">
                          <a:solidFill>
                            <a:schemeClr val="tx1"/>
                          </a:solidFill>
                          <a:latin typeface="Body Level 1"/>
                          <a:ea typeface="+mn-ea"/>
                          <a:cs typeface="+mn-cs"/>
                        </a:rPr>
                        <a:t>&gt; element that contains pre-defined options for an &lt;input&gt; element.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60331">
                <a:tc>
                  <a:txBody>
                    <a:bodyPr/>
                    <a:lstStyle/>
                    <a:p>
                      <a:r>
                        <a:rPr lang="en-US" sz="2000" dirty="0">
                          <a:solidFill>
                            <a:schemeClr val="tx1"/>
                          </a:solidFill>
                          <a:latin typeface="Body Level 1"/>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height and width attributes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specify the height and width of an &lt;input type="image"&gt; element.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80224">
                <a:tc>
                  <a:txBody>
                    <a:bodyPr/>
                    <a:lstStyle/>
                    <a:p>
                      <a:r>
                        <a:rPr lang="en-US" sz="2000" dirty="0">
                          <a:solidFill>
                            <a:schemeClr val="tx1"/>
                          </a:solidFill>
                          <a:latin typeface="Body Level 1"/>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specifies the legal number intervals for an &lt;input&gt; element.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951062">
                <a:tc>
                  <a:txBody>
                    <a:bodyPr/>
                    <a:lstStyle/>
                    <a:p>
                      <a:r>
                        <a:rPr lang="en-US" sz="2000" dirty="0">
                          <a:solidFill>
                            <a:schemeClr val="tx1"/>
                          </a:solidFill>
                          <a:latin typeface="Body Level 1"/>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min and 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specify the minimum and maximum values for an &lt;input&gt; element.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429040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2DBEC-E35C-4D74-8B2D-452A6EA6EE77}"/>
              </a:ext>
            </a:extLst>
          </p:cNvPr>
          <p:cNvSpPr>
            <a:spLocks noGrp="1"/>
          </p:cNvSpPr>
          <p:nvPr>
            <p:ph type="title"/>
          </p:nvPr>
        </p:nvSpPr>
        <p:spPr/>
        <p:txBody>
          <a:bodyPr/>
          <a:lstStyle/>
          <a:p>
            <a:r>
              <a:rPr lang="en-US" dirty="0"/>
              <a:t>HTML5 forms - Pattern attribute</a:t>
            </a:r>
          </a:p>
        </p:txBody>
      </p:sp>
      <p:sp>
        <p:nvSpPr>
          <p:cNvPr id="3" name="Content Placeholder 2">
            <a:extLst>
              <a:ext uri="{FF2B5EF4-FFF2-40B4-BE49-F238E27FC236}">
                <a16:creationId xmlns:a16="http://schemas.microsoft.com/office/drawing/2014/main" id="{2E83210D-D291-4D40-95B1-4D0FDE9FE959}"/>
              </a:ext>
            </a:extLst>
          </p:cNvPr>
          <p:cNvSpPr>
            <a:spLocks noGrp="1"/>
          </p:cNvSpPr>
          <p:nvPr>
            <p:ph idx="1"/>
          </p:nvPr>
        </p:nvSpPr>
        <p:spPr>
          <a:xfrm>
            <a:off x="324091" y="1323001"/>
            <a:ext cx="9259747" cy="2182199"/>
          </a:xfrm>
          <a:ln>
            <a:solidFill>
              <a:schemeClr val="bg1"/>
            </a:solidFill>
          </a:ln>
        </p:spPr>
        <p:txBody>
          <a:bodyPr>
            <a:normAutofit/>
          </a:bodyPr>
          <a:lstStyle/>
          <a:p>
            <a:r>
              <a:rPr lang="en-US" sz="2000" dirty="0"/>
              <a:t>Specifies a regular expression that the input value is checked against before submitting the form.</a:t>
            </a:r>
          </a:p>
          <a:p>
            <a:r>
              <a:rPr lang="en-US" sz="2000" dirty="0"/>
              <a:t>Example 1: Entered name can only have alphabets.</a:t>
            </a:r>
          </a:p>
          <a:p>
            <a:pPr marL="0" indent="0">
              <a:buNone/>
            </a:pPr>
            <a:r>
              <a:rPr lang="en-US" sz="2000" dirty="0"/>
              <a:t>	pattern= “[A-Za-z]+”</a:t>
            </a:r>
          </a:p>
          <a:p>
            <a:r>
              <a:rPr lang="en-US" sz="2000" dirty="0"/>
              <a:t>Example 2: Entered phone no can only have numbers of 10 digits.</a:t>
            </a:r>
          </a:p>
          <a:p>
            <a:pPr marL="0" indent="0">
              <a:buNone/>
            </a:pPr>
            <a:r>
              <a:rPr lang="en-US" sz="2000" dirty="0"/>
              <a:t>	pattern =“[7-9]{1}[0-9]{9}”</a:t>
            </a:r>
          </a:p>
          <a:p>
            <a:pPr marL="0" indent="0">
              <a:buNone/>
            </a:pPr>
            <a:endParaRPr lang="en-US" sz="2000" dirty="0"/>
          </a:p>
        </p:txBody>
      </p:sp>
    </p:spTree>
    <p:extLst>
      <p:ext uri="{BB962C8B-B14F-4D97-AF65-F5344CB8AC3E}">
        <p14:creationId xmlns:p14="http://schemas.microsoft.com/office/powerpoint/2010/main" val="2285892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0998"/>
            <a:ext cx="9067800" cy="609601"/>
          </a:xfrm>
        </p:spPr>
        <p:txBody>
          <a:bodyPr>
            <a:normAutofit/>
          </a:bodyPr>
          <a:lstStyle/>
          <a:p>
            <a:r>
              <a:rPr lang="en-US" dirty="0"/>
              <a:t>     HTML5  Forms – Pattern Attribute</a:t>
            </a:r>
          </a:p>
        </p:txBody>
      </p:sp>
      <p:graphicFrame>
        <p:nvGraphicFramePr>
          <p:cNvPr id="6" name="Table 5">
            <a:extLst>
              <a:ext uri="{FF2B5EF4-FFF2-40B4-BE49-F238E27FC236}">
                <a16:creationId xmlns:a16="http://schemas.microsoft.com/office/drawing/2014/main" id="{46D44AF7-E7A7-4171-A5E5-32CA19FFF866}"/>
              </a:ext>
            </a:extLst>
          </p:cNvPr>
          <p:cNvGraphicFramePr>
            <a:graphicFrameLocks noGrp="1"/>
          </p:cNvGraphicFramePr>
          <p:nvPr>
            <p:extLst>
              <p:ext uri="{D42A27DB-BD31-4B8C-83A1-F6EECF244321}">
                <p14:modId xmlns:p14="http://schemas.microsoft.com/office/powerpoint/2010/main" val="2183240167"/>
              </p:ext>
            </p:extLst>
          </p:nvPr>
        </p:nvGraphicFramePr>
        <p:xfrm>
          <a:off x="647700" y="1219200"/>
          <a:ext cx="8229600" cy="5153423"/>
        </p:xfrm>
        <a:graphic>
          <a:graphicData uri="http://schemas.openxmlformats.org/drawingml/2006/table">
            <a:tbl>
              <a:tblPr firstRow="1" bandRow="1">
                <a:tableStyleId>{5C22544A-7EE6-4342-B048-85BDC9FD1C3A}</a:tableStyleId>
              </a:tblPr>
              <a:tblGrid>
                <a:gridCol w="1337311">
                  <a:extLst>
                    <a:ext uri="{9D8B030D-6E8A-4147-A177-3AD203B41FA5}">
                      <a16:colId xmlns:a16="http://schemas.microsoft.com/office/drawing/2014/main" val="20000"/>
                    </a:ext>
                  </a:extLst>
                </a:gridCol>
                <a:gridCol w="1748789">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432968">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27801">
                <a:tc>
                  <a:txBody>
                    <a:bodyPr/>
                    <a:lstStyle/>
                    <a:p>
                      <a:r>
                        <a:rPr lang="en-US" sz="2000" dirty="0">
                          <a:solidFill>
                            <a:schemeClr val="tx1"/>
                          </a:solidFill>
                          <a:latin typeface="Body Level 1"/>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Find any of the digits between the brackets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1832">
                <a:tc>
                  <a:txBody>
                    <a:bodyPr/>
                    <a:lstStyle/>
                    <a:p>
                      <a:r>
                        <a:rPr lang="en-US" sz="2000" dirty="0">
                          <a:solidFill>
                            <a:schemeClr val="tx1"/>
                          </a:solidFill>
                          <a:latin typeface="Body Level 1"/>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Find any of the characters between the brackets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96858">
                <a:tc>
                  <a:txBody>
                    <a:bodyPr/>
                    <a:lstStyle/>
                    <a:p>
                      <a:r>
                        <a:rPr lang="en-US" sz="2000" dirty="0">
                          <a:solidFill>
                            <a:schemeClr val="tx1"/>
                          </a:solidFill>
                          <a:latin typeface="Body Level 1"/>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Find any of the alphanumeric characters  (small letters)between the brackets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27801">
                <a:tc>
                  <a:txBody>
                    <a:bodyPr/>
                    <a:lstStyle/>
                    <a:p>
                      <a:r>
                        <a:rPr lang="en-US" sz="2000" dirty="0">
                          <a:solidFill>
                            <a:schemeClr val="tx1"/>
                          </a:solidFill>
                          <a:latin typeface="Body Level 1"/>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[0-9a-zA-Z]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Find any of the alphanumeric characters  between the brackets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96858">
                <a:tc>
                  <a:txBody>
                    <a:bodyPr/>
                    <a:lstStyle/>
                    <a:p>
                      <a:r>
                        <a:rPr lang="en-US" sz="2000" dirty="0">
                          <a:solidFill>
                            <a:schemeClr val="tx1"/>
                          </a:solidFill>
                          <a:latin typeface="Body Level 1"/>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a:t>
                      </a:r>
                      <a:r>
                        <a:rPr lang="en-US" sz="2000" dirty="0" err="1">
                          <a:solidFill>
                            <a:schemeClr val="tx1"/>
                          </a:solidFill>
                          <a:latin typeface="Body Level 1"/>
                        </a:rPr>
                        <a:t>abc</a:t>
                      </a:r>
                      <a:r>
                        <a:rPr lang="en-US" sz="2000"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 Find any of the characters between the brackets </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896858">
                <a:tc>
                  <a:txBody>
                    <a:bodyPr/>
                    <a:lstStyle/>
                    <a:p>
                      <a:r>
                        <a:rPr lang="en-US" sz="2000" dirty="0">
                          <a:solidFill>
                            <a:schemeClr val="tx1"/>
                          </a:solidFill>
                          <a:latin typeface="Body Level 1"/>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Find any of the digits and special chars (*$)between the brackets</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68697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9390944" cy="609600"/>
          </a:xfrm>
        </p:spPr>
        <p:txBody>
          <a:bodyPr>
            <a:normAutofit/>
          </a:bodyPr>
          <a:lstStyle/>
          <a:p>
            <a:r>
              <a:rPr lang="en-US" dirty="0"/>
              <a:t>   HTML5  Forms – pattern quantifiers</a:t>
            </a:r>
          </a:p>
        </p:txBody>
      </p:sp>
      <p:graphicFrame>
        <p:nvGraphicFramePr>
          <p:cNvPr id="6" name="Table 5">
            <a:extLst>
              <a:ext uri="{FF2B5EF4-FFF2-40B4-BE49-F238E27FC236}">
                <a16:creationId xmlns:a16="http://schemas.microsoft.com/office/drawing/2014/main" id="{ED087424-5A97-417A-B460-B7C2323961FA}"/>
              </a:ext>
            </a:extLst>
          </p:cNvPr>
          <p:cNvGraphicFramePr>
            <a:graphicFrameLocks noGrp="1"/>
          </p:cNvGraphicFramePr>
          <p:nvPr>
            <p:extLst>
              <p:ext uri="{D42A27DB-BD31-4B8C-83A1-F6EECF244321}">
                <p14:modId xmlns:p14="http://schemas.microsoft.com/office/powerpoint/2010/main" val="3589771607"/>
              </p:ext>
            </p:extLst>
          </p:nvPr>
        </p:nvGraphicFramePr>
        <p:xfrm>
          <a:off x="457200" y="1371600"/>
          <a:ext cx="9067800" cy="4954133"/>
        </p:xfrm>
        <a:graphic>
          <a:graphicData uri="http://schemas.openxmlformats.org/drawingml/2006/table">
            <a:tbl>
              <a:tblPr firstRow="1" bandRow="1">
                <a:tableStyleId>{5C22544A-7EE6-4342-B048-85BDC9FD1C3A}</a:tableStyleId>
              </a:tblPr>
              <a:tblGrid>
                <a:gridCol w="755650">
                  <a:extLst>
                    <a:ext uri="{9D8B030D-6E8A-4147-A177-3AD203B41FA5}">
                      <a16:colId xmlns:a16="http://schemas.microsoft.com/office/drawing/2014/main" val="20000"/>
                    </a:ext>
                  </a:extLst>
                </a:gridCol>
                <a:gridCol w="1595261">
                  <a:extLst>
                    <a:ext uri="{9D8B030D-6E8A-4147-A177-3AD203B41FA5}">
                      <a16:colId xmlns:a16="http://schemas.microsoft.com/office/drawing/2014/main" val="20001"/>
                    </a:ext>
                  </a:extLst>
                </a:gridCol>
                <a:gridCol w="6716889">
                  <a:extLst>
                    <a:ext uri="{9D8B030D-6E8A-4147-A177-3AD203B41FA5}">
                      <a16:colId xmlns:a16="http://schemas.microsoft.com/office/drawing/2014/main" val="20002"/>
                    </a:ext>
                  </a:extLst>
                </a:gridCol>
              </a:tblGrid>
              <a:tr h="622742">
                <a:tc>
                  <a:txBody>
                    <a:bodyPr/>
                    <a:lstStyle/>
                    <a:p>
                      <a:r>
                        <a:rPr lang="en-US" sz="2000" dirty="0">
                          <a:solidFill>
                            <a:schemeClr val="tx1"/>
                          </a:solidFill>
                          <a:latin typeface="Body Level 1"/>
                        </a:rPr>
                        <a:t> 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4127">
                <a:tc>
                  <a:txBody>
                    <a:bodyPr/>
                    <a:lstStyle/>
                    <a:p>
                      <a:r>
                        <a:rPr lang="en-US" sz="2000" dirty="0">
                          <a:solidFill>
                            <a:schemeClr val="tx1"/>
                          </a:solidFill>
                          <a:latin typeface="Body Level 1"/>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Matches any string that contains at least one </a:t>
                      </a:r>
                      <a:r>
                        <a:rPr kumimoji="0" lang="en-US" sz="2000" b="0" i="1" kern="1200" dirty="0">
                          <a:solidFill>
                            <a:schemeClr val="tx1"/>
                          </a:solidFill>
                          <a:latin typeface="Body Level 1"/>
                          <a:ea typeface="+mn-ea"/>
                          <a:cs typeface="+mn-cs"/>
                        </a:rPr>
                        <a:t>digit</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12754">
                <a:tc>
                  <a:txBody>
                    <a:bodyPr/>
                    <a:lstStyle/>
                    <a:p>
                      <a:r>
                        <a:rPr lang="en-US" sz="2000" dirty="0">
                          <a:solidFill>
                            <a:schemeClr val="tx1"/>
                          </a:solidFill>
                          <a:latin typeface="Body Level 1"/>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Matches any string that contains zero or more occurrences of </a:t>
                      </a:r>
                      <a:r>
                        <a:rPr kumimoji="0" lang="en-US" sz="2000" b="0" i="1" kern="1200" dirty="0">
                          <a:solidFill>
                            <a:schemeClr val="tx1"/>
                          </a:solidFill>
                          <a:latin typeface="Body Level 1"/>
                          <a:ea typeface="+mn-ea"/>
                          <a:cs typeface="+mn-cs"/>
                        </a:rPr>
                        <a:t>n</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02118">
                <a:tc>
                  <a:txBody>
                    <a:bodyPr/>
                    <a:lstStyle/>
                    <a:p>
                      <a:r>
                        <a:rPr lang="en-US" sz="2000" dirty="0">
                          <a:solidFill>
                            <a:schemeClr val="tx1"/>
                          </a:solidFill>
                          <a:latin typeface="Body Level 1"/>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Matches any string that contains zero or one occurrences of </a:t>
                      </a:r>
                      <a:r>
                        <a:rPr kumimoji="0" lang="en-US" sz="2000" b="0" i="1" kern="1200" dirty="0">
                          <a:solidFill>
                            <a:schemeClr val="tx1"/>
                          </a:solidFill>
                          <a:latin typeface="Body Level 1"/>
                          <a:ea typeface="+mn-ea"/>
                          <a:cs typeface="+mn-cs"/>
                        </a:rPr>
                        <a:t>n</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4127">
                <a:tc>
                  <a:txBody>
                    <a:bodyPr/>
                    <a:lstStyle/>
                    <a:p>
                      <a:r>
                        <a:rPr lang="en-US" sz="2000" dirty="0">
                          <a:solidFill>
                            <a:schemeClr val="tx1"/>
                          </a:solidFill>
                          <a:latin typeface="Body Level 1"/>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Matches any string that contains exactly 3 occurrences of </a:t>
                      </a:r>
                      <a:r>
                        <a:rPr kumimoji="0" lang="en-US" sz="2000" b="0" i="1" kern="1200" dirty="0">
                          <a:solidFill>
                            <a:schemeClr val="tx1"/>
                          </a:solidFill>
                          <a:latin typeface="Body Level 1"/>
                          <a:ea typeface="+mn-ea"/>
                          <a:cs typeface="+mn-cs"/>
                        </a:rPr>
                        <a:t>n</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4127">
                <a:tc>
                  <a:txBody>
                    <a:bodyPr/>
                    <a:lstStyle/>
                    <a:p>
                      <a:r>
                        <a:rPr lang="en-US" sz="2000" dirty="0">
                          <a:solidFill>
                            <a:schemeClr val="tx1"/>
                          </a:solidFill>
                          <a:latin typeface="Body Level 1"/>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2000" b="0" i="0" kern="1200" dirty="0">
                          <a:solidFill>
                            <a:schemeClr val="tx1"/>
                          </a:solidFill>
                          <a:latin typeface="Body Level 1"/>
                          <a:ea typeface="+mn-ea"/>
                          <a:cs typeface="+mn-cs"/>
                        </a:rPr>
                        <a:t>Matches any string that contains minimum 3 occurrences of </a:t>
                      </a:r>
                      <a:r>
                        <a:rPr kumimoji="0" lang="en-US" sz="2000" b="0" i="1" kern="1200" dirty="0">
                          <a:solidFill>
                            <a:schemeClr val="tx1"/>
                          </a:solidFill>
                          <a:latin typeface="Body Level 1"/>
                          <a:ea typeface="+mn-ea"/>
                          <a:cs typeface="+mn-cs"/>
                        </a:rPr>
                        <a:t>n</a:t>
                      </a:r>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930606">
                <a:tc>
                  <a:txBody>
                    <a:bodyPr/>
                    <a:lstStyle/>
                    <a:p>
                      <a:r>
                        <a:rPr lang="en-US" sz="2000" dirty="0">
                          <a:solidFill>
                            <a:schemeClr val="tx1"/>
                          </a:solidFill>
                          <a:latin typeface="Body Level 1"/>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solidFill>
                            <a:schemeClr val="tx1"/>
                          </a:solidFill>
                          <a:latin typeface="Body Level 1"/>
                        </a:rPr>
                        <a:t>[0-9]{3,6}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000" b="0" i="0" kern="1200" dirty="0">
                          <a:solidFill>
                            <a:schemeClr val="tx1"/>
                          </a:solidFill>
                          <a:latin typeface="Body Level 1"/>
                          <a:ea typeface="+mn-ea"/>
                          <a:cs typeface="+mn-cs"/>
                        </a:rPr>
                        <a:t>Matches any string that contains minimum 3 occurrences of </a:t>
                      </a:r>
                      <a:r>
                        <a:rPr kumimoji="0" lang="en-US" sz="2000" b="0" i="1" kern="1200" dirty="0">
                          <a:solidFill>
                            <a:schemeClr val="tx1"/>
                          </a:solidFill>
                          <a:latin typeface="Body Level 1"/>
                          <a:ea typeface="+mn-ea"/>
                          <a:cs typeface="+mn-cs"/>
                        </a:rPr>
                        <a:t>n and max 6 occurrences</a:t>
                      </a:r>
                      <a:endParaRPr lang="en-US" sz="2000" dirty="0">
                        <a:solidFill>
                          <a:schemeClr val="tx1"/>
                        </a:solidFill>
                        <a:latin typeface="Body Level 1"/>
                      </a:endParaRPr>
                    </a:p>
                    <a:p>
                      <a:endParaRPr lang="en-US" sz="20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843286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26B98F-9CB6-49B2-9368-88ADC1E24D46}"/>
              </a:ext>
            </a:extLst>
          </p:cNvPr>
          <p:cNvSpPr>
            <a:spLocks noGrp="1"/>
          </p:cNvSpPr>
          <p:nvPr>
            <p:ph type="title"/>
          </p:nvPr>
        </p:nvSpPr>
        <p:spPr/>
        <p:txBody>
          <a:bodyPr/>
          <a:lstStyle/>
          <a:p>
            <a:r>
              <a:rPr lang="en-US" dirty="0"/>
              <a:t>Hands-on for forms</a:t>
            </a:r>
          </a:p>
        </p:txBody>
      </p:sp>
      <p:sp>
        <p:nvSpPr>
          <p:cNvPr id="5" name="TextBox 4">
            <a:extLst>
              <a:ext uri="{FF2B5EF4-FFF2-40B4-BE49-F238E27FC236}">
                <a16:creationId xmlns:a16="http://schemas.microsoft.com/office/drawing/2014/main" id="{9EC7E5B8-2357-4E1D-AE24-62725113FB22}"/>
              </a:ext>
            </a:extLst>
          </p:cNvPr>
          <p:cNvSpPr txBox="1"/>
          <p:nvPr/>
        </p:nvSpPr>
        <p:spPr>
          <a:xfrm>
            <a:off x="324091" y="1600200"/>
            <a:ext cx="3866909" cy="347787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Body Level 1"/>
              </a:rPr>
              <a:t>Design the page using HTML5.</a:t>
            </a:r>
          </a:p>
          <a:p>
            <a:pPr marL="342900" indent="-342900">
              <a:buFont typeface="Arial" panose="020B0604020202020204" pitchFamily="34" charset="0"/>
              <a:buChar char="•"/>
            </a:pPr>
            <a:r>
              <a:rPr lang="en-US" sz="2000" dirty="0">
                <a:latin typeface="Body Level 1"/>
              </a:rPr>
              <a:t>Validate first name (only alphabets), last name (only alphabets), contact number(10 digits) and email-id. </a:t>
            </a:r>
          </a:p>
          <a:p>
            <a:pPr marL="342900" indent="-342900">
              <a:buFont typeface="Arial" panose="020B0604020202020204" pitchFamily="34" charset="0"/>
              <a:buChar char="•"/>
            </a:pPr>
            <a:r>
              <a:rPr lang="en-US" sz="2000" dirty="0">
                <a:latin typeface="Body Level 1"/>
              </a:rPr>
              <a:t>Make sure all the fields are required.</a:t>
            </a:r>
          </a:p>
          <a:p>
            <a:pPr marL="342900" indent="-342900">
              <a:buFont typeface="Arial" panose="020B0604020202020204" pitchFamily="34" charset="0"/>
              <a:buChar char="•"/>
            </a:pPr>
            <a:r>
              <a:rPr lang="en-US" sz="2000" dirty="0">
                <a:latin typeface="Body Level 1"/>
              </a:rPr>
              <a:t>Once user submits the page, the new page should open saying “Welcome User”. Try http method as get and post also</a:t>
            </a:r>
          </a:p>
        </p:txBody>
      </p:sp>
      <p:pic>
        <p:nvPicPr>
          <p:cNvPr id="3" name="Picture 2">
            <a:extLst>
              <a:ext uri="{FF2B5EF4-FFF2-40B4-BE49-F238E27FC236}">
                <a16:creationId xmlns:a16="http://schemas.microsoft.com/office/drawing/2014/main" id="{AB7294A0-6B3C-40C8-8A0F-ED0DA572690C}"/>
              </a:ext>
            </a:extLst>
          </p:cNvPr>
          <p:cNvPicPr>
            <a:picLocks noChangeAspect="1"/>
          </p:cNvPicPr>
          <p:nvPr/>
        </p:nvPicPr>
        <p:blipFill>
          <a:blip r:embed="rId2"/>
          <a:stretch>
            <a:fillRect/>
          </a:stretch>
        </p:blipFill>
        <p:spPr>
          <a:xfrm>
            <a:off x="4419600" y="1600200"/>
            <a:ext cx="4541572" cy="4124325"/>
          </a:xfrm>
          <a:prstGeom prst="rect">
            <a:avLst/>
          </a:prstGeom>
        </p:spPr>
      </p:pic>
    </p:spTree>
    <p:extLst>
      <p:ext uri="{BB962C8B-B14F-4D97-AF65-F5344CB8AC3E}">
        <p14:creationId xmlns:p14="http://schemas.microsoft.com/office/powerpoint/2010/main" val="6871770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E5BF-3AAC-4441-AC69-AE105E0E3E93}"/>
              </a:ext>
            </a:extLst>
          </p:cNvPr>
          <p:cNvSpPr>
            <a:spLocks noGrp="1"/>
          </p:cNvSpPr>
          <p:nvPr>
            <p:ph type="title"/>
          </p:nvPr>
        </p:nvSpPr>
        <p:spPr/>
        <p:txBody>
          <a:bodyPr/>
          <a:lstStyle/>
          <a:p>
            <a:r>
              <a:rPr lang="en-US" dirty="0"/>
              <a:t>HTML5 Semantic elements</a:t>
            </a:r>
          </a:p>
        </p:txBody>
      </p:sp>
      <p:pic>
        <p:nvPicPr>
          <p:cNvPr id="4" name="Content Placeholder 3">
            <a:extLst>
              <a:ext uri="{FF2B5EF4-FFF2-40B4-BE49-F238E27FC236}">
                <a16:creationId xmlns:a16="http://schemas.microsoft.com/office/drawing/2014/main" id="{2A59F608-51D9-47FA-84C6-936C53347F6B}"/>
              </a:ext>
            </a:extLst>
          </p:cNvPr>
          <p:cNvPicPr>
            <a:picLocks noGrp="1" noChangeAspect="1"/>
          </p:cNvPicPr>
          <p:nvPr>
            <p:ph idx="1"/>
          </p:nvPr>
        </p:nvPicPr>
        <p:blipFill>
          <a:blip r:embed="rId2"/>
          <a:stretch>
            <a:fillRect/>
          </a:stretch>
        </p:blipFill>
        <p:spPr>
          <a:xfrm>
            <a:off x="5562600" y="1735049"/>
            <a:ext cx="2743200" cy="4140437"/>
          </a:xfrm>
          <a:prstGeom prst="rect">
            <a:avLst/>
          </a:prstGeom>
        </p:spPr>
      </p:pic>
      <p:sp>
        <p:nvSpPr>
          <p:cNvPr id="5" name="Rectangle 4">
            <a:extLst>
              <a:ext uri="{FF2B5EF4-FFF2-40B4-BE49-F238E27FC236}">
                <a16:creationId xmlns:a16="http://schemas.microsoft.com/office/drawing/2014/main" id="{82C3E802-94E9-4F14-8029-8E7581E0E334}"/>
              </a:ext>
            </a:extLst>
          </p:cNvPr>
          <p:cNvSpPr/>
          <p:nvPr/>
        </p:nvSpPr>
        <p:spPr>
          <a:xfrm>
            <a:off x="336986" y="1143001"/>
            <a:ext cx="4616014" cy="5324535"/>
          </a:xfrm>
          <a:prstGeom prst="rect">
            <a:avLst/>
          </a:prstGeom>
        </p:spPr>
        <p:txBody>
          <a:bodyPr wrap="square">
            <a:spAutoFit/>
          </a:bodyPr>
          <a:lstStyle/>
          <a:p>
            <a:r>
              <a:rPr lang="en-US" sz="2000" dirty="0">
                <a:latin typeface="Body Level 1"/>
              </a:rPr>
              <a:t>Semantic elements = elements with a meaning. </a:t>
            </a:r>
          </a:p>
          <a:p>
            <a:endParaRPr lang="en-US" sz="2000" dirty="0">
              <a:latin typeface="Body Level 1"/>
            </a:endParaRPr>
          </a:p>
          <a:p>
            <a:pPr marL="285750" indent="-285750">
              <a:buFont typeface="Arial" panose="020B0604020202020204" pitchFamily="34" charset="0"/>
              <a:buChar char="•"/>
            </a:pPr>
            <a:r>
              <a:rPr lang="en-US" sz="2000" dirty="0">
                <a:latin typeface="Body Level 1"/>
              </a:rPr>
              <a:t>&lt;article&gt;</a:t>
            </a:r>
          </a:p>
          <a:p>
            <a:pPr marL="285750" indent="-285750">
              <a:buFont typeface="Arial" panose="020B0604020202020204" pitchFamily="34" charset="0"/>
              <a:buChar char="•"/>
            </a:pPr>
            <a:r>
              <a:rPr lang="en-US" sz="2000" dirty="0">
                <a:latin typeface="Body Level 1"/>
              </a:rPr>
              <a:t>&lt;aside&gt;</a:t>
            </a:r>
          </a:p>
          <a:p>
            <a:pPr marL="285750" indent="-285750">
              <a:buFont typeface="Arial" panose="020B0604020202020204" pitchFamily="34" charset="0"/>
              <a:buChar char="•"/>
            </a:pPr>
            <a:r>
              <a:rPr lang="en-US" sz="2000" dirty="0">
                <a:latin typeface="Body Level 1"/>
              </a:rPr>
              <a:t>&lt;details&gt;</a:t>
            </a:r>
          </a:p>
          <a:p>
            <a:pPr marL="285750" indent="-285750">
              <a:buFont typeface="Arial" panose="020B0604020202020204" pitchFamily="34" charset="0"/>
              <a:buChar char="•"/>
            </a:pPr>
            <a:r>
              <a:rPr lang="en-US" sz="2000" dirty="0">
                <a:latin typeface="Body Level 1"/>
              </a:rPr>
              <a:t>&lt;</a:t>
            </a:r>
            <a:r>
              <a:rPr lang="en-US" sz="2000" dirty="0" err="1">
                <a:latin typeface="Body Level 1"/>
              </a:rPr>
              <a:t>figcaption</a:t>
            </a:r>
            <a:r>
              <a:rPr lang="en-US" sz="2000" dirty="0">
                <a:latin typeface="Body Level 1"/>
              </a:rPr>
              <a:t>&gt;</a:t>
            </a:r>
          </a:p>
          <a:p>
            <a:pPr marL="285750" indent="-285750">
              <a:buFont typeface="Arial" panose="020B0604020202020204" pitchFamily="34" charset="0"/>
              <a:buChar char="•"/>
            </a:pPr>
            <a:r>
              <a:rPr lang="en-US" sz="2000" dirty="0">
                <a:latin typeface="Body Level 1"/>
              </a:rPr>
              <a:t>&lt;figure&gt;</a:t>
            </a:r>
          </a:p>
          <a:p>
            <a:pPr marL="285750" indent="-285750">
              <a:buFont typeface="Arial" panose="020B0604020202020204" pitchFamily="34" charset="0"/>
              <a:buChar char="•"/>
            </a:pPr>
            <a:r>
              <a:rPr lang="en-US" sz="2000" dirty="0">
                <a:latin typeface="Body Level 1"/>
              </a:rPr>
              <a:t>&lt;footer&gt;</a:t>
            </a:r>
          </a:p>
          <a:p>
            <a:pPr marL="285750" indent="-285750">
              <a:buFont typeface="Arial" panose="020B0604020202020204" pitchFamily="34" charset="0"/>
              <a:buChar char="•"/>
            </a:pPr>
            <a:r>
              <a:rPr lang="en-US" sz="2000" dirty="0">
                <a:latin typeface="Body Level 1"/>
              </a:rPr>
              <a:t>&lt;header&gt;</a:t>
            </a:r>
          </a:p>
          <a:p>
            <a:pPr marL="285750" indent="-285750">
              <a:buFont typeface="Arial" panose="020B0604020202020204" pitchFamily="34" charset="0"/>
              <a:buChar char="•"/>
            </a:pPr>
            <a:r>
              <a:rPr lang="en-US" sz="2000" dirty="0">
                <a:latin typeface="Body Level 1"/>
              </a:rPr>
              <a:t>&lt;main&gt;</a:t>
            </a:r>
          </a:p>
          <a:p>
            <a:pPr marL="285750" indent="-285750">
              <a:buFont typeface="Arial" panose="020B0604020202020204" pitchFamily="34" charset="0"/>
              <a:buChar char="•"/>
            </a:pPr>
            <a:r>
              <a:rPr lang="en-US" sz="2000" dirty="0">
                <a:latin typeface="Body Level 1"/>
              </a:rPr>
              <a:t>&lt;mark&gt;</a:t>
            </a:r>
          </a:p>
          <a:p>
            <a:pPr marL="285750" indent="-285750">
              <a:buFont typeface="Arial" panose="020B0604020202020204" pitchFamily="34" charset="0"/>
              <a:buChar char="•"/>
            </a:pPr>
            <a:r>
              <a:rPr lang="en-US" sz="2000" dirty="0">
                <a:latin typeface="Body Level 1"/>
              </a:rPr>
              <a:t>&lt;nav&gt;</a:t>
            </a:r>
          </a:p>
          <a:p>
            <a:pPr marL="285750" indent="-285750">
              <a:buFont typeface="Arial" panose="020B0604020202020204" pitchFamily="34" charset="0"/>
              <a:buChar char="•"/>
            </a:pPr>
            <a:r>
              <a:rPr lang="en-US" sz="2000" dirty="0">
                <a:latin typeface="Body Level 1"/>
              </a:rPr>
              <a:t>&lt;section&gt;</a:t>
            </a:r>
          </a:p>
          <a:p>
            <a:pPr marL="285750" indent="-285750">
              <a:buFont typeface="Arial" panose="020B0604020202020204" pitchFamily="34" charset="0"/>
              <a:buChar char="•"/>
            </a:pPr>
            <a:r>
              <a:rPr lang="en-US" sz="2000" dirty="0">
                <a:latin typeface="Body Level 1"/>
              </a:rPr>
              <a:t>&lt;summary&gt;</a:t>
            </a:r>
          </a:p>
          <a:p>
            <a:pPr marL="285750" indent="-285750">
              <a:buFont typeface="Arial" panose="020B0604020202020204" pitchFamily="34" charset="0"/>
              <a:buChar char="•"/>
            </a:pPr>
            <a:r>
              <a:rPr lang="en-US" sz="2000" dirty="0">
                <a:latin typeface="Body Level 1"/>
              </a:rPr>
              <a:t>&lt;time&gt;</a:t>
            </a:r>
          </a:p>
          <a:p>
            <a:endParaRPr lang="en-US" sz="2000" b="0" i="0" dirty="0">
              <a:effectLst/>
              <a:latin typeface="Body Level 1"/>
            </a:endParaRPr>
          </a:p>
        </p:txBody>
      </p:sp>
    </p:spTree>
    <p:extLst>
      <p:ext uri="{BB962C8B-B14F-4D97-AF65-F5344CB8AC3E}">
        <p14:creationId xmlns:p14="http://schemas.microsoft.com/office/powerpoint/2010/main" val="1298595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What is CSS</a:t>
            </a:r>
          </a:p>
        </p:txBody>
      </p:sp>
      <p:sp>
        <p:nvSpPr>
          <p:cNvPr id="5" name="Slide Number Placeholder 4"/>
          <p:cNvSpPr>
            <a:spLocks noGrp="1"/>
          </p:cNvSpPr>
          <p:nvPr>
            <p:ph type="sldNum" sz="quarter" idx="12"/>
          </p:nvPr>
        </p:nvSpPr>
        <p:spPr>
          <a:prstGeom prst="rect">
            <a:avLst/>
          </a:prstGeom>
        </p:spPr>
        <p:txBody>
          <a:bodyPr vert="horz" lIns="0" tIns="0" rIns="0" bIns="0" anchor="b">
            <a:normAutofit fontScale="25000" lnSpcReduction="20000"/>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50</a:t>
            </a:fld>
            <a:endParaRPr lang="en-US"/>
          </a:p>
        </p:txBody>
      </p:sp>
      <p:sp>
        <p:nvSpPr>
          <p:cNvPr id="8" name="Rectangle 7"/>
          <p:cNvSpPr/>
          <p:nvPr/>
        </p:nvSpPr>
        <p:spPr>
          <a:xfrm>
            <a:off x="685800" y="1066800"/>
            <a:ext cx="8534400" cy="707886"/>
          </a:xfrm>
          <a:prstGeom prst="rect">
            <a:avLst/>
          </a:prstGeom>
        </p:spPr>
        <p:txBody>
          <a:bodyPr wrap="square">
            <a:spAutoFit/>
          </a:bodyPr>
          <a:lstStyle/>
          <a:p>
            <a:endParaRPr lang="en-US" sz="2000" dirty="0"/>
          </a:p>
          <a:p>
            <a:endParaRPr lang="en-US" sz="2000" dirty="0"/>
          </a:p>
        </p:txBody>
      </p:sp>
      <p:sp>
        <p:nvSpPr>
          <p:cNvPr id="3" name="TextBox 2">
            <a:extLst>
              <a:ext uri="{FF2B5EF4-FFF2-40B4-BE49-F238E27FC236}">
                <a16:creationId xmlns:a16="http://schemas.microsoft.com/office/drawing/2014/main" id="{705137CD-F3CA-434F-A4F3-8D22A28F4B2D}"/>
              </a:ext>
            </a:extLst>
          </p:cNvPr>
          <p:cNvSpPr txBox="1"/>
          <p:nvPr/>
        </p:nvSpPr>
        <p:spPr>
          <a:xfrm>
            <a:off x="413479" y="1295400"/>
            <a:ext cx="8273321" cy="2246769"/>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Body Level 1"/>
              </a:rPr>
              <a:t>CSS stands for Cascading Style Sheets</a:t>
            </a:r>
          </a:p>
          <a:p>
            <a:pPr marL="342900" indent="-342900">
              <a:buFont typeface="Arial" panose="020B0604020202020204" pitchFamily="34" charset="0"/>
              <a:buChar char="•"/>
            </a:pPr>
            <a:r>
              <a:rPr lang="en-US" sz="2000" dirty="0">
                <a:latin typeface="Body Level 1"/>
              </a:rPr>
              <a:t>CSS describes how HTML elements are to be displayed on screen, paper, or in other media</a:t>
            </a:r>
          </a:p>
          <a:p>
            <a:pPr marL="342900" indent="-342900">
              <a:buFont typeface="Arial" panose="020B0604020202020204" pitchFamily="34" charset="0"/>
              <a:buChar char="•"/>
            </a:pPr>
            <a:r>
              <a:rPr lang="en-US" sz="2000" dirty="0">
                <a:latin typeface="Body Level 1"/>
              </a:rPr>
              <a:t>CSS saves a lot of work. It can control the layout of multiple web pages all at once</a:t>
            </a:r>
          </a:p>
          <a:p>
            <a:pPr marL="342900" indent="-342900">
              <a:buFont typeface="Arial" panose="020B0604020202020204" pitchFamily="34" charset="0"/>
              <a:buChar char="•"/>
            </a:pPr>
            <a:r>
              <a:rPr lang="en-US" sz="2000" dirty="0">
                <a:latin typeface="Body Level 1"/>
              </a:rPr>
              <a:t>External stylesheets are stored in CSS files</a:t>
            </a:r>
          </a:p>
          <a:p>
            <a:pPr marL="342900" indent="-342900">
              <a:buFont typeface="Arial" panose="020B0604020202020204" pitchFamily="34" charset="0"/>
              <a:buChar char="•"/>
            </a:pPr>
            <a:endParaRPr lang="en-US" sz="2000" dirty="0">
              <a:latin typeface="Body Level 1"/>
            </a:endParaRPr>
          </a:p>
        </p:txBody>
      </p:sp>
    </p:spTree>
    <p:extLst>
      <p:ext uri="{BB962C8B-B14F-4D97-AF65-F5344CB8AC3E}">
        <p14:creationId xmlns:p14="http://schemas.microsoft.com/office/powerpoint/2010/main" val="244806064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001000" cy="685800"/>
          </a:xfrm>
        </p:spPr>
        <p:txBody>
          <a:bodyPr/>
          <a:lstStyle/>
          <a:p>
            <a:pPr>
              <a:defRPr/>
            </a:pPr>
            <a:r>
              <a:rPr lang="en-US" dirty="0"/>
              <a:t>Selectors</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51</a:t>
            </a:fld>
            <a:endParaRPr lang="en-US"/>
          </a:p>
        </p:txBody>
      </p:sp>
      <p:sp>
        <p:nvSpPr>
          <p:cNvPr id="7" name="Rectangle 6"/>
          <p:cNvSpPr/>
          <p:nvPr/>
        </p:nvSpPr>
        <p:spPr>
          <a:xfrm>
            <a:off x="533400" y="1295400"/>
            <a:ext cx="8001000" cy="2246769"/>
          </a:xfrm>
          <a:prstGeom prst="rect">
            <a:avLst/>
          </a:prstGeom>
        </p:spPr>
        <p:txBody>
          <a:bodyPr wrap="square">
            <a:spAutoFit/>
          </a:bodyPr>
          <a:lstStyle/>
          <a:p>
            <a:r>
              <a:rPr lang="en-US" sz="2000" dirty="0">
                <a:latin typeface="Body Level 1"/>
              </a:rPr>
              <a:t>Selectors are something using which we can select the HTML elements.</a:t>
            </a:r>
          </a:p>
          <a:p>
            <a:r>
              <a:rPr lang="en-US" sz="2000" dirty="0">
                <a:latin typeface="Body Level 1"/>
              </a:rPr>
              <a:t>Below are different types of selectors.</a:t>
            </a:r>
          </a:p>
          <a:p>
            <a:pPr>
              <a:buFont typeface="Arial" pitchFamily="34" charset="0"/>
              <a:buChar char="•"/>
            </a:pPr>
            <a:endParaRPr lang="en-US" sz="2000" dirty="0">
              <a:latin typeface="Body Level 1"/>
            </a:endParaRPr>
          </a:p>
          <a:p>
            <a:pPr>
              <a:buFont typeface="Arial" pitchFamily="34" charset="0"/>
              <a:buChar char="•"/>
            </a:pPr>
            <a:r>
              <a:rPr lang="en-US" sz="2000" dirty="0">
                <a:latin typeface="Body Level 1"/>
              </a:rPr>
              <a:t>Element Selector : p {</a:t>
            </a:r>
            <a:r>
              <a:rPr lang="en-US" sz="2000" dirty="0" err="1">
                <a:latin typeface="Body Level 1"/>
              </a:rPr>
              <a:t>color:red</a:t>
            </a:r>
            <a:r>
              <a:rPr lang="en-US" sz="2000" dirty="0">
                <a:latin typeface="Body Level 1"/>
              </a:rPr>
              <a:t>;}</a:t>
            </a:r>
          </a:p>
          <a:p>
            <a:pPr>
              <a:buFont typeface="Arial" pitchFamily="34" charset="0"/>
              <a:buChar char="•"/>
            </a:pPr>
            <a:r>
              <a:rPr lang="en-US" sz="2000" dirty="0">
                <a:latin typeface="Body Level 1"/>
              </a:rPr>
              <a:t>Class Selector :  .c1{</a:t>
            </a:r>
            <a:r>
              <a:rPr lang="en-US" sz="2000" dirty="0" err="1">
                <a:latin typeface="Body Level 1"/>
              </a:rPr>
              <a:t>color:red</a:t>
            </a:r>
            <a:r>
              <a:rPr lang="en-US" sz="2000" dirty="0">
                <a:latin typeface="Body Level 1"/>
              </a:rPr>
              <a:t>;}</a:t>
            </a:r>
          </a:p>
          <a:p>
            <a:pPr>
              <a:buFont typeface="Arial" pitchFamily="34" charset="0"/>
              <a:buChar char="•"/>
            </a:pPr>
            <a:r>
              <a:rPr lang="en-US" sz="2000" dirty="0">
                <a:latin typeface="Body Level 1"/>
              </a:rPr>
              <a:t>Id Selector : #id1{</a:t>
            </a:r>
            <a:r>
              <a:rPr lang="en-US" sz="2000" dirty="0" err="1">
                <a:latin typeface="Body Level 1"/>
              </a:rPr>
              <a:t>color:red</a:t>
            </a:r>
            <a:r>
              <a:rPr lang="en-US" sz="2000" dirty="0">
                <a:latin typeface="Body Level 1"/>
              </a:rPr>
              <a:t>;}</a:t>
            </a:r>
          </a:p>
          <a:p>
            <a:pPr>
              <a:buFont typeface="Arial" pitchFamily="34" charset="0"/>
              <a:buChar char="•"/>
            </a:pPr>
            <a:r>
              <a:rPr lang="en-US" sz="2000" dirty="0">
                <a:latin typeface="Body Level 1"/>
              </a:rPr>
              <a:t>Universal Selector : # {</a:t>
            </a:r>
            <a:r>
              <a:rPr lang="en-US" sz="2000" dirty="0" err="1">
                <a:latin typeface="Body Level 1"/>
              </a:rPr>
              <a:t>color:red</a:t>
            </a:r>
            <a:r>
              <a:rPr lang="en-US" sz="2000" dirty="0">
                <a:latin typeface="Body Level 1"/>
              </a:rPr>
              <a:t>;}</a:t>
            </a:r>
          </a:p>
        </p:txBody>
      </p:sp>
    </p:spTree>
    <p:extLst>
      <p:ext uri="{BB962C8B-B14F-4D97-AF65-F5344CB8AC3E}">
        <p14:creationId xmlns:p14="http://schemas.microsoft.com/office/powerpoint/2010/main" val="306976247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254354"/>
            <a:ext cx="7772400" cy="685800"/>
          </a:xfrm>
        </p:spPr>
        <p:txBody>
          <a:bodyPr>
            <a:normAutofit/>
          </a:bodyPr>
          <a:lstStyle/>
          <a:p>
            <a:r>
              <a:rPr lang="en-US" dirty="0"/>
              <a:t> Types of Styling</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52</a:t>
            </a:fld>
            <a:endParaRPr lang="en-US"/>
          </a:p>
        </p:txBody>
      </p:sp>
      <p:sp>
        <p:nvSpPr>
          <p:cNvPr id="8" name="Rectangle 7"/>
          <p:cNvSpPr/>
          <p:nvPr/>
        </p:nvSpPr>
        <p:spPr>
          <a:xfrm>
            <a:off x="417226" y="1066800"/>
            <a:ext cx="4419598" cy="4708981"/>
          </a:xfrm>
          <a:prstGeom prst="rect">
            <a:avLst/>
          </a:prstGeom>
        </p:spPr>
        <p:txBody>
          <a:bodyPr wrap="square">
            <a:spAutoFit/>
          </a:bodyPr>
          <a:lstStyle/>
          <a:p>
            <a:pPr marL="342900" indent="-342900">
              <a:buFont typeface="Arial" panose="020B0604020202020204" pitchFamily="34" charset="0"/>
              <a:buChar char="•"/>
            </a:pPr>
            <a:r>
              <a:rPr lang="en-US" sz="2000" dirty="0">
                <a:latin typeface="Body Level 1"/>
              </a:rPr>
              <a:t>Inline Styling are CSS declarations that affect one element only, contained within a style attribute.</a:t>
            </a:r>
          </a:p>
          <a:p>
            <a:pPr marL="342900" indent="-342900">
              <a:buFont typeface="Arial" panose="020B0604020202020204" pitchFamily="34" charset="0"/>
              <a:buChar char="•"/>
            </a:pPr>
            <a:endParaRPr lang="en-US" sz="2000" dirty="0">
              <a:latin typeface="Body Level 1"/>
            </a:endParaRPr>
          </a:p>
          <a:p>
            <a:pPr marL="342900" indent="-342900">
              <a:buFont typeface="Arial" panose="020B0604020202020204" pitchFamily="34" charset="0"/>
              <a:buChar char="•"/>
            </a:pPr>
            <a:r>
              <a:rPr lang="en-US" sz="2000" dirty="0">
                <a:latin typeface="Body Level 1"/>
              </a:rPr>
              <a:t>Internal Styling is where you don't have an external CSS file, but instead place your CSS inside a &lt;style&gt; element, contained inside the HTML head.</a:t>
            </a:r>
          </a:p>
          <a:p>
            <a:pPr marL="342900" indent="-342900">
              <a:buFont typeface="Arial" panose="020B0604020202020204" pitchFamily="34" charset="0"/>
              <a:buChar char="•"/>
            </a:pPr>
            <a:endParaRPr lang="en-US" sz="2000" dirty="0">
              <a:latin typeface="Body Level 1"/>
            </a:endParaRPr>
          </a:p>
          <a:p>
            <a:pPr marL="342900" indent="-342900">
              <a:buFont typeface="Arial" panose="020B0604020202020204" pitchFamily="34" charset="0"/>
              <a:buChar char="•"/>
            </a:pPr>
            <a:r>
              <a:rPr lang="en-US" sz="2000" dirty="0">
                <a:latin typeface="Body Level 1"/>
              </a:rPr>
              <a:t>An external stylesheet is when you have your CSS written in a separate file with a .</a:t>
            </a:r>
            <a:r>
              <a:rPr lang="en-US" sz="2000" dirty="0" err="1">
                <a:latin typeface="Body Level 1"/>
              </a:rPr>
              <a:t>css</a:t>
            </a:r>
            <a:r>
              <a:rPr lang="en-US" sz="2000" dirty="0">
                <a:latin typeface="Body Level 1"/>
              </a:rPr>
              <a:t> extension, and you reference it from an HTML &lt;link&gt; element.</a:t>
            </a:r>
          </a:p>
        </p:txBody>
      </p:sp>
      <p:pic>
        <p:nvPicPr>
          <p:cNvPr id="3" name="Picture 2">
            <a:extLst>
              <a:ext uri="{FF2B5EF4-FFF2-40B4-BE49-F238E27FC236}">
                <a16:creationId xmlns:a16="http://schemas.microsoft.com/office/drawing/2014/main" id="{C87F7067-D203-46F1-80BC-A9C2D8574531}"/>
              </a:ext>
            </a:extLst>
          </p:cNvPr>
          <p:cNvPicPr>
            <a:picLocks noChangeAspect="1"/>
          </p:cNvPicPr>
          <p:nvPr/>
        </p:nvPicPr>
        <p:blipFill>
          <a:blip r:embed="rId3"/>
          <a:stretch>
            <a:fillRect/>
          </a:stretch>
        </p:blipFill>
        <p:spPr>
          <a:xfrm>
            <a:off x="4849316" y="1211069"/>
            <a:ext cx="4267200" cy="782788"/>
          </a:xfrm>
          <a:prstGeom prst="rect">
            <a:avLst/>
          </a:prstGeom>
          <a:ln>
            <a:solidFill>
              <a:schemeClr val="tx2"/>
            </a:solidFill>
          </a:ln>
        </p:spPr>
      </p:pic>
      <p:pic>
        <p:nvPicPr>
          <p:cNvPr id="6" name="Picture 5">
            <a:extLst>
              <a:ext uri="{FF2B5EF4-FFF2-40B4-BE49-F238E27FC236}">
                <a16:creationId xmlns:a16="http://schemas.microsoft.com/office/drawing/2014/main" id="{221768C0-792A-4B3C-8EFC-E30D92E06215}"/>
              </a:ext>
            </a:extLst>
          </p:cNvPr>
          <p:cNvPicPr>
            <a:picLocks noChangeAspect="1"/>
          </p:cNvPicPr>
          <p:nvPr/>
        </p:nvPicPr>
        <p:blipFill>
          <a:blip r:embed="rId4"/>
          <a:stretch>
            <a:fillRect/>
          </a:stretch>
        </p:blipFill>
        <p:spPr>
          <a:xfrm>
            <a:off x="4876800" y="2405139"/>
            <a:ext cx="3429000" cy="1040100"/>
          </a:xfrm>
          <a:prstGeom prst="rect">
            <a:avLst/>
          </a:prstGeom>
          <a:ln>
            <a:solidFill>
              <a:schemeClr val="tx1"/>
            </a:solidFill>
          </a:ln>
        </p:spPr>
      </p:pic>
      <p:pic>
        <p:nvPicPr>
          <p:cNvPr id="7" name="Picture 6">
            <a:extLst>
              <a:ext uri="{FF2B5EF4-FFF2-40B4-BE49-F238E27FC236}">
                <a16:creationId xmlns:a16="http://schemas.microsoft.com/office/drawing/2014/main" id="{AA7FBA63-8229-4ECA-9716-8CA8E5AB2046}"/>
              </a:ext>
            </a:extLst>
          </p:cNvPr>
          <p:cNvPicPr>
            <a:picLocks noChangeAspect="1"/>
          </p:cNvPicPr>
          <p:nvPr/>
        </p:nvPicPr>
        <p:blipFill>
          <a:blip r:embed="rId5"/>
          <a:stretch>
            <a:fillRect/>
          </a:stretch>
        </p:blipFill>
        <p:spPr>
          <a:xfrm>
            <a:off x="4873676" y="4784378"/>
            <a:ext cx="4218480" cy="1263726"/>
          </a:xfrm>
          <a:prstGeom prst="rect">
            <a:avLst/>
          </a:prstGeom>
          <a:ln>
            <a:solidFill>
              <a:schemeClr val="tx1"/>
            </a:solidFill>
          </a:ln>
        </p:spPr>
      </p:pic>
      <p:pic>
        <p:nvPicPr>
          <p:cNvPr id="4" name="Picture 3">
            <a:extLst>
              <a:ext uri="{FF2B5EF4-FFF2-40B4-BE49-F238E27FC236}">
                <a16:creationId xmlns:a16="http://schemas.microsoft.com/office/drawing/2014/main" id="{DE388883-8433-42A3-BA5D-7036A08DD184}"/>
              </a:ext>
            </a:extLst>
          </p:cNvPr>
          <p:cNvPicPr>
            <a:picLocks noChangeAspect="1"/>
          </p:cNvPicPr>
          <p:nvPr/>
        </p:nvPicPr>
        <p:blipFill>
          <a:blip r:embed="rId6"/>
          <a:stretch>
            <a:fillRect/>
          </a:stretch>
        </p:blipFill>
        <p:spPr>
          <a:xfrm>
            <a:off x="4836824" y="4244531"/>
            <a:ext cx="4265101" cy="242680"/>
          </a:xfrm>
          <a:prstGeom prst="rect">
            <a:avLst/>
          </a:prstGeom>
          <a:ln>
            <a:solidFill>
              <a:schemeClr val="tx1"/>
            </a:solidFill>
          </a:ln>
        </p:spPr>
      </p:pic>
    </p:spTree>
    <p:extLst>
      <p:ext uri="{BB962C8B-B14F-4D97-AF65-F5344CB8AC3E}">
        <p14:creationId xmlns:p14="http://schemas.microsoft.com/office/powerpoint/2010/main" val="3006202757"/>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249" y="274837"/>
            <a:ext cx="7772400" cy="685800"/>
          </a:xfrm>
        </p:spPr>
        <p:txBody>
          <a:bodyPr>
            <a:normAutofit/>
          </a:bodyPr>
          <a:lstStyle/>
          <a:p>
            <a:r>
              <a:rPr lang="en-US" dirty="0"/>
              <a:t> CSS Box Model</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53</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685801" y="2294792"/>
            <a:ext cx="8658225" cy="3467100"/>
          </a:xfrm>
          <a:prstGeom prst="rect">
            <a:avLst/>
          </a:prstGeom>
          <a:noFill/>
          <a:ln w="9525">
            <a:solidFill>
              <a:schemeClr val="tx1"/>
            </a:solidFill>
            <a:miter lim="800000"/>
            <a:headEnd/>
            <a:tailEnd/>
          </a:ln>
        </p:spPr>
      </p:pic>
      <p:sp>
        <p:nvSpPr>
          <p:cNvPr id="8" name="Rectangle 7"/>
          <p:cNvSpPr/>
          <p:nvPr/>
        </p:nvSpPr>
        <p:spPr>
          <a:xfrm>
            <a:off x="685800" y="1066801"/>
            <a:ext cx="8534400" cy="1015663"/>
          </a:xfrm>
          <a:prstGeom prst="rect">
            <a:avLst/>
          </a:prstGeom>
        </p:spPr>
        <p:txBody>
          <a:bodyPr wrap="square">
            <a:spAutoFit/>
          </a:bodyPr>
          <a:lstStyle/>
          <a:p>
            <a:r>
              <a:rPr lang="en-US" sz="2000" dirty="0">
                <a:latin typeface="Body Level 1"/>
              </a:rPr>
              <a:t>All HTML elements can be considered as boxes. In CSS, the term "box model" is used when talking about design and layout.</a:t>
            </a:r>
          </a:p>
          <a:p>
            <a:endParaRPr lang="en-US" sz="2000" dirty="0"/>
          </a:p>
        </p:txBody>
      </p:sp>
    </p:spTree>
    <p:extLst>
      <p:ext uri="{BB962C8B-B14F-4D97-AF65-F5344CB8AC3E}">
        <p14:creationId xmlns:p14="http://schemas.microsoft.com/office/powerpoint/2010/main" val="419896148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772400" cy="685800"/>
          </a:xfrm>
        </p:spPr>
        <p:txBody>
          <a:bodyPr>
            <a:normAutofit/>
          </a:bodyPr>
          <a:lstStyle/>
          <a:p>
            <a:r>
              <a:rPr lang="en-US" dirty="0"/>
              <a:t> Font property</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54</a:t>
            </a:fld>
            <a:endParaRPr lang="en-US"/>
          </a:p>
        </p:txBody>
      </p:sp>
      <p:sp>
        <p:nvSpPr>
          <p:cNvPr id="8" name="Rectangle 7"/>
          <p:cNvSpPr/>
          <p:nvPr/>
        </p:nvSpPr>
        <p:spPr>
          <a:xfrm>
            <a:off x="533400" y="1143000"/>
            <a:ext cx="8991600" cy="2246769"/>
          </a:xfrm>
          <a:prstGeom prst="rect">
            <a:avLst/>
          </a:prstGeom>
        </p:spPr>
        <p:txBody>
          <a:bodyPr wrap="square">
            <a:spAutoFit/>
          </a:bodyPr>
          <a:lstStyle/>
          <a:p>
            <a:r>
              <a:rPr lang="en-US" sz="2000" dirty="0">
                <a:latin typeface="Body Level 1"/>
              </a:rPr>
              <a:t>The CSS font properties define the font family, boldness, size, and the style of a text.</a:t>
            </a:r>
          </a:p>
          <a:p>
            <a:endParaRPr lang="en-US" sz="2000" dirty="0">
              <a:latin typeface="Body Level 1"/>
            </a:endParaRPr>
          </a:p>
          <a:p>
            <a:pPr marL="342900" indent="-342900">
              <a:buFont typeface="Arial" panose="020B0604020202020204" pitchFamily="34" charset="0"/>
              <a:buChar char="•"/>
            </a:pPr>
            <a:r>
              <a:rPr lang="en-US" sz="2000" dirty="0">
                <a:latin typeface="Body Level 1"/>
              </a:rPr>
              <a:t>font-family: "Times New Roman", Times, serif;</a:t>
            </a:r>
          </a:p>
          <a:p>
            <a:pPr marL="342900" indent="-342900">
              <a:buFont typeface="Arial" panose="020B0604020202020204" pitchFamily="34" charset="0"/>
              <a:buChar char="•"/>
            </a:pPr>
            <a:r>
              <a:rPr lang="en-US" sz="2000" dirty="0">
                <a:latin typeface="Body Level 1"/>
              </a:rPr>
              <a:t>font-style : normal| italic| oblique;</a:t>
            </a:r>
          </a:p>
          <a:p>
            <a:pPr marL="342900" indent="-342900">
              <a:buFont typeface="Arial" panose="020B0604020202020204" pitchFamily="34" charset="0"/>
              <a:buChar char="•"/>
            </a:pPr>
            <a:r>
              <a:rPr lang="en-US" sz="2000" dirty="0">
                <a:latin typeface="Body Level 1"/>
              </a:rPr>
              <a:t>font-size: 10px| 10%;</a:t>
            </a:r>
          </a:p>
          <a:p>
            <a:pPr marL="342900" indent="-342900">
              <a:buFont typeface="Arial" panose="020B0604020202020204" pitchFamily="34" charset="0"/>
              <a:buChar char="•"/>
            </a:pPr>
            <a:r>
              <a:rPr lang="en-US" sz="2000" dirty="0">
                <a:latin typeface="Body Level 1"/>
              </a:rPr>
              <a:t>font-weight: normal | bold| 100-900;</a:t>
            </a:r>
          </a:p>
          <a:p>
            <a:pPr marL="342900" indent="-342900">
              <a:buFont typeface="Arial" panose="020B0604020202020204" pitchFamily="34" charset="0"/>
              <a:buChar char="•"/>
            </a:pPr>
            <a:r>
              <a:rPr lang="en-US" sz="2000" dirty="0">
                <a:latin typeface="Body Level 1"/>
              </a:rPr>
              <a:t>font-variant: normal | small-caps;</a:t>
            </a:r>
          </a:p>
        </p:txBody>
      </p:sp>
    </p:spTree>
    <p:extLst>
      <p:ext uri="{BB962C8B-B14F-4D97-AF65-F5344CB8AC3E}">
        <p14:creationId xmlns:p14="http://schemas.microsoft.com/office/powerpoint/2010/main" val="67391014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99205"/>
            <a:ext cx="7772400" cy="685800"/>
          </a:xfrm>
        </p:spPr>
        <p:txBody>
          <a:bodyPr vert="horz" lIns="0" tIns="0" rIns="0" bIns="0" rtlCol="0" anchor="b">
            <a:normAutofit/>
          </a:bodyPr>
          <a:lstStyle/>
          <a:p>
            <a:r>
              <a:rPr lang="en-US" dirty="0"/>
              <a:t>  Border property</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55</a:t>
            </a:fld>
            <a:endParaRPr lang="en-US"/>
          </a:p>
        </p:txBody>
      </p:sp>
      <p:sp>
        <p:nvSpPr>
          <p:cNvPr id="8" name="Rectangle 7"/>
          <p:cNvSpPr/>
          <p:nvPr/>
        </p:nvSpPr>
        <p:spPr>
          <a:xfrm>
            <a:off x="533400" y="1143001"/>
            <a:ext cx="8991600" cy="4401205"/>
          </a:xfrm>
          <a:prstGeom prst="rect">
            <a:avLst/>
          </a:prstGeom>
        </p:spPr>
        <p:txBody>
          <a:bodyPr wrap="square">
            <a:spAutoFit/>
          </a:bodyPr>
          <a:lstStyle/>
          <a:p>
            <a:r>
              <a:rPr lang="en-US" sz="2000" dirty="0">
                <a:latin typeface="Body Level 1"/>
              </a:rPr>
              <a:t>The CSS border properties allow you to specify the style, width, and color of an element's border.</a:t>
            </a:r>
          </a:p>
          <a:p>
            <a:endParaRPr lang="en-US" sz="2000" dirty="0">
              <a:latin typeface="Body Level 1"/>
            </a:endParaRPr>
          </a:p>
          <a:p>
            <a:r>
              <a:rPr lang="en-US" sz="2000" dirty="0">
                <a:latin typeface="Body Level 1"/>
              </a:rPr>
              <a:t>CSS border properties:</a:t>
            </a:r>
          </a:p>
          <a:p>
            <a:pPr>
              <a:buFont typeface="Arial" pitchFamily="34" charset="0"/>
              <a:buChar char="•"/>
            </a:pPr>
            <a:endParaRPr lang="en-US" sz="2000" dirty="0">
              <a:latin typeface="Body Level 1"/>
            </a:endParaRPr>
          </a:p>
          <a:p>
            <a:pPr>
              <a:buFont typeface="Arial" pitchFamily="34" charset="0"/>
              <a:buChar char="•"/>
            </a:pPr>
            <a:r>
              <a:rPr lang="en-US" sz="2000" dirty="0">
                <a:latin typeface="Body Level 1"/>
              </a:rPr>
              <a:t>border-width: 2px;</a:t>
            </a:r>
          </a:p>
          <a:p>
            <a:pPr>
              <a:buFont typeface="Arial" pitchFamily="34" charset="0"/>
              <a:buChar char="•"/>
            </a:pPr>
            <a:r>
              <a:rPr lang="en-US" sz="2000" dirty="0">
                <a:latin typeface="Body Level 1"/>
              </a:rPr>
              <a:t>border-style: solid;</a:t>
            </a:r>
          </a:p>
          <a:p>
            <a:pPr>
              <a:buFont typeface="Arial" pitchFamily="34" charset="0"/>
              <a:buChar char="•"/>
            </a:pPr>
            <a:r>
              <a:rPr lang="en-US" sz="2000" dirty="0">
                <a:latin typeface="Body Level 1"/>
              </a:rPr>
              <a:t>border-color: red;</a:t>
            </a:r>
          </a:p>
          <a:p>
            <a:endParaRPr lang="en-US" sz="2000" dirty="0">
              <a:latin typeface="Body Level 1"/>
            </a:endParaRPr>
          </a:p>
          <a:p>
            <a:endParaRPr lang="en-US" sz="2000" dirty="0">
              <a:latin typeface="Body Level 1"/>
            </a:endParaRPr>
          </a:p>
          <a:p>
            <a:endParaRPr lang="en-US" sz="2000" dirty="0">
              <a:latin typeface="Body Level 1"/>
            </a:endParaRPr>
          </a:p>
          <a:p>
            <a:endParaRPr lang="en-US" sz="2000" dirty="0">
              <a:latin typeface="Body Level 1"/>
            </a:endParaRPr>
          </a:p>
          <a:p>
            <a:endParaRPr lang="en-US" sz="2000" dirty="0">
              <a:latin typeface="Body Level 1"/>
            </a:endParaRPr>
          </a:p>
          <a:p>
            <a:pPr>
              <a:buFont typeface="Arial" pitchFamily="34" charset="0"/>
              <a:buChar char="•"/>
            </a:pPr>
            <a:endParaRPr lang="en-US" sz="2000" dirty="0">
              <a:latin typeface="Body Level 1"/>
            </a:endParaRPr>
          </a:p>
        </p:txBody>
      </p:sp>
      <p:pic>
        <p:nvPicPr>
          <p:cNvPr id="3" name="Picture 2">
            <a:extLst>
              <a:ext uri="{FF2B5EF4-FFF2-40B4-BE49-F238E27FC236}">
                <a16:creationId xmlns:a16="http://schemas.microsoft.com/office/drawing/2014/main" id="{519BF017-5C6B-46DC-9C95-213E46C1B69B}"/>
              </a:ext>
            </a:extLst>
          </p:cNvPr>
          <p:cNvPicPr>
            <a:picLocks noChangeAspect="1"/>
          </p:cNvPicPr>
          <p:nvPr/>
        </p:nvPicPr>
        <p:blipFill>
          <a:blip r:embed="rId3"/>
          <a:stretch>
            <a:fillRect/>
          </a:stretch>
        </p:blipFill>
        <p:spPr>
          <a:xfrm>
            <a:off x="539262" y="4114800"/>
            <a:ext cx="5400675" cy="942975"/>
          </a:xfrm>
          <a:prstGeom prst="rect">
            <a:avLst/>
          </a:prstGeom>
          <a:ln>
            <a:solidFill>
              <a:schemeClr val="tx1"/>
            </a:solidFill>
          </a:ln>
        </p:spPr>
      </p:pic>
    </p:spTree>
    <p:extLst>
      <p:ext uri="{BB962C8B-B14F-4D97-AF65-F5344CB8AC3E}">
        <p14:creationId xmlns:p14="http://schemas.microsoft.com/office/powerpoint/2010/main" val="529308247"/>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917" y="304800"/>
            <a:ext cx="7772400" cy="685800"/>
          </a:xfrm>
        </p:spPr>
        <p:txBody>
          <a:bodyPr>
            <a:normAutofit/>
          </a:bodyPr>
          <a:lstStyle/>
          <a:p>
            <a:r>
              <a:rPr lang="en-US" dirty="0"/>
              <a:t>      Display property</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56</a:t>
            </a:fld>
            <a:endParaRPr lang="en-US"/>
          </a:p>
        </p:txBody>
      </p:sp>
      <p:sp>
        <p:nvSpPr>
          <p:cNvPr id="8" name="Rectangle 7"/>
          <p:cNvSpPr/>
          <p:nvPr/>
        </p:nvSpPr>
        <p:spPr>
          <a:xfrm>
            <a:off x="685800" y="1143000"/>
            <a:ext cx="8534400" cy="2554545"/>
          </a:xfrm>
          <a:prstGeom prst="rect">
            <a:avLst/>
          </a:prstGeom>
        </p:spPr>
        <p:txBody>
          <a:bodyPr wrap="square">
            <a:spAutoFit/>
          </a:bodyPr>
          <a:lstStyle/>
          <a:p>
            <a:r>
              <a:rPr lang="en-US" sz="2000" dirty="0">
                <a:latin typeface="Body Level 1"/>
              </a:rPr>
              <a:t>The display property is the most important CSS property for controlling layout. The display property specifies if/how an element is displayed.</a:t>
            </a:r>
          </a:p>
          <a:p>
            <a:endParaRPr lang="en-US" sz="2000" dirty="0">
              <a:latin typeface="Body Level 1"/>
            </a:endParaRPr>
          </a:p>
          <a:p>
            <a:r>
              <a:rPr lang="en-US" sz="2000" dirty="0">
                <a:latin typeface="Body Level 1"/>
              </a:rPr>
              <a:t>The possible values of display are:</a:t>
            </a:r>
          </a:p>
          <a:p>
            <a:pPr>
              <a:buFont typeface="Arial" pitchFamily="34" charset="0"/>
              <a:buChar char="•"/>
            </a:pPr>
            <a:r>
              <a:rPr lang="en-US" sz="2000" dirty="0">
                <a:latin typeface="Body Level 1"/>
              </a:rPr>
              <a:t> Inline</a:t>
            </a:r>
          </a:p>
          <a:p>
            <a:pPr>
              <a:buFont typeface="Arial" pitchFamily="34" charset="0"/>
              <a:buChar char="•"/>
            </a:pPr>
            <a:r>
              <a:rPr lang="en-US" sz="2000" dirty="0">
                <a:latin typeface="Body Level 1"/>
              </a:rPr>
              <a:t> block</a:t>
            </a:r>
          </a:p>
          <a:p>
            <a:pPr>
              <a:buFont typeface="Arial" pitchFamily="34" charset="0"/>
              <a:buChar char="•"/>
            </a:pPr>
            <a:r>
              <a:rPr lang="en-US" sz="2000" dirty="0">
                <a:latin typeface="Body Level 1"/>
              </a:rPr>
              <a:t> none</a:t>
            </a:r>
          </a:p>
          <a:p>
            <a:pPr>
              <a:buFont typeface="Arial" pitchFamily="34" charset="0"/>
              <a:buChar char="•"/>
            </a:pPr>
            <a:r>
              <a:rPr lang="en-US" sz="2000" dirty="0">
                <a:latin typeface="Body Level 1"/>
              </a:rPr>
              <a:t> inline-block</a:t>
            </a:r>
          </a:p>
        </p:txBody>
      </p:sp>
    </p:spTree>
    <p:extLst>
      <p:ext uri="{BB962C8B-B14F-4D97-AF65-F5344CB8AC3E}">
        <p14:creationId xmlns:p14="http://schemas.microsoft.com/office/powerpoint/2010/main" val="71356354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849" y="270621"/>
            <a:ext cx="7772400" cy="685800"/>
          </a:xfrm>
        </p:spPr>
        <p:txBody>
          <a:bodyPr>
            <a:normAutofit/>
          </a:bodyPr>
          <a:lstStyle/>
          <a:p>
            <a:r>
              <a:rPr lang="en-US" dirty="0"/>
              <a:t>  Position property</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57</a:t>
            </a:fld>
            <a:endParaRPr lang="en-US"/>
          </a:p>
        </p:txBody>
      </p:sp>
      <p:sp>
        <p:nvSpPr>
          <p:cNvPr id="8" name="Rectangle 7"/>
          <p:cNvSpPr/>
          <p:nvPr/>
        </p:nvSpPr>
        <p:spPr>
          <a:xfrm>
            <a:off x="685800" y="1143001"/>
            <a:ext cx="8534400" cy="4093428"/>
          </a:xfrm>
          <a:prstGeom prst="rect">
            <a:avLst/>
          </a:prstGeom>
        </p:spPr>
        <p:txBody>
          <a:bodyPr wrap="square">
            <a:spAutoFit/>
          </a:bodyPr>
          <a:lstStyle/>
          <a:p>
            <a:r>
              <a:rPr lang="en-US" sz="2000" dirty="0">
                <a:latin typeface="Body Level 1"/>
              </a:rPr>
              <a:t>The position property specifies the type of positioning method used for an element. Elements are then positioned using the top, bottom, left, and right properties. However, these properties will not work unless the position property is set first.</a:t>
            </a:r>
          </a:p>
          <a:p>
            <a:endParaRPr lang="en-US" sz="2000" dirty="0">
              <a:latin typeface="Body Level 1"/>
            </a:endParaRPr>
          </a:p>
          <a:p>
            <a:r>
              <a:rPr lang="en-US" sz="2000" dirty="0">
                <a:latin typeface="Body Level 1"/>
              </a:rPr>
              <a:t>There are four different position values:</a:t>
            </a:r>
          </a:p>
          <a:p>
            <a:pPr marL="342900" indent="-342900">
              <a:buFont typeface="Arial" panose="020B0604020202020204" pitchFamily="34" charset="0"/>
              <a:buChar char="•"/>
            </a:pPr>
            <a:r>
              <a:rPr lang="en-US" sz="2000" dirty="0">
                <a:latin typeface="Body Level 1"/>
              </a:rPr>
              <a:t>Static (default)</a:t>
            </a:r>
          </a:p>
          <a:p>
            <a:pPr marL="342900" indent="-342900">
              <a:buFont typeface="Arial" panose="020B0604020202020204" pitchFamily="34" charset="0"/>
              <a:buChar char="•"/>
            </a:pPr>
            <a:r>
              <a:rPr lang="en-US" sz="2000" dirty="0">
                <a:latin typeface="Body Level 1"/>
              </a:rPr>
              <a:t>Relative</a:t>
            </a:r>
          </a:p>
          <a:p>
            <a:pPr marL="342900" indent="-342900">
              <a:buFont typeface="Arial" panose="020B0604020202020204" pitchFamily="34" charset="0"/>
              <a:buChar char="•"/>
            </a:pPr>
            <a:r>
              <a:rPr lang="en-US" sz="2000" dirty="0">
                <a:latin typeface="Body Level 1"/>
              </a:rPr>
              <a:t>Fixed</a:t>
            </a:r>
          </a:p>
          <a:p>
            <a:pPr marL="342900" indent="-342900">
              <a:buFont typeface="Arial" panose="020B0604020202020204" pitchFamily="34" charset="0"/>
              <a:buChar char="•"/>
            </a:pPr>
            <a:r>
              <a:rPr lang="en-US" sz="2000" dirty="0">
                <a:latin typeface="Body Level 1"/>
              </a:rPr>
              <a:t>Absolute</a:t>
            </a:r>
          </a:p>
          <a:p>
            <a:endParaRPr lang="en-US" sz="2000" dirty="0">
              <a:latin typeface="Body Level 1"/>
            </a:endParaRPr>
          </a:p>
          <a:p>
            <a:endParaRPr lang="en-US" sz="2000" dirty="0">
              <a:latin typeface="Body Level 1"/>
            </a:endParaRPr>
          </a:p>
          <a:p>
            <a:endParaRPr lang="en-US" sz="2000" dirty="0">
              <a:latin typeface="Body Level 1"/>
            </a:endParaRPr>
          </a:p>
        </p:txBody>
      </p:sp>
    </p:spTree>
    <p:extLst>
      <p:ext uri="{BB962C8B-B14F-4D97-AF65-F5344CB8AC3E}">
        <p14:creationId xmlns:p14="http://schemas.microsoft.com/office/powerpoint/2010/main" val="321159754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772400" cy="685800"/>
          </a:xfrm>
        </p:spPr>
        <p:txBody>
          <a:bodyPr>
            <a:normAutofit/>
          </a:bodyPr>
          <a:lstStyle/>
          <a:p>
            <a:r>
              <a:rPr lang="en-US" dirty="0"/>
              <a:t> Combinators</a:t>
            </a:r>
          </a:p>
        </p:txBody>
      </p:sp>
      <p:sp>
        <p:nvSpPr>
          <p:cNvPr id="5" name="Slide Number Placeholder 4"/>
          <p:cNvSpPr>
            <a:spLocks noGrp="1"/>
          </p:cNvSpPr>
          <p:nvPr>
            <p:ph type="sldNum" sz="quarter" idx="4294967295"/>
          </p:nvPr>
        </p:nvSpPr>
        <p:spPr>
          <a:xfrm>
            <a:off x="7924800" y="6356350"/>
            <a:ext cx="762000" cy="365125"/>
          </a:xfrm>
          <a:prstGeom prst="rect">
            <a:avLst/>
          </a:prstGeom>
        </p:spPr>
        <p:txBody>
          <a:bodyPr vert="horz" lIns="0" tIns="0" rIns="0" bIns="0" anchor="b">
            <a:normAutofit/>
          </a:bodyPr>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496F9C-7FEE-48F2-A86C-DCFACBAB2156}" type="slidenum">
              <a:rPr lang="en-US" smtClean="0"/>
              <a:pPr/>
              <a:t>58</a:t>
            </a:fld>
            <a:endParaRPr lang="en-US"/>
          </a:p>
        </p:txBody>
      </p:sp>
      <p:sp>
        <p:nvSpPr>
          <p:cNvPr id="8" name="Rectangle 7"/>
          <p:cNvSpPr/>
          <p:nvPr/>
        </p:nvSpPr>
        <p:spPr>
          <a:xfrm>
            <a:off x="304800" y="1295400"/>
            <a:ext cx="8534400" cy="3477875"/>
          </a:xfrm>
          <a:prstGeom prst="rect">
            <a:avLst/>
          </a:prstGeom>
        </p:spPr>
        <p:txBody>
          <a:bodyPr wrap="square">
            <a:spAutoFit/>
          </a:bodyPr>
          <a:lstStyle/>
          <a:p>
            <a:pPr marL="342900" indent="-342900">
              <a:buFont typeface="Arial" panose="020B0604020202020204" pitchFamily="34" charset="0"/>
              <a:buChar char="•"/>
            </a:pPr>
            <a:r>
              <a:rPr lang="en-US" sz="2000" dirty="0">
                <a:latin typeface="Body Level 1"/>
              </a:rPr>
              <a:t>A combinator is something that explains the relationship between the selectors. </a:t>
            </a:r>
          </a:p>
          <a:p>
            <a:pPr marL="342900" indent="-342900">
              <a:buFont typeface="Arial" panose="020B0604020202020204" pitchFamily="34" charset="0"/>
              <a:buChar char="•"/>
            </a:pPr>
            <a:r>
              <a:rPr lang="en-US" sz="2000" dirty="0">
                <a:latin typeface="Body Level 1"/>
              </a:rPr>
              <a:t>A CSS selector can contain more than one simple selector. Between the simple selectors, we can include a combinator.</a:t>
            </a:r>
          </a:p>
          <a:p>
            <a:endParaRPr lang="en-US" sz="2000" dirty="0">
              <a:latin typeface="Body Level 1"/>
            </a:endParaRPr>
          </a:p>
          <a:p>
            <a:r>
              <a:rPr lang="en-US" sz="2000" dirty="0">
                <a:latin typeface="Body Level 1"/>
              </a:rPr>
              <a:t>There are four different </a:t>
            </a:r>
            <a:r>
              <a:rPr lang="en-US" sz="2000" dirty="0" err="1">
                <a:latin typeface="Body Level 1"/>
              </a:rPr>
              <a:t>combinators</a:t>
            </a:r>
            <a:r>
              <a:rPr lang="en-US" sz="2000" dirty="0">
                <a:latin typeface="Body Level 1"/>
              </a:rPr>
              <a:t> in CSS:</a:t>
            </a:r>
          </a:p>
          <a:p>
            <a:endParaRPr lang="en-US" sz="2000" dirty="0">
              <a:latin typeface="Body Level 1"/>
            </a:endParaRPr>
          </a:p>
          <a:p>
            <a:pPr>
              <a:buFont typeface="Arial" pitchFamily="34" charset="0"/>
              <a:buChar char="•"/>
            </a:pPr>
            <a:r>
              <a:rPr lang="en-US" sz="2000" dirty="0">
                <a:latin typeface="Body Level 1"/>
              </a:rPr>
              <a:t>descendant selector (space) : div p {}</a:t>
            </a:r>
          </a:p>
          <a:p>
            <a:pPr>
              <a:buFont typeface="Arial" pitchFamily="34" charset="0"/>
              <a:buChar char="•"/>
            </a:pPr>
            <a:r>
              <a:rPr lang="en-US" sz="2000" dirty="0">
                <a:latin typeface="Body Level 1"/>
              </a:rPr>
              <a:t>child selector (&gt;):  div &gt;p {  }</a:t>
            </a:r>
          </a:p>
          <a:p>
            <a:pPr>
              <a:buFont typeface="Arial" pitchFamily="34" charset="0"/>
              <a:buChar char="•"/>
            </a:pPr>
            <a:r>
              <a:rPr lang="en-US" sz="2000" dirty="0">
                <a:latin typeface="Body Level 1"/>
              </a:rPr>
              <a:t>adjacent sibling selector (+): </a:t>
            </a:r>
            <a:r>
              <a:rPr lang="en-US" sz="2000" dirty="0" err="1">
                <a:latin typeface="Body Level 1"/>
              </a:rPr>
              <a:t>div+p</a:t>
            </a:r>
            <a:r>
              <a:rPr lang="en-US" sz="2000" dirty="0">
                <a:latin typeface="Body Level 1"/>
              </a:rPr>
              <a:t> {} </a:t>
            </a:r>
          </a:p>
          <a:p>
            <a:pPr>
              <a:buFont typeface="Arial" pitchFamily="34" charset="0"/>
              <a:buChar char="•"/>
            </a:pPr>
            <a:r>
              <a:rPr lang="en-US" sz="2000" dirty="0">
                <a:latin typeface="Body Level 1"/>
              </a:rPr>
              <a:t>general sibling selector (~): </a:t>
            </a:r>
            <a:r>
              <a:rPr lang="en-US" sz="2000" dirty="0" err="1">
                <a:latin typeface="Body Level 1"/>
              </a:rPr>
              <a:t>div~p</a:t>
            </a:r>
            <a:r>
              <a:rPr lang="en-US" sz="2000" dirty="0">
                <a:latin typeface="Body Level 1"/>
              </a:rPr>
              <a:t> {}</a:t>
            </a:r>
          </a:p>
        </p:txBody>
      </p:sp>
    </p:spTree>
    <p:extLst>
      <p:ext uri="{BB962C8B-B14F-4D97-AF65-F5344CB8AC3E}">
        <p14:creationId xmlns:p14="http://schemas.microsoft.com/office/powerpoint/2010/main" val="2816698769"/>
      </p:ext>
    </p:extLst>
  </p:cSld>
  <p:clrMapOvr>
    <a:masterClrMapping/>
  </p:clrMapOvr>
  <p:transition/>
</p:sld>
</file>

<file path=ppt/theme/theme1.xml><?xml version="1.0" encoding="utf-8"?>
<a:theme xmlns:a="http://schemas.openxmlformats.org/drawingml/2006/main" name="Blank">
  <a:themeElements>
    <a:clrScheme name="Standard Chartered Template">
      <a:dk1>
        <a:srgbClr val="005C84"/>
      </a:dk1>
      <a:lt1>
        <a:sysClr val="window" lastClr="FFFFFF"/>
      </a:lt1>
      <a:dk2>
        <a:srgbClr val="000F46"/>
      </a:dk2>
      <a:lt2>
        <a:srgbClr val="E6E7E8"/>
      </a:lt2>
      <a:accent1>
        <a:srgbClr val="0075B0"/>
      </a:accent1>
      <a:accent2>
        <a:srgbClr val="009FDA"/>
      </a:accent2>
      <a:accent3>
        <a:srgbClr val="3F9C35"/>
      </a:accent3>
      <a:accent4>
        <a:srgbClr val="69BE28"/>
      </a:accent4>
      <a:accent5>
        <a:srgbClr val="6D6E71"/>
      </a:accent5>
      <a:accent6>
        <a:srgbClr val="939598"/>
      </a:accent6>
      <a:hlink>
        <a:srgbClr val="6D6E71"/>
      </a:hlink>
      <a:folHlink>
        <a:srgbClr val="289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Chartered_GlobalTemplate_Edit" id="{F6B87342-6B81-4D6D-A50D-E2D2D73676CB}" vid="{2987BD1D-0BCF-44F0-BC5D-89E75A8139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3263</Words>
  <Application>Microsoft Office PowerPoint</Application>
  <PresentationFormat>A4 Paper (210x297 mm)</PresentationFormat>
  <Paragraphs>619</Paragraphs>
  <Slides>59</Slides>
  <Notes>21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59</vt:i4>
      </vt:variant>
    </vt:vector>
  </HeadingPairs>
  <TitlesOfParts>
    <vt:vector size="75" baseType="lpstr">
      <vt:lpstr>Arial</vt:lpstr>
      <vt:lpstr>Body Level 1</vt:lpstr>
      <vt:lpstr>Body Level 2</vt:lpstr>
      <vt:lpstr>Body Level 3</vt:lpstr>
      <vt:lpstr>Body Level 4</vt:lpstr>
      <vt:lpstr>Body Level 5</vt:lpstr>
      <vt:lpstr>Calibri</vt:lpstr>
      <vt:lpstr>Courier New</vt:lpstr>
      <vt:lpstr>Cover Description</vt:lpstr>
      <vt:lpstr>Cover Title</vt:lpstr>
      <vt:lpstr>Raleway Black</vt:lpstr>
      <vt:lpstr>Raleway Light</vt:lpstr>
      <vt:lpstr>Slide Heading</vt:lpstr>
      <vt:lpstr>Times New Roman</vt:lpstr>
      <vt:lpstr>Wingdings</vt:lpstr>
      <vt:lpstr>Blank</vt:lpstr>
      <vt:lpstr> HTML,CSS and Bootstrap</vt:lpstr>
      <vt:lpstr>Module Design</vt:lpstr>
      <vt:lpstr>Web development fundamentals</vt:lpstr>
      <vt:lpstr>Web Designer</vt:lpstr>
      <vt:lpstr>Web Programmer</vt:lpstr>
      <vt:lpstr>Web Site</vt:lpstr>
      <vt:lpstr>Client Server 2 tier Web Architecture</vt:lpstr>
      <vt:lpstr>Introducing the Use Case</vt:lpstr>
      <vt:lpstr>PowerPoint Presentation</vt:lpstr>
      <vt:lpstr>Cheat Sheet references</vt:lpstr>
      <vt:lpstr>Bootstrap fundamentals</vt:lpstr>
      <vt:lpstr>What is Responsive web design</vt:lpstr>
      <vt:lpstr>What is Bootstrap</vt:lpstr>
      <vt:lpstr> Advantages of Bootstrap</vt:lpstr>
      <vt:lpstr>Prerequisite</vt:lpstr>
      <vt:lpstr>Hello World page using Bootstrap</vt:lpstr>
      <vt:lpstr>Bootstrap Grid System</vt:lpstr>
      <vt:lpstr>Grid System Classes</vt:lpstr>
      <vt:lpstr>Basic Grid Structure</vt:lpstr>
      <vt:lpstr>Table</vt:lpstr>
      <vt:lpstr>Buttons</vt:lpstr>
      <vt:lpstr>Bootstrap Forms</vt:lpstr>
      <vt:lpstr>Types of Bootstrap Forms</vt:lpstr>
      <vt:lpstr> Bootstrap Inline Forms</vt:lpstr>
      <vt:lpstr>Bootstrap Horizontal Forms</vt:lpstr>
      <vt:lpstr>Enhance web page using bootstrap</vt:lpstr>
      <vt:lpstr>PowerPoint Presentation</vt:lpstr>
      <vt:lpstr>Cheat Sheet references</vt:lpstr>
      <vt:lpstr>Thank You</vt:lpstr>
      <vt:lpstr>Appendix</vt:lpstr>
      <vt:lpstr>What is HTML</vt:lpstr>
      <vt:lpstr>HTML Template </vt:lpstr>
      <vt:lpstr>Main categories of elements</vt:lpstr>
      <vt:lpstr>Attributes</vt:lpstr>
      <vt:lpstr>Types of elements</vt:lpstr>
      <vt:lpstr>List of elements contained inside a form</vt:lpstr>
      <vt:lpstr>PowerPoint Presentation</vt:lpstr>
      <vt:lpstr>Form elements cont…</vt:lpstr>
      <vt:lpstr>Form attributes</vt:lpstr>
      <vt:lpstr>Form attributes cont…</vt:lpstr>
      <vt:lpstr>get vs post</vt:lpstr>
      <vt:lpstr> HTML5  Forms – Input Types</vt:lpstr>
      <vt:lpstr>HTML5  Forms – Input Types cont…</vt:lpstr>
      <vt:lpstr>HTML5  Forms – Attributes</vt:lpstr>
      <vt:lpstr>    HTML5  Forms – Attributes Cont…</vt:lpstr>
      <vt:lpstr>HTML5 forms - Pattern attribute</vt:lpstr>
      <vt:lpstr>     HTML5  Forms – Pattern Attribute</vt:lpstr>
      <vt:lpstr>   HTML5  Forms – pattern quantifiers</vt:lpstr>
      <vt:lpstr>Hands-on for forms</vt:lpstr>
      <vt:lpstr>HTML5 Semantic elements</vt:lpstr>
      <vt:lpstr> What is CSS</vt:lpstr>
      <vt:lpstr>Selectors</vt:lpstr>
      <vt:lpstr> Types of Styling</vt:lpstr>
      <vt:lpstr> CSS Box Model</vt:lpstr>
      <vt:lpstr> Font property</vt:lpstr>
      <vt:lpstr>  Border property</vt:lpstr>
      <vt:lpstr>      Display property</vt:lpstr>
      <vt:lpstr>  Position property</vt:lpstr>
      <vt:lpstr> Combinators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2019-02-13T05:36:40Z</dcterms:created>
  <dcterms:modified xsi:type="dcterms:W3CDTF">2019-06-28T12:29:09Z</dcterms:modified>
</cp:coreProperties>
</file>